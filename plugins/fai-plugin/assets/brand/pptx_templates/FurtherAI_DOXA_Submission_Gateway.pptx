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011680"/>
            <a:ext cx="5943600" cy="5943600"/>
          </a:xfrm>
          <a:prstGeom prst="ellipse">
            <a:avLst/>
          </a:prstGeom>
          <a:solidFill>
            <a:srgbClr val="1E2F54"/>
          </a:solidFill>
          <a:ln w="12700">
            <a:solidFill>
              <a:srgbClr val="12B5A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383280"/>
            <a:ext cx="3840480" cy="3840480"/>
          </a:xfrm>
          <a:prstGeom prst="ellipse">
            <a:avLst/>
          </a:prstGeom>
          <a:solidFill>
            <a:srgbClr val="0E173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5720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2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FURTHERAI  ×  DOXA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Submission Gateway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Specialty Insurance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6118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submission, intake, and triage across DOXA's programs — so underwriters spend their time on risk, not busywork.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48920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E2F54"/>
          </a:solidFill>
          <a:ln w="12700">
            <a:solidFill>
              <a:srgbClr val="12B5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514600" y="48920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E2F54"/>
          </a:solidFill>
          <a:ln w="12700">
            <a:solidFill>
              <a:srgbClr val="12B5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1460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89120" y="48920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E2F54"/>
          </a:solidFill>
          <a:ln w="12700">
            <a:solidFill>
              <a:srgbClr val="12B5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DOXA leadership team  ·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MATTERS FOR DOXA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program shares one front door: the submission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DOXA amplifies 30+ specialty MGAs and MGUs on shared infrastructure. Each program has its own appetite, forms, and carriers — but every one of them lives or dies on how fast and how cleanly submissions come in.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29718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shared, AI-powered submission gateway is the one investment that compounds across every vertical you own — and every one you acquire next.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60920" y="169164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60920" y="1691640"/>
            <a:ext cx="82296" cy="1234440"/>
          </a:xfrm>
          <a:prstGeom prst="rect">
            <a:avLst/>
          </a:prstGeom>
          <a:solidFill>
            <a:srgbClr val="12B5A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7568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75320" y="18013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275320" y="24414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programs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60920" y="310896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60920" y="3108960"/>
            <a:ext cx="82296" cy="1234440"/>
          </a:xfrm>
          <a:prstGeom prst="rect">
            <a:avLst/>
          </a:prstGeom>
          <a:solidFill>
            <a:srgbClr val="12B5A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49300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75320" y="321868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8275320" y="3858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in distribution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360920" y="452628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60920" y="4526280"/>
            <a:ext cx="82296" cy="1234440"/>
          </a:xfrm>
          <a:prstGeom prst="rect">
            <a:avLst/>
          </a:prstGeom>
          <a:solidFill>
            <a:srgbClr val="12B5A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491032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75320" y="46360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20K+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8275320" y="5276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broker partners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360920" y="1371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DOXA scale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FurtherAI  ·  Prepared for DOXA  ·  Confidential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Submissions are up. Margins are tight. Underwriters aren't.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commercial and specialty insurance, the same squeeze repeats — and it hits hardest at intake, before a single risk decision is made.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624328"/>
            <a:ext cx="777240" cy="77724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798064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5694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fragmented intake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37360" y="304495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PDFs, ACORDs, SOVs and loss runs arrive in every format. Staff re-key data across systems for each program.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233172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624328"/>
            <a:ext cx="777240" cy="77724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798064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5694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time-to-response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52360" y="304495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wait days for a clear or a decline. The best risks get placed elsewhere while submissions sit in a queue.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02920" y="420624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4498848"/>
            <a:ext cx="777240" cy="77724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672584"/>
            <a:ext cx="429768" cy="4297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44439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triage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37360" y="491947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Appetite and clearance checks vary by person and program. Out-of-appetite risks consume time that should go to winnable business.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17920" y="420624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498848"/>
            <a:ext cx="777240" cy="77724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672584"/>
            <a:ext cx="429768" cy="4297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4439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leverage as you scale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52360" y="491947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program or acquisition means more headcount — not more throughput from the team you already have.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FurtherAI  ·  Prepared for DOXA  ·  Confidential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2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submission gateway, working before underwriters touch the file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1E2F54"/>
          </a:solidFill>
          <a:ln w="12700">
            <a:solidFill>
              <a:srgbClr val="2C3F66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828800"/>
            <a:ext cx="3520440" cy="91440"/>
          </a:xfrm>
          <a:prstGeom prst="rect">
            <a:avLst/>
          </a:prstGeom>
          <a:solidFill>
            <a:srgbClr val="12B5A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12848"/>
            <a:ext cx="914400" cy="914400"/>
          </a:xfrm>
          <a:prstGeom prst="ellipse">
            <a:avLst/>
          </a:prstGeom>
          <a:solidFill>
            <a:srgbClr val="0E1730"/>
          </a:solidFill>
          <a:ln w="12700">
            <a:solidFill>
              <a:srgbClr val="12B5A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4414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EXTRACT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5844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every submission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4160520"/>
            <a:ext cx="2926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read broker emails, PDFs, ACORD forms, SOVs and loss runs — pulling limits, exposures, and insured details into clean, structured data. No re-keying.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79392" y="182880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1E2F54"/>
          </a:solidFill>
          <a:ln w="12700">
            <a:solidFill>
              <a:srgbClr val="2C3F66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79392" y="1828800"/>
            <a:ext cx="3520440" cy="91440"/>
          </a:xfrm>
          <a:prstGeom prst="rect">
            <a:avLst/>
          </a:prstGeom>
          <a:solidFill>
            <a:srgbClr val="12B5A6"/>
          </a:solidFill>
          <a:ln/>
        </p:spPr>
      </p:sp>
      <p:sp>
        <p:nvSpPr>
          <p:cNvPr id="13" name="Shape 10"/>
          <p:cNvSpPr/>
          <p:nvPr/>
        </p:nvSpPr>
        <p:spPr>
          <a:xfrm>
            <a:off x="4599432" y="2212848"/>
            <a:ext cx="914400" cy="914400"/>
          </a:xfrm>
          <a:prstGeom prst="ellipse">
            <a:avLst/>
          </a:prstGeom>
          <a:solidFill>
            <a:srgbClr val="0E1730"/>
          </a:solidFill>
          <a:ln w="12700">
            <a:solidFill>
              <a:srgbClr val="12B5A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44144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99432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VALIDATE &amp; CLEAR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99432" y="35844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it automatically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599432" y="4160520"/>
            <a:ext cx="2926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clearance, flag duplicates, spot missing documents and mismatched dates, and verify completeness — surfacing only the exceptions that need a human.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55864" y="182880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1E2F54"/>
          </a:solidFill>
          <a:ln w="12700">
            <a:solidFill>
              <a:srgbClr val="2C3F66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55864" y="1828800"/>
            <a:ext cx="3520440" cy="91440"/>
          </a:xfrm>
          <a:prstGeom prst="rect">
            <a:avLst/>
          </a:prstGeom>
          <a:solidFill>
            <a:srgbClr val="12B5A6"/>
          </a:solidFill>
          <a:ln/>
        </p:spPr>
      </p:sp>
      <p:sp>
        <p:nvSpPr>
          <p:cNvPr id="20" name="Shape 16"/>
          <p:cNvSpPr/>
          <p:nvPr/>
        </p:nvSpPr>
        <p:spPr>
          <a:xfrm>
            <a:off x="8375904" y="2212848"/>
            <a:ext cx="914400" cy="914400"/>
          </a:xfrm>
          <a:prstGeom prst="ellipse">
            <a:avLst/>
          </a:prstGeom>
          <a:solidFill>
            <a:srgbClr val="0E1730"/>
          </a:solidFill>
          <a:ln w="12700">
            <a:solidFill>
              <a:srgbClr val="12B5A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2441448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75904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TRIAGE &amp; ROUTE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375904" y="35844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it the right way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375904" y="4160520"/>
            <a:ext cx="2926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against each program's appetite and guidelines, then route in-appetite risks to the right underwriter and decline the rest — instantly.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FurtherAI  ·  Prepared for DOXA  ·  Confidential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inbox to decision-ready — automatically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workflow, configured per program. The gateway turns raw submissions into structured, triaged, decision-ready files in your existing systems.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697480"/>
            <a:ext cx="1993392" cy="2103120"/>
          </a:xfrm>
          <a:prstGeom prst="roundRect">
            <a:avLst>
              <a:gd name="adj" fmla="val 3670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70432" y="2953512"/>
            <a:ext cx="786384" cy="786384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24" y="3118104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" y="381304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arrives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76656" y="427024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email, PDF, ACORD, SOV, loss run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3566160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52928" y="2697480"/>
            <a:ext cx="1993392" cy="2103120"/>
          </a:xfrm>
          <a:prstGeom prst="roundRect">
            <a:avLst>
              <a:gd name="adj" fmla="val 3670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56432" y="2953512"/>
            <a:ext cx="786384" cy="786384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3118104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62656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2944368" y="381304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data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2962656" y="427024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fields, 95% accuracy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566160"/>
            <a:ext cx="256032" cy="2560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138928" y="2697480"/>
            <a:ext cx="1993392" cy="2103120"/>
          </a:xfrm>
          <a:prstGeom prst="roundRect">
            <a:avLst>
              <a:gd name="adj" fmla="val 3670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742432" y="2953512"/>
            <a:ext cx="786384" cy="786384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024" y="3118104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48656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5230368" y="381304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&amp; validates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5248656" y="427024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Duplicates, gaps, inconsistencies flagged</a:t>
            </a:r>
            <a:endParaRPr lang="en-US" sz="10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3566160"/>
            <a:ext cx="256032" cy="25603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424928" y="2697480"/>
            <a:ext cx="1993392" cy="2103120"/>
          </a:xfrm>
          <a:prstGeom prst="roundRect">
            <a:avLst>
              <a:gd name="adj" fmla="val 3670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8028432" y="2953512"/>
            <a:ext cx="786384" cy="786384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024" y="3118104"/>
            <a:ext cx="457200" cy="4572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34656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7516368" y="381304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Triages on appetite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7534656" y="427024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guidelines + eligibility scoring</a:t>
            </a:r>
            <a:endParaRPr lang="en-US" sz="10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608" y="3566160"/>
            <a:ext cx="256032" cy="256032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710928" y="2697480"/>
            <a:ext cx="1993392" cy="2103120"/>
          </a:xfrm>
          <a:prstGeom prst="roundRect">
            <a:avLst>
              <a:gd name="adj" fmla="val 3670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10314432" y="2953512"/>
            <a:ext cx="786384" cy="786384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9024" y="3118104"/>
            <a:ext cx="457200" cy="45720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820656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26"/>
          <p:cNvSpPr/>
          <p:nvPr/>
        </p:nvSpPr>
        <p:spPr>
          <a:xfrm>
            <a:off x="9802368" y="381304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Populates systems</a:t>
            </a:r>
            <a:endParaRPr lang="en-US" sz="1350" dirty="0"/>
          </a:p>
        </p:txBody>
      </p:sp>
      <p:sp>
        <p:nvSpPr>
          <p:cNvPr id="38" name="Text 27"/>
          <p:cNvSpPr/>
          <p:nvPr/>
        </p:nvSpPr>
        <p:spPr>
          <a:xfrm>
            <a:off x="9820656" y="427024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PAS, rating &amp; CRM — decision-ready</a:t>
            </a:r>
            <a:endParaRPr lang="en-US" sz="1050" dirty="0"/>
          </a:p>
        </p:txBody>
      </p:sp>
      <p:sp>
        <p:nvSpPr>
          <p:cNvPr id="39" name="Text 28"/>
          <p:cNvSpPr/>
          <p:nvPr/>
        </p:nvSpPr>
        <p:spPr>
          <a:xfrm>
            <a:off x="566928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stay in control. </a:t>
            </a:r>
            <a:pPr algn="ctr" indent="0" marL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Underwriters review exceptions and approvals; the AI handles the repetitive 90% in between.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FurtherAI  ·  Prepared for DOXA  ·  Confidential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DOXA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submission gateway fits how DOXA grows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93976"/>
            <a:ext cx="777240" cy="77724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267712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391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gateway, every program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53288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appetites, forms and carriers — handled by a single configurable platform. Standardize intake without flattening what makes each MGA special.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93976"/>
            <a:ext cx="777240" cy="77724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267712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391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agents quickly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52360" y="253288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clears and instant declines mean the responsive, transparent service DOXA promises agents — at machine speed, on the hardest-to-place risks.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37490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059936"/>
            <a:ext cx="777240" cy="77724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233672"/>
            <a:ext cx="429768" cy="4297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0050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 MGAs, not headcount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49884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 rising submission volume and new acquisitions with the team you have. Growth stops being a hiring problem.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7490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059936"/>
            <a:ext cx="777240" cy="77724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233672"/>
            <a:ext cx="429768" cy="4297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0050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Day-one on new acquisitions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52360" y="449884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DOXA acquires an MGA, stand up its submission gateway in weeks — onto the same shared, governed platform.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FurtherAI  ·  Prepared for DOXA  ·  Confidential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2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submission AI delivers in production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E2F54"/>
          </a:solidFill>
          <a:ln w="12700">
            <a:solidFill>
              <a:srgbClr val="2C3F66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3911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286207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submission processing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79392" y="17830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E2F54"/>
          </a:solidFill>
          <a:ln w="12700">
            <a:solidFill>
              <a:srgbClr val="2C3F66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53712" y="203911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53712" y="286207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accuracy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55864" y="17830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E2F54"/>
          </a:solidFill>
          <a:ln w="12700">
            <a:solidFill>
              <a:srgbClr val="2C3F66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30184" y="203911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330184" y="286207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efficiency gain in 3 months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E2F54"/>
          </a:solidFill>
          <a:ln w="12700">
            <a:solidFill>
              <a:srgbClr val="2C3F66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05079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$20B+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77240" y="487375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Insured Value processed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79392" y="37947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E2F54"/>
          </a:solidFill>
          <a:ln w="12700">
            <a:solidFill>
              <a:srgbClr val="2C3F66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53712" y="405079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646%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553712" y="487375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reported by customers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55864" y="37947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E2F54"/>
          </a:solidFill>
          <a:ln w="12700">
            <a:solidFill>
              <a:srgbClr val="2C3F66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30184" y="405079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~90%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330184" y="487375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intake handled before a human touches 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FurtherAI deployments across MGAs, carriers and risk exchanges. Outcomes vary by program and configuration.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Trusted by the MGA and specialty platforms you compete with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FurtherAI already runs submission and underwriting workflows for leading MGA platforms — supporting customers writing $15B+ in premiums across all 50 states.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2606040" cy="749808"/>
          </a:xfrm>
          <a:prstGeom prst="roundRect">
            <a:avLst>
              <a:gd name="adj" fmla="val 7317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33172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NovaCore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19272" y="2331720"/>
            <a:ext cx="2606040" cy="749808"/>
          </a:xfrm>
          <a:prstGeom prst="roundRect">
            <a:avLst>
              <a:gd name="adj" fmla="val 7317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9272" y="233172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35624" y="2331720"/>
            <a:ext cx="2606040" cy="749808"/>
          </a:xfrm>
          <a:prstGeom prst="roundRect">
            <a:avLst>
              <a:gd name="adj" fmla="val 7317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35624" y="233172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51976" y="2331720"/>
            <a:ext cx="2606040" cy="749808"/>
          </a:xfrm>
          <a:prstGeom prst="roundRect">
            <a:avLst>
              <a:gd name="adj" fmla="val 7317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51976" y="233172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Euclid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246120"/>
            <a:ext cx="2606040" cy="749808"/>
          </a:xfrm>
          <a:prstGeom prst="roundRect">
            <a:avLst>
              <a:gd name="adj" fmla="val 7317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4612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Accelerant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19272" y="3246120"/>
            <a:ext cx="2606040" cy="749808"/>
          </a:xfrm>
          <a:prstGeom prst="roundRect">
            <a:avLst>
              <a:gd name="adj" fmla="val 7317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324612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Leavitt Group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35624" y="3246120"/>
            <a:ext cx="2606040" cy="749808"/>
          </a:xfrm>
          <a:prstGeom prst="roundRect">
            <a:avLst>
              <a:gd name="adj" fmla="val 7317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5624" y="324612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Lynx Specialty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951976" y="3246120"/>
            <a:ext cx="2606040" cy="749808"/>
          </a:xfrm>
          <a:prstGeom prst="roundRect">
            <a:avLst>
              <a:gd name="adj" fmla="val 7317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51976" y="324612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Upland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443484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16233F"/>
          </a:solidFill>
          <a:ln/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892040"/>
            <a:ext cx="548640" cy="5486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91640" y="45720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“FurtherAI let us map our current process, autofill our workbooks, process carrier guidelines, and get through a ton of information to uncover what we need to underwrite.”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2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Steve Wentz · SVP, McGowan Excess Casualty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FurtherAI  ·  Prepared for DOXA  ·  Confidential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DEPLOYMENT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Enterprise-grade, and live in weeks — not quarters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93976"/>
            <a:ext cx="777240" cy="77724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267712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391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53288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and ISO 27001 aligned. Isolated, firm-specific data storage. Your prompts and data are never used to train models.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93976"/>
            <a:ext cx="777240" cy="77724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267712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391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regulators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52360" y="253288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trails and human-in-the-loop oversight — purpose-built for the governance specialty programs demand.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37490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059936"/>
            <a:ext cx="777240" cy="77724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233672"/>
            <a:ext cx="429768" cy="4297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0050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Insurance-native AI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49884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understand ACORDs, SOVs, loss runs and appetite — not a generic OCR tool retrofitted for insurance.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7490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059936"/>
            <a:ext cx="777240" cy="77724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233672"/>
            <a:ext cx="429768" cy="4297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0050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Forward-deployed engineers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52360" y="449884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FurtherAI engineers work directly with your teams to configure each program, so you see results in weeks and keep iterating.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FurtherAI  ·  Prepared for DOXA  ·  Confidential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PARTNER FOR THE GATEWAY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teams choose FurtherAI for submission intake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868680" cy="86868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0428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089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Agentic, not just extraction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intake tools stop at reading a document. FurtherAI's agents reason across the whole submission — extracting, clearing, triaging and acting end-to-end.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79392" y="178308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2103120"/>
            <a:ext cx="868680" cy="86868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30428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31089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workspace, every workflow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99432" y="3703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intake is the entry point. The same platform extends to policy check, underwriting audit and claims — so the gateway is a foundation, not a one-off.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55864" y="178308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4F7FC"/>
          </a:solidFill>
          <a:ln w="12700">
            <a:solidFill>
              <a:srgbClr val="DDE6F2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5904" y="2103120"/>
            <a:ext cx="868680" cy="868680"/>
          </a:xfrm>
          <a:prstGeom prst="ellipse">
            <a:avLst/>
          </a:prstGeom>
          <a:solidFill>
            <a:srgbClr val="E3F4F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230428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75904" y="31089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 over product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75904" y="3703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Forward-deployed engineers and fast iteration mean the platform adapts to each DOXA program, instead of forcing programs to adapt to the software.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02920" y="512064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16233F"/>
          </a:solidFill>
          <a:ln/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42239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512064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competitive evaluations.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buyers have weighed FurtherAI against point intake vendors such as Convr, they've chosen FurtherAI for its agentic accuracy, insurance depth, and hands-on partnership.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FurtherAI  ·  Prepared for DOXA  ·  Confidential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5486400" cy="5486400"/>
          </a:xfrm>
          <a:prstGeom prst="ellipse">
            <a:avLst/>
          </a:prstGeom>
          <a:solidFill>
            <a:srgbClr val="1E2F5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68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pilot the submission gateway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one DOXA program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1E2F54"/>
          </a:solidFill>
          <a:ln w="12700">
            <a:solidFill>
              <a:srgbClr val="2C3F66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3337560"/>
            <a:ext cx="640080" cy="640080"/>
          </a:xfrm>
          <a:prstGeom prst="ellipse">
            <a:avLst/>
          </a:prstGeom>
          <a:solidFill>
            <a:srgbClr val="12B5A6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program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4572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high-volume MGA where submission load is most painful.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306324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1E2F54"/>
          </a:solidFill>
          <a:ln w="12700">
            <a:solidFill>
              <a:srgbClr val="2C3F66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36008" y="3337560"/>
            <a:ext cx="640080" cy="640080"/>
          </a:xfrm>
          <a:prstGeom prst="ellipse">
            <a:avLst/>
          </a:prstGeom>
          <a:solidFill>
            <a:srgbClr val="12B5A6"/>
          </a:solidFill>
          <a:ln/>
        </p:spPr>
      </p:sp>
      <p:sp>
        <p:nvSpPr>
          <p:cNvPr id="12" name="Text 10"/>
          <p:cNvSpPr/>
          <p:nvPr/>
        </p:nvSpPr>
        <p:spPr>
          <a:xfrm>
            <a:off x="4636008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36008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Configure the gateway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36008" y="4572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engineers map its appetite, forms and systems — live in weeks.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306324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1E2F54"/>
          </a:solidFill>
          <a:ln w="12700">
            <a:solidFill>
              <a:srgbClr val="2C3F66"/>
            </a:solidFill>
            <a:prstDash val="solid"/>
          </a:ln>
          <a:effectLst>
            <a:outerShdw sx="100000" sy="100000" kx="0" ky="0" algn="bl" rotWithShape="0" blurRad="114300" dist="38100" dir="5400000">
              <a:srgbClr val="0E173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9328" y="3337560"/>
            <a:ext cx="640080" cy="640080"/>
          </a:xfrm>
          <a:prstGeom prst="ellipse">
            <a:avLst/>
          </a:prstGeom>
          <a:solidFill>
            <a:srgbClr val="12B5A6"/>
          </a:solidFill>
          <a:ln/>
        </p:spPr>
      </p:sp>
      <p:sp>
        <p:nvSpPr>
          <p:cNvPr id="17" name="Text 15"/>
          <p:cNvSpPr/>
          <p:nvPr/>
        </p:nvSpPr>
        <p:spPr>
          <a:xfrm>
            <a:off x="8339328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39328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&amp; expand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39328" y="4572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speed, accuracy and capacity, then roll out across DOXA's verticals.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further.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furtherai.com  ·  Book a demo at furtherai.com/book-demo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FurtherAI for DOXA — AI Submission Gateway</dc:title>
  <dc:subject>PptxGenJS Presentation</dc:subject>
  <dc:creator>FurtherAI</dc:creator>
  <cp:lastModifiedBy>FurtherAI</cp:lastModifiedBy>
  <cp:revision>1</cp:revision>
  <dcterms:created xsi:type="dcterms:W3CDTF">2026-06-17T00:51:38Z</dcterms:created>
  <dcterms:modified xsi:type="dcterms:W3CDTF">2026-06-17T00:51:38Z</dcterms:modified>
</cp:coreProperties>
</file>