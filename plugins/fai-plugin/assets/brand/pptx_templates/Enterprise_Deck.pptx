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5143500" cx="9144000"/>
  <p:notesSz cx="10287000" cy="18288000"/>
  <p:embeddedFontLst>
    <p:embeddedFont>
      <p:font typeface="Wix Madefor Display SemiBold"/>
      <p:regular r:id="rId45"/>
      <p:bold r:id="rId46"/>
    </p:embeddedFont>
    <p:embeddedFont>
      <p:font typeface="Wix Madefor Display ExtraBold"/>
      <p:bold r:id="rId47"/>
    </p:embeddedFont>
    <p:embeddedFont>
      <p:font typeface="Fraunces"/>
      <p:regular r:id="rId48"/>
      <p:bold r:id="rId49"/>
      <p:italic r:id="rId50"/>
      <p:boldItalic r:id="rId51"/>
    </p:embeddedFont>
    <p:embeddedFont>
      <p:font typeface="Nunito"/>
      <p:regular r:id="rId52"/>
      <p:bold r:id="rId53"/>
      <p:italic r:id="rId54"/>
      <p:boldItalic r:id="rId55"/>
    </p:embeddedFont>
    <p:embeddedFont>
      <p:font typeface="Poppins"/>
      <p:regular r:id="rId56"/>
      <p:bold r:id="rId57"/>
      <p:italic r:id="rId58"/>
      <p:boldItalic r:id="rId59"/>
    </p:embeddedFont>
    <p:embeddedFont>
      <p:font typeface="Wix Madefor Display"/>
      <p:regular r:id="rId60"/>
      <p:bold r:id="rId61"/>
    </p:embeddedFont>
    <p:embeddedFont>
      <p:font typeface="Fraunces Light"/>
      <p:regular r:id="rId62"/>
      <p:bold r:id="rId63"/>
      <p:italic r:id="rId64"/>
      <p:boldItalic r:id="rId65"/>
    </p:embeddedFont>
    <p:embeddedFont>
      <p:font typeface="Wix Madefor Text"/>
      <p:bold r:id="rId66"/>
      <p:boldItalic r:id="rId67"/>
    </p:embeddedFont>
    <p:embeddedFont>
      <p:font typeface="Wix Madefor Display Medium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2FBB0D-22F3-43D4-9186-071B2D20831D}">
  <a:tblStyle styleId="{FE2FBB0D-22F3-43D4-9186-071B2D2083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E053623-5FF1-424E-A5D6-9E1842736AE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WixMadeforDisplaySemiBold-bold.fntdata"/><Relationship Id="rId45" Type="http://schemas.openxmlformats.org/officeDocument/2006/relationships/font" Target="fonts/WixMadeforDisplaySemiBol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Fraunces-regular.fntdata"/><Relationship Id="rId47" Type="http://schemas.openxmlformats.org/officeDocument/2006/relationships/font" Target="fonts/WixMadeforDisplayExtraBold-bold.fntdata"/><Relationship Id="rId49" Type="http://schemas.openxmlformats.org/officeDocument/2006/relationships/font" Target="fonts/Fraunce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FrauncesLight-regular.fntdata"/><Relationship Id="rId61" Type="http://schemas.openxmlformats.org/officeDocument/2006/relationships/font" Target="fonts/WixMadeforDisplay-bold.fntdata"/><Relationship Id="rId20" Type="http://schemas.openxmlformats.org/officeDocument/2006/relationships/slide" Target="slides/slide13.xml"/><Relationship Id="rId64" Type="http://schemas.openxmlformats.org/officeDocument/2006/relationships/font" Target="fonts/FrauncesLight-italic.fntdata"/><Relationship Id="rId63" Type="http://schemas.openxmlformats.org/officeDocument/2006/relationships/font" Target="fonts/FrauncesLight-bold.fntdata"/><Relationship Id="rId22" Type="http://schemas.openxmlformats.org/officeDocument/2006/relationships/slide" Target="slides/slide15.xml"/><Relationship Id="rId66" Type="http://schemas.openxmlformats.org/officeDocument/2006/relationships/font" Target="fonts/WixMadeforText-bold.fntdata"/><Relationship Id="rId21" Type="http://schemas.openxmlformats.org/officeDocument/2006/relationships/slide" Target="slides/slide14.xml"/><Relationship Id="rId65" Type="http://schemas.openxmlformats.org/officeDocument/2006/relationships/font" Target="fonts/FrauncesLight-boldItalic.fntdata"/><Relationship Id="rId24" Type="http://schemas.openxmlformats.org/officeDocument/2006/relationships/slide" Target="slides/slide17.xml"/><Relationship Id="rId68" Type="http://schemas.openxmlformats.org/officeDocument/2006/relationships/font" Target="fonts/WixMadeforDisplayMedium-regular.fntdata"/><Relationship Id="rId23" Type="http://schemas.openxmlformats.org/officeDocument/2006/relationships/slide" Target="slides/slide16.xml"/><Relationship Id="rId67" Type="http://schemas.openxmlformats.org/officeDocument/2006/relationships/font" Target="fonts/WixMadeforText-boldItalic.fntdata"/><Relationship Id="rId60" Type="http://schemas.openxmlformats.org/officeDocument/2006/relationships/font" Target="fonts/WixMadeforDisplay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WixMadeforDisplayMedium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Fraunces-boldItalic.fntdata"/><Relationship Id="rId50" Type="http://schemas.openxmlformats.org/officeDocument/2006/relationships/font" Target="fonts/Fraunces-italic.fntdata"/><Relationship Id="rId53" Type="http://schemas.openxmlformats.org/officeDocument/2006/relationships/font" Target="fonts/Nunito-bold.fntdata"/><Relationship Id="rId52" Type="http://schemas.openxmlformats.org/officeDocument/2006/relationships/font" Target="fonts/Nunito-regular.fntdata"/><Relationship Id="rId11" Type="http://schemas.openxmlformats.org/officeDocument/2006/relationships/slide" Target="slides/slide4.xml"/><Relationship Id="rId55" Type="http://schemas.openxmlformats.org/officeDocument/2006/relationships/font" Target="fonts/Nunito-boldItalic.fntdata"/><Relationship Id="rId10" Type="http://schemas.openxmlformats.org/officeDocument/2006/relationships/slide" Target="slides/slide3.xml"/><Relationship Id="rId54" Type="http://schemas.openxmlformats.org/officeDocument/2006/relationships/font" Target="fonts/Nunito-italic.fntdata"/><Relationship Id="rId13" Type="http://schemas.openxmlformats.org/officeDocument/2006/relationships/slide" Target="slides/slide6.xml"/><Relationship Id="rId57" Type="http://schemas.openxmlformats.org/officeDocument/2006/relationships/font" Target="fonts/Poppins-bold.fntdata"/><Relationship Id="rId12" Type="http://schemas.openxmlformats.org/officeDocument/2006/relationships/slide" Target="slides/slide5.xml"/><Relationship Id="rId56" Type="http://schemas.openxmlformats.org/officeDocument/2006/relationships/font" Target="fonts/Poppins-regular.fntdata"/><Relationship Id="rId15" Type="http://schemas.openxmlformats.org/officeDocument/2006/relationships/slide" Target="slides/slide8.xml"/><Relationship Id="rId59" Type="http://schemas.openxmlformats.org/officeDocument/2006/relationships/font" Target="fonts/Poppins-boldItalic.fntdata"/><Relationship Id="rId14" Type="http://schemas.openxmlformats.org/officeDocument/2006/relationships/slide" Target="slides/slide7.xml"/><Relationship Id="rId58" Type="http://schemas.openxmlformats.org/officeDocument/2006/relationships/font" Target="fonts/Poppins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7d3bf915_0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7d3bf915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c87d3bf915_0_2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c13325c50_1_44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c13325c50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c13325c50_1_44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0b8142c0b_1_5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0b8142c0b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0b8142c0b_1_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0b8142c0b_1_29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0b8142c0b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0b8142c0b_1_29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0b8142c0b_1_55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0b8142c0b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0b8142c0b_1_55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b8142c0b_1_76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0b8142c0b_1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0b8142c0b_1_7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b8142c0b_1_118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b8142c0b_1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0b8142c0b_1_11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0bc3d0d55_0_8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0bc3d0d5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0bc3d0d55_0_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0bc3d0d55_0_30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0bc3d0d55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0bc3d0d55_0_30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0b8142c0b_1_96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0b8142c0b_1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d0b8142c0b_1_96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</p:spPr>
        <p:txBody>
          <a:bodyPr anchorCtr="0" anchor="b" bIns="93125" lIns="93125" spcFirstLastPara="1" rIns="93125" wrap="square" tIns="9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87d3bf915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87d3bf915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c87d3bf915_0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1dddffeae_0_0:notes"/>
          <p:cNvSpPr/>
          <p:nvPr>
            <p:ph idx="2" type="sldImg"/>
          </p:nvPr>
        </p:nvSpPr>
        <p:spPr>
          <a:xfrm>
            <a:off x="571950" y="1371600"/>
            <a:ext cx="91440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1dddffeae_0_0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5029cd5b2_12_1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c5029cd5b2_12_1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Some people don’t agree with this kind of holistic approach but Our customers love it.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326" name="Google Shape;326;g3c5029cd5b2_12_1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12e08bca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12e08bca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d12e08bca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485222ba7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c485222ba7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c485222ba7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86d368f100_0_144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86d368f100_0_144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464" name="Google Shape;464;g386d368f100_0_144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86d2a9a2cd_2_1051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86d2a9a2cd_2_1051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518" name="Google Shape;518;g386d2a9a2cd_2_1051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16c4242fc_0_0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d16c4242fc_0_0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567" name="Google Shape;567;g3d16c4242fc_0_0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c4afb33f9_1_173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g3cc4afb33f9_1_173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Some people don’t agree with this kind of holistic approach but Our customers love it.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587" name="Google Shape;587;g3cc4afb33f9_1_173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c4afb33f9_1_85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cc4afb33f9_1_85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Some people don’t agree with this kind of holistic approach but Our customers love it.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617" name="Google Shape;617;g3cc4afb33f9_1_85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cc4afb33f9_1_153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cc4afb33f9_1_153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Some people don’t agree with this kind of holistic approach but Our customers love it.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648" name="Google Shape;648;g3cc4afb33f9_1_153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cc4afb33f9_1_100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3cc4afb33f9_1_100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Some people don’t agree with this kind of holistic approach but Our customers love it.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674" name="Google Shape;674;g3cc4afb33f9_1_100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cc4afb33f9_1_190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cc4afb33f9_1_190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Some people don’t agree with this kind of holistic approach but Our customers love it.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700" name="Google Shape;700;g3cc4afb33f9_1_190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c485222ba7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c485222ba7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c485222ba7_0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c13325c50_1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cc13325c50_1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cc13325c50_1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959a017110_7_94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58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g3959a017110_7_94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-469900" lvl="0" marL="76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sp>
        <p:nvSpPr>
          <p:cNvPr id="768" name="Google Shape;768;g3959a017110_7_94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959a017110_4_96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g3959a017110_4_96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We’re not just solving one task — we’re automating end-to-end insurance workflows, from submission intake to policy checking, audits, and claims validation.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/>
              <a:t>Some people don’t agree with this kind of holistic approach but Our customers love it.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b="1"/>
          </a:p>
        </p:txBody>
      </p:sp>
      <p:sp>
        <p:nvSpPr>
          <p:cNvPr id="777" name="Google Shape;777;g3959a017110_4_96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86d2a9a2cd_2_690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g386d2a9a2cd_2_690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812" name="Google Shape;812;g386d2a9a2cd_2_690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86d2a9a2cd_2_958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86d2a9a2cd_2_958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838" name="Google Shape;838;g386d2a9a2cd_2_958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86d2a9a2cd_2_729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g386d2a9a2cd_2_729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878" name="Google Shape;878;g386d2a9a2cd_2_729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86d2a9a2cd_2_803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g386d2a9a2cd_2_803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925" name="Google Shape;925;g386d2a9a2cd_2_803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86d2a9a2cd_2_882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64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386d2a9a2cd_2_882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8075" lIns="158075" spcFirstLastPara="1" rIns="158075" wrap="square" tIns="158075">
            <a:noAutofit/>
          </a:bodyPr>
          <a:lstStyle/>
          <a:p>
            <a:pPr indent="-5080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971" name="Google Shape;971;g386d2a9a2cd_2_882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8075" lIns="158075" spcFirstLastPara="1" rIns="158075" wrap="square" tIns="1580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959a01711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959a01711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g3959a01711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86d2a9a2cd_2_10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3" name="Google Shape;1043;g386d2a9a2cd_2_10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There’s been a lot of hype around AI in insurance — but most tools today don’t fit how the industry really works.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So we built FurtherAI to be insurance-native — wired into your tools, and enterprise ready. 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We’re not reinventing the wheel here — just helping it turn a whole lot faster.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i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g386d2a9a2cd_2_10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959a017110_4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959a017110_4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g3959a017110_4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c87d3bf915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c87d3bf915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c87d3bf915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7189d599ed_3_4:notes"/>
          <p:cNvSpPr/>
          <p:nvPr>
            <p:ph idx="2" type="sldImg"/>
          </p:nvPr>
        </p:nvSpPr>
        <p:spPr>
          <a:xfrm>
            <a:off x="1028700" y="2286000"/>
            <a:ext cx="8229600" cy="617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g37189d599ed_3_4:notes"/>
          <p:cNvSpPr txBox="1"/>
          <p:nvPr>
            <p:ph idx="1" type="body"/>
          </p:nvPr>
        </p:nvSpPr>
        <p:spPr>
          <a:xfrm>
            <a:off x="1028700" y="8801100"/>
            <a:ext cx="8229600" cy="7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375" lIns="152375" spcFirstLastPara="1" rIns="152375" wrap="square" tIns="152375">
            <a:noAutofit/>
          </a:bodyPr>
          <a:lstStyle/>
          <a:p>
            <a:pPr indent="-469900" lvl="0" marL="762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team to this</a:t>
            </a:r>
            <a:endParaRPr/>
          </a:p>
        </p:txBody>
      </p:sp>
      <p:sp>
        <p:nvSpPr>
          <p:cNvPr id="1096" name="Google Shape;1096;g37189d599ed_3_4:notes"/>
          <p:cNvSpPr txBox="1"/>
          <p:nvPr>
            <p:ph idx="12" type="sldNum"/>
          </p:nvPr>
        </p:nvSpPr>
        <p:spPr>
          <a:xfrm>
            <a:off x="5826920" y="17370426"/>
            <a:ext cx="4457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375" lIns="152375" spcFirstLastPara="1" rIns="152375" wrap="square" tIns="152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fld id="{00000000-1234-1234-1234-123412341234}" type="slidenum"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>
              <a:buNone/>
              <a:defRPr sz="650"/>
            </a:lvl1pPr>
            <a:lvl2pPr lvl="1">
              <a:buNone/>
              <a:defRPr sz="650"/>
            </a:lvl2pPr>
            <a:lvl3pPr lvl="2">
              <a:buNone/>
              <a:defRPr sz="650"/>
            </a:lvl3pPr>
            <a:lvl4pPr lvl="3">
              <a:buNone/>
              <a:defRPr sz="650"/>
            </a:lvl4pPr>
            <a:lvl5pPr lvl="4">
              <a:buNone/>
              <a:defRPr sz="650"/>
            </a:lvl5pPr>
            <a:lvl6pPr lvl="5">
              <a:buNone/>
              <a:defRPr sz="650"/>
            </a:lvl6pPr>
            <a:lvl7pPr lvl="6">
              <a:buNone/>
              <a:defRPr sz="650"/>
            </a:lvl7pPr>
            <a:lvl8pPr lvl="7">
              <a:buNone/>
              <a:defRPr sz="650"/>
            </a:lvl8pPr>
            <a:lvl9pPr lvl="8">
              <a:buNone/>
              <a:defRPr sz="65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>
            <a:lvl1pPr lvl="0">
              <a:buNone/>
              <a:defRPr sz="650"/>
            </a:lvl1pPr>
            <a:lvl2pPr lvl="1">
              <a:buNone/>
              <a:defRPr sz="650"/>
            </a:lvl2pPr>
            <a:lvl3pPr lvl="2">
              <a:buNone/>
              <a:defRPr sz="650"/>
            </a:lvl3pPr>
            <a:lvl4pPr lvl="3">
              <a:buNone/>
              <a:defRPr sz="650"/>
            </a:lvl4pPr>
            <a:lvl5pPr lvl="4">
              <a:buNone/>
              <a:defRPr sz="650"/>
            </a:lvl5pPr>
            <a:lvl6pPr lvl="5">
              <a:buNone/>
              <a:defRPr sz="650"/>
            </a:lvl6pPr>
            <a:lvl7pPr lvl="6">
              <a:buNone/>
              <a:defRPr sz="650"/>
            </a:lvl7pPr>
            <a:lvl8pPr lvl="7">
              <a:buNone/>
              <a:defRPr sz="650"/>
            </a:lvl8pPr>
            <a:lvl9pPr lvl="8">
              <a:buNone/>
              <a:defRPr sz="65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45725" lIns="45725" spcFirstLastPara="1" rIns="45725" wrap="square" tIns="4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45725" lIns="45725" spcFirstLastPara="1" rIns="45725" wrap="square" tIns="457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45725" lIns="45725" spcFirstLastPara="1" rIns="45725" wrap="square" tIns="4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45725" lIns="45725" spcFirstLastPara="1" rIns="45725" wrap="square" tIns="4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>
            <a:lvl1pPr lvl="0">
              <a:buNone/>
              <a:defRPr sz="1000"/>
            </a:lvl1pPr>
            <a:lvl2pPr lvl="1">
              <a:buNone/>
              <a:defRPr sz="1000"/>
            </a:lvl2pPr>
            <a:lvl3pPr lvl="2">
              <a:buNone/>
              <a:defRPr sz="1000"/>
            </a:lvl3pPr>
            <a:lvl4pPr lvl="3">
              <a:buNone/>
              <a:defRPr sz="1000"/>
            </a:lvl4pPr>
            <a:lvl5pPr lvl="4">
              <a:buNone/>
              <a:defRPr sz="1000"/>
            </a:lvl5pPr>
            <a:lvl6pPr lvl="5">
              <a:buNone/>
              <a:defRPr sz="1000"/>
            </a:lvl6pPr>
            <a:lvl7pPr lvl="6">
              <a:buNone/>
              <a:defRPr sz="1000"/>
            </a:lvl7pPr>
            <a:lvl8pPr lvl="7">
              <a:buNone/>
              <a:defRPr sz="1000"/>
            </a:lvl8pPr>
            <a:lvl9pPr lvl="8"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110788" y="4798326"/>
            <a:ext cx="841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1pPr>
            <a:lvl2pPr lvl="1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2pPr>
            <a:lvl3pPr lvl="2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3pPr>
            <a:lvl4pPr lvl="3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4pPr>
            <a:lvl5pPr lvl="4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5pPr>
            <a:lvl6pPr lvl="5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6pPr>
            <a:lvl7pPr lvl="6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7pPr>
            <a:lvl8pPr lvl="7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8pPr>
            <a:lvl9pPr lvl="8" algn="r">
              <a:buNone/>
              <a:defRPr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tx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41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34.png"/><Relationship Id="rId7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34.png"/><Relationship Id="rId7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hyperlink" Target="https://www.furtherai.com/customers/policy-check-compare-ai-teammate" TargetMode="External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hyperlink" Target="https://www.furtherai.com/customers/submissions-processing-ai" TargetMode="External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hyperlink" Target="https://www.furtherai.com/customers/how-brokers-use-furtherai-to-generate-client-proposals-in-minutes" TargetMode="External"/><Relationship Id="rId8" Type="http://schemas.openxmlformats.org/officeDocument/2006/relationships/hyperlink" Target="https://www.furtherai.com/customers/how-brokers-use-furtherai-to-generate-client-proposals-in-minutes" TargetMode="Externa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hyperlink" Target="https://www.furtherai.com/customers/loss-runs" TargetMode="External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hyperlink" Target="https://www.furtherai.com/customers/complex-property-sov-intake" TargetMode="External"/><Relationship Id="rId5" Type="http://schemas.openxmlformats.org/officeDocument/2006/relationships/image" Target="../media/image42.png"/><Relationship Id="rId6" Type="http://schemas.openxmlformats.org/officeDocument/2006/relationships/image" Target="../media/image33.gif"/><Relationship Id="rId7" Type="http://schemas.openxmlformats.org/officeDocument/2006/relationships/hyperlink" Target="https://www.furtherai.com/customers/underwriting-audit-ai" TargetMode="External"/><Relationship Id="rId8" Type="http://schemas.openxmlformats.org/officeDocument/2006/relationships/hyperlink" Target="https://www.furtherai.com/customers/complex-property-sov-intake" TargetMode="External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5" Type="http://schemas.openxmlformats.org/officeDocument/2006/relationships/image" Target="../media/image42.png"/><Relationship Id="rId6" Type="http://schemas.openxmlformats.org/officeDocument/2006/relationships/image" Target="../media/image49.gif"/><Relationship Id="rId7" Type="http://schemas.openxmlformats.org/officeDocument/2006/relationships/hyperlink" Target="https://www.furtherai.com/customers/policy-check-compare-ai-teammate" TargetMode="External"/><Relationship Id="rId8" Type="http://schemas.openxmlformats.org/officeDocument/2006/relationships/hyperlink" Target="https://www.furtherai.com/customers/policy-check-compare-ai-teammat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hyperlink" Target="https://www.furtherai.com/customers/claims-processing-ai" TargetMode="External"/><Relationship Id="rId9" Type="http://schemas.openxmlformats.org/officeDocument/2006/relationships/image" Target="../media/image39.png"/><Relationship Id="rId5" Type="http://schemas.openxmlformats.org/officeDocument/2006/relationships/image" Target="../media/image26.png"/><Relationship Id="rId6" Type="http://schemas.openxmlformats.org/officeDocument/2006/relationships/image" Target="../media/image1.png"/><Relationship Id="rId7" Type="http://schemas.openxmlformats.org/officeDocument/2006/relationships/image" Target="../media/image42.png"/><Relationship Id="rId8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5" Type="http://schemas.openxmlformats.org/officeDocument/2006/relationships/image" Target="../media/image42.png"/><Relationship Id="rId6" Type="http://schemas.openxmlformats.org/officeDocument/2006/relationships/image" Target="../media/image47.png"/><Relationship Id="rId7" Type="http://schemas.openxmlformats.org/officeDocument/2006/relationships/hyperlink" Target="https://www.furtherai.com/customers/underwriting-audit-ai" TargetMode="External"/><Relationship Id="rId8" Type="http://schemas.openxmlformats.org/officeDocument/2006/relationships/hyperlink" Target="https://www.furtherai.com/customers/claims-processing-ai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17.png"/><Relationship Id="rId5" Type="http://schemas.openxmlformats.org/officeDocument/2006/relationships/image" Target="../media/image57.png"/><Relationship Id="rId6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55.png"/><Relationship Id="rId7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1.png"/><Relationship Id="rId5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Relationship Id="rId6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74B40"/>
            </a:gs>
            <a:gs pos="47000">
              <a:srgbClr val="1A421F"/>
            </a:gs>
            <a:gs pos="50000">
              <a:srgbClr val="14452A"/>
            </a:gs>
            <a:gs pos="100000">
              <a:srgbClr val="203E13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7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/>
        </p:nvSpPr>
        <p:spPr>
          <a:xfrm>
            <a:off x="443813" y="1991550"/>
            <a:ext cx="49023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Agentic Workspace for Insurance</a:t>
            </a:r>
            <a:endParaRPr sz="37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69" name="Google Shape;69;p17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443813" y="427775"/>
            <a:ext cx="1330227" cy="37908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/>
          <p:nvPr/>
        </p:nvSpPr>
        <p:spPr>
          <a:xfrm>
            <a:off x="4149900" y="4798175"/>
            <a:ext cx="844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furtherai.com</a:t>
            </a:r>
            <a:endParaRPr sz="65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1" name="Google Shape;71;p17"/>
          <p:cNvSpPr txBox="1"/>
          <p:nvPr/>
        </p:nvSpPr>
        <p:spPr>
          <a:xfrm>
            <a:off x="8110788" y="4798325"/>
            <a:ext cx="844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1</a:t>
            </a:r>
            <a:endParaRPr sz="65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2" name="Google Shape;72;p17"/>
          <p:cNvSpPr txBox="1"/>
          <p:nvPr/>
        </p:nvSpPr>
        <p:spPr>
          <a:xfrm>
            <a:off x="189017" y="4798175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73" name="Google Shape;73;p17"/>
          <p:cNvCxnSpPr/>
          <p:nvPr/>
        </p:nvCxnSpPr>
        <p:spPr>
          <a:xfrm>
            <a:off x="195000" y="4689925"/>
            <a:ext cx="8754000" cy="0"/>
          </a:xfrm>
          <a:prstGeom prst="straightConnector1">
            <a:avLst/>
          </a:prstGeom>
          <a:noFill/>
          <a:ln cap="flat" cmpd="sng" w="47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4" name="Google Shape;74;p17" title="Slides dump - merge to decks (15).png"/>
          <p:cNvPicPr preferRelativeResize="0"/>
          <p:nvPr/>
        </p:nvPicPr>
        <p:blipFill rotWithShape="1">
          <a:blip r:embed="rId5">
            <a:alphaModFix/>
          </a:blip>
          <a:srcRect b="14563" l="4851" r="35848" t="15993"/>
          <a:stretch/>
        </p:blipFill>
        <p:spPr>
          <a:xfrm>
            <a:off x="443822" y="3777393"/>
            <a:ext cx="997051" cy="65675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5830278" y="2176675"/>
            <a:ext cx="2515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</a:rPr>
              <a:t>ADD LOGO</a:t>
            </a:r>
            <a:endParaRPr sz="2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</a:rPr>
              <a:t>HERE</a:t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82" name="Google Shape;82;p18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12581" r="14399" t="20064"/>
          <a:stretch/>
        </p:blipFill>
        <p:spPr>
          <a:xfrm>
            <a:off x="638400" y="1011887"/>
            <a:ext cx="26037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83" name="Google Shape;83;p18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1198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852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7186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Kush Agarwal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36078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Director, AI Solutions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89" name="Google Shape;89;p18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0" name="Google Shape;90;p18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1" name="Google Shape;91;p18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2" name="Google Shape;92;p18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JoanV_Further ai_3.jpg"/>
          <p:cNvPicPr preferRelativeResize="0"/>
          <p:nvPr/>
        </p:nvPicPr>
        <p:blipFill rotWithShape="1">
          <a:blip r:embed="rId6">
            <a:alphaModFix/>
          </a:blip>
          <a:srcRect b="43956" l="41628" r="28795" t="18907"/>
          <a:stretch/>
        </p:blipFill>
        <p:spPr>
          <a:xfrm>
            <a:off x="3361525" y="1011263"/>
            <a:ext cx="2603700" cy="2182200"/>
          </a:xfrm>
          <a:prstGeom prst="roundRect">
            <a:avLst>
              <a:gd fmla="val 5567" name="adj"/>
            </a:avLst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6312503" y="3314638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Danny O’Lenic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97" name="Google Shape;97;p18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8" name="Google Shape;98;p18" title="New Hire posts (6).png"/>
          <p:cNvPicPr preferRelativeResize="0"/>
          <p:nvPr/>
        </p:nvPicPr>
        <p:blipFill rotWithShape="1">
          <a:blip r:embed="rId7">
            <a:alphaModFix/>
          </a:blip>
          <a:srcRect b="30355" l="12495" r="14602" t="1811"/>
          <a:stretch/>
        </p:blipFill>
        <p:spPr>
          <a:xfrm>
            <a:off x="6084650" y="999525"/>
            <a:ext cx="2345100" cy="2182200"/>
          </a:xfrm>
          <a:prstGeom prst="roundRect">
            <a:avLst>
              <a:gd fmla="val 5026" name="adj"/>
            </a:avLst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6201642" y="3612440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Product Lead, Insurance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107" name="Google Shape;107;p19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Kush Agarwal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52080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Director, AI Solutions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5" name="Google Shape;115;p19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6" name="Google Shape;116;p19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7" name="Google Shape;117;p19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 title="JoanV_Further ai_3.jpg"/>
          <p:cNvPicPr preferRelativeResize="0"/>
          <p:nvPr/>
        </p:nvPicPr>
        <p:blipFill rotWithShape="1">
          <a:blip r:embed="rId6">
            <a:alphaModFix/>
          </a:blip>
          <a:srcRect b="43956" l="37513" r="25330" t="18907"/>
          <a:stretch/>
        </p:blipFill>
        <p:spPr>
          <a:xfrm>
            <a:off x="4599325" y="1011275"/>
            <a:ext cx="3271200" cy="2182200"/>
          </a:xfrm>
          <a:prstGeom prst="roundRect">
            <a:avLst>
              <a:gd fmla="val 5567" name="adj"/>
            </a:avLst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129" name="Google Shape;129;p20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Logan Krumholz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2080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Director, Strategic Partnerships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36" name="Google Shape;136;p20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7" name="Google Shape;137;p20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8" name="Google Shape;138;p20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39" name="Google Shape;139;p20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 title="JoanV_Further ai_16 (1).jpg"/>
          <p:cNvPicPr preferRelativeResize="0"/>
          <p:nvPr/>
        </p:nvPicPr>
        <p:blipFill rotWithShape="1">
          <a:blip r:embed="rId6">
            <a:alphaModFix/>
          </a:blip>
          <a:srcRect b="48379" l="12153" r="19880" t="21273"/>
          <a:stretch/>
        </p:blipFill>
        <p:spPr>
          <a:xfrm>
            <a:off x="4571275" y="1015950"/>
            <a:ext cx="3326100" cy="2224800"/>
          </a:xfrm>
          <a:prstGeom prst="roundRect">
            <a:avLst>
              <a:gd fmla="val 3490" name="adj"/>
            </a:avLst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151" name="Google Shape;151;p21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Bobby Glasco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52080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Enterprise Account Executive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58" name="Google Shape;158;p21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9" name="Google Shape;159;p21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0" name="Google Shape;160;p21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61" name="Google Shape;161;p21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make_the_background_202603171605.png"/>
          <p:cNvPicPr preferRelativeResize="0"/>
          <p:nvPr/>
        </p:nvPicPr>
        <p:blipFill rotWithShape="1">
          <a:blip r:embed="rId6">
            <a:alphaModFix/>
          </a:blip>
          <a:srcRect b="34986" l="23326" r="26393" t="6252"/>
          <a:stretch/>
        </p:blipFill>
        <p:spPr>
          <a:xfrm>
            <a:off x="4572475" y="1044500"/>
            <a:ext cx="3464100" cy="2259300"/>
          </a:xfrm>
          <a:prstGeom prst="roundRect">
            <a:avLst>
              <a:gd fmla="val 4372" name="adj"/>
            </a:avLst>
          </a:prstGeom>
          <a:noFill/>
          <a:ln>
            <a:noFill/>
          </a:ln>
        </p:spPr>
      </p:pic>
      <p:sp>
        <p:nvSpPr>
          <p:cNvPr id="165" name="Google Shape;165;p21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173" name="Google Shape;173;p22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Mike Harris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52080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Enterprise Account Executive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80" name="Google Shape;180;p22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1" name="Google Shape;181;p22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2" name="Google Shape;182;p22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83" name="Google Shape;183;p22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 title="don't_touch_his_202603171609.png"/>
          <p:cNvPicPr preferRelativeResize="0"/>
          <p:nvPr/>
        </p:nvPicPr>
        <p:blipFill rotWithShape="1">
          <a:blip r:embed="rId6">
            <a:alphaModFix/>
          </a:blip>
          <a:srcRect b="44494" l="25631" r="26071" t="0"/>
          <a:stretch/>
        </p:blipFill>
        <p:spPr>
          <a:xfrm>
            <a:off x="4619100" y="1015950"/>
            <a:ext cx="3468300" cy="2224800"/>
          </a:xfrm>
          <a:prstGeom prst="roundRect">
            <a:avLst>
              <a:gd fmla="val 5360" name="adj"/>
            </a:avLst>
          </a:prstGeom>
          <a:noFill/>
          <a:ln>
            <a:noFill/>
          </a:ln>
        </p:spPr>
      </p:pic>
      <p:sp>
        <p:nvSpPr>
          <p:cNvPr id="187" name="Google Shape;187;p22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195" name="Google Shape;195;p23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Sashank Gondala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52080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CTO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202" name="Google Shape;202;p23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3" name="Google Shape;203;p23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4" name="Google Shape;204;p23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05" name="Google Shape;205;p23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 title="JoanV_Further ai_18.jpg"/>
          <p:cNvPicPr preferRelativeResize="0"/>
          <p:nvPr/>
        </p:nvPicPr>
        <p:blipFill rotWithShape="1">
          <a:blip r:embed="rId6">
            <a:alphaModFix/>
          </a:blip>
          <a:srcRect b="40057" l="30088" r="23307" t="14363"/>
          <a:stretch/>
        </p:blipFill>
        <p:spPr>
          <a:xfrm>
            <a:off x="4635925" y="1025600"/>
            <a:ext cx="3361200" cy="2194200"/>
          </a:xfrm>
          <a:prstGeom prst="roundRect">
            <a:avLst>
              <a:gd fmla="val 5655" name="adj"/>
            </a:avLst>
          </a:prstGeom>
          <a:noFill/>
          <a:ln>
            <a:noFill/>
          </a:ln>
        </p:spPr>
      </p:pic>
      <p:sp>
        <p:nvSpPr>
          <p:cNvPr id="209" name="Google Shape;209;p23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0" name="Google Shape;210;p23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217" name="Google Shape;217;p24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Dani Salgado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52080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Solutions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224" name="Google Shape;224;p24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5" name="Google Shape;225;p24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26" name="Google Shape;226;p24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27" name="Google Shape;227;p24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 title="DSC01888.jpg"/>
          <p:cNvPicPr preferRelativeResize="0"/>
          <p:nvPr/>
        </p:nvPicPr>
        <p:blipFill rotWithShape="1">
          <a:blip r:embed="rId6">
            <a:alphaModFix/>
          </a:blip>
          <a:srcRect b="34314" l="26771" r="21695" t="14509"/>
          <a:stretch/>
        </p:blipFill>
        <p:spPr>
          <a:xfrm>
            <a:off x="4658250" y="1053299"/>
            <a:ext cx="3361200" cy="2224800"/>
          </a:xfrm>
          <a:prstGeom prst="roundRect">
            <a:avLst>
              <a:gd fmla="val 2717" name="adj"/>
            </a:avLst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239" name="Google Shape;239;p25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Gavin Foltz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5221822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Enterprise Account Executive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246" name="Google Shape;246;p25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7" name="Google Shape;247;p25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8" name="Google Shape;248;p25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49" name="Google Shape;249;p25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 title="1566916213359.jpeg"/>
          <p:cNvPicPr preferRelativeResize="0"/>
          <p:nvPr/>
        </p:nvPicPr>
        <p:blipFill rotWithShape="1">
          <a:blip r:embed="rId6">
            <a:alphaModFix/>
          </a:blip>
          <a:srcRect b="35350" l="0" r="0" t="0"/>
          <a:stretch/>
        </p:blipFill>
        <p:spPr>
          <a:xfrm>
            <a:off x="4617391" y="1027725"/>
            <a:ext cx="3441300" cy="2224800"/>
          </a:xfrm>
          <a:prstGeom prst="roundRect">
            <a:avLst>
              <a:gd fmla="val 3936" name="adj"/>
            </a:avLst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4" name="Google Shape;254;p25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F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/>
        </p:nvSpPr>
        <p:spPr>
          <a:xfrm>
            <a:off x="3063900" y="241049"/>
            <a:ext cx="301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5654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Our Team</a:t>
            </a:r>
            <a:endParaRPr sz="2800">
              <a:solidFill>
                <a:srgbClr val="25654F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261" name="Google Shape;261;p26" title="690dadba1806fc8beee33ee2_1.png"/>
          <p:cNvPicPr preferRelativeResize="0"/>
          <p:nvPr/>
        </p:nvPicPr>
        <p:blipFill rotWithShape="1">
          <a:blip r:embed="rId3">
            <a:alphaModFix/>
          </a:blip>
          <a:srcRect b="33179" l="2903" r="2828" t="20064"/>
          <a:stretch/>
        </p:blipFill>
        <p:spPr>
          <a:xfrm>
            <a:off x="1055275" y="1011875"/>
            <a:ext cx="3361200" cy="2224800"/>
          </a:xfrm>
          <a:prstGeom prst="roundRect">
            <a:avLst>
              <a:gd fmla="val 6227" name="adj"/>
            </a:avLst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1184429" y="4817100"/>
            <a:ext cx="110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Team Experience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63" name="Google Shape;263;p26"/>
          <p:cNvSpPr txBox="1"/>
          <p:nvPr/>
        </p:nvSpPr>
        <p:spPr>
          <a:xfrm>
            <a:off x="1430890" y="4414402"/>
            <a:ext cx="15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Backed by</a:t>
            </a:r>
            <a:endParaRPr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1960805" y="3316485"/>
            <a:ext cx="13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Aman Gour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1614455" y="362736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CEO &amp; Co-Founder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5318878" y="3326213"/>
            <a:ext cx="183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Nia Casso</a:t>
            </a:r>
            <a:endParaRPr sz="1800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5208017" y="3624015"/>
            <a:ext cx="205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Enterprise Account Executive</a:t>
            </a:r>
            <a:endParaRPr sz="90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268" name="Google Shape;268;p26"/>
          <p:cNvCxnSpPr/>
          <p:nvPr/>
        </p:nvCxnSpPr>
        <p:spPr>
          <a:xfrm>
            <a:off x="5550" y="4019645"/>
            <a:ext cx="9132900" cy="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9" name="Google Shape;269;p26"/>
          <p:cNvSpPr/>
          <p:nvPr/>
        </p:nvSpPr>
        <p:spPr>
          <a:xfrm rot="5400000">
            <a:off x="7891350" y="3310200"/>
            <a:ext cx="978300" cy="15270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0" name="Google Shape;270;p26"/>
          <p:cNvSpPr/>
          <p:nvPr/>
        </p:nvSpPr>
        <p:spPr>
          <a:xfrm rot="-5400000">
            <a:off x="66450" y="3508313"/>
            <a:ext cx="985500" cy="11073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71" name="Google Shape;271;p26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50794" l="26673" r="19267" t="40462"/>
          <a:stretch/>
        </p:blipFill>
        <p:spPr>
          <a:xfrm>
            <a:off x="2100113" y="4255044"/>
            <a:ext cx="5626416" cy="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 title="Slides dump - merge to decks (11).png"/>
          <p:cNvPicPr preferRelativeResize="0"/>
          <p:nvPr/>
        </p:nvPicPr>
        <p:blipFill rotWithShape="1">
          <a:blip r:embed="rId5">
            <a:alphaModFix/>
          </a:blip>
          <a:srcRect b="38743" l="22655" r="1628" t="51027"/>
          <a:stretch/>
        </p:blipFill>
        <p:spPr>
          <a:xfrm>
            <a:off x="2164688" y="4657894"/>
            <a:ext cx="6013363" cy="45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6" title="New Hire posts (7).png"/>
          <p:cNvPicPr preferRelativeResize="0"/>
          <p:nvPr/>
        </p:nvPicPr>
        <p:blipFill rotWithShape="1">
          <a:blip r:embed="rId6">
            <a:alphaModFix/>
          </a:blip>
          <a:srcRect b="40779" l="9925" r="9058" t="10132"/>
          <a:stretch/>
        </p:blipFill>
        <p:spPr>
          <a:xfrm>
            <a:off x="4568675" y="996500"/>
            <a:ext cx="3671400" cy="2224800"/>
          </a:xfrm>
          <a:prstGeom prst="roundRect">
            <a:avLst>
              <a:gd fmla="val 3678" name="adj"/>
            </a:avLst>
          </a:prstGeom>
          <a:noFill/>
          <a:ln>
            <a:noFill/>
          </a:ln>
        </p:spPr>
      </p:pic>
      <p:sp>
        <p:nvSpPr>
          <p:cNvPr id="275" name="Google Shape;275;p26"/>
          <p:cNvSpPr/>
          <p:nvPr/>
        </p:nvSpPr>
        <p:spPr>
          <a:xfrm rot="10800000">
            <a:off x="638276" y="2570038"/>
            <a:ext cx="8050200" cy="744600"/>
          </a:xfrm>
          <a:prstGeom prst="rect">
            <a:avLst/>
          </a:prstGeom>
          <a:gradFill>
            <a:gsLst>
              <a:gs pos="0">
                <a:srgbClr val="F4F3F0"/>
              </a:gs>
              <a:gs pos="100000">
                <a:srgbClr val="14161C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6" name="Google Shape;276;p26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/>
          <p:nvPr/>
        </p:nvSpPr>
        <p:spPr>
          <a:xfrm>
            <a:off x="548125" y="563488"/>
            <a:ext cx="5961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7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Every manual workflow </a:t>
            </a:r>
            <a:endParaRPr sz="2675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7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is a ceiling on growth.</a:t>
            </a:r>
            <a:endParaRPr sz="5400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667288" y="3473825"/>
            <a:ext cx="14289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74B40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Siloed Data</a:t>
            </a:r>
            <a:endParaRPr sz="1350">
              <a:solidFill>
                <a:srgbClr val="074B40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3410513" y="3473825"/>
            <a:ext cx="2351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74B40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Disconnected Workflows</a:t>
            </a:r>
            <a:endParaRPr sz="1350">
              <a:solidFill>
                <a:srgbClr val="074B40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6268900" y="3462700"/>
            <a:ext cx="16449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74B40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Narrow AI Projects</a:t>
            </a:r>
            <a:endParaRPr sz="1350">
              <a:solidFill>
                <a:srgbClr val="074B40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670175" y="3866550"/>
            <a:ext cx="2232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Underwriting doesn't see claims. Distribution doesn't see operations. Everyone works with half the picture.</a:t>
            </a:r>
            <a:endParaRPr sz="95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3417975" y="3877675"/>
            <a:ext cx="2261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Work moves between teams through email, spreadsheets, and manual handoffs — nothing flows end to end.</a:t>
            </a:r>
            <a:endParaRPr sz="95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6268900" y="3866550"/>
            <a:ext cx="2143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Point solutions automate one task. They don't compound into enterprise-wide impact.</a:t>
            </a:r>
            <a:endParaRPr sz="95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289" name="Google Shape;289;p27" title="Green FAI (Transparent).png"/>
          <p:cNvPicPr preferRelativeResize="0"/>
          <p:nvPr/>
        </p:nvPicPr>
        <p:blipFill rotWithShape="1">
          <a:blip r:embed="rId3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 title="Gen AI for Commercial Insurance (15).png"/>
          <p:cNvPicPr preferRelativeResize="0"/>
          <p:nvPr/>
        </p:nvPicPr>
        <p:blipFill rotWithShape="1">
          <a:blip r:embed="rId4">
            <a:alphaModFix/>
          </a:blip>
          <a:srcRect b="31440" l="81668" r="30360" t="40562"/>
          <a:stretch/>
        </p:blipFill>
        <p:spPr>
          <a:xfrm flipH="1">
            <a:off x="1170927" y="1934094"/>
            <a:ext cx="1099910" cy="144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 title="Gen AI for Commercial Insurance (15).png"/>
          <p:cNvPicPr preferRelativeResize="0"/>
          <p:nvPr/>
        </p:nvPicPr>
        <p:blipFill rotWithShape="1">
          <a:blip r:embed="rId4">
            <a:alphaModFix/>
          </a:blip>
          <a:srcRect b="32982" l="59311" r="62390" t="39019"/>
          <a:stretch/>
        </p:blipFill>
        <p:spPr>
          <a:xfrm flipH="1">
            <a:off x="3462077" y="1851694"/>
            <a:ext cx="1984373" cy="144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 title="Gen AI for Commercial Insurance (15).png"/>
          <p:cNvPicPr preferRelativeResize="0"/>
          <p:nvPr/>
        </p:nvPicPr>
        <p:blipFill rotWithShape="1">
          <a:blip r:embed="rId4">
            <a:alphaModFix/>
          </a:blip>
          <a:srcRect b="33203" l="10043" r="76565" t="42987"/>
          <a:stretch/>
        </p:blipFill>
        <p:spPr>
          <a:xfrm>
            <a:off x="6637688" y="2075850"/>
            <a:ext cx="1156613" cy="1156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1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75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968104" y="1787805"/>
            <a:ext cx="1518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75" lIns="85575" spcFirstLastPara="1" rIns="85575" wrap="square" tIns="85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Frontier AI Models</a:t>
            </a:r>
            <a:endParaRPr sz="16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6532924" y="1751092"/>
            <a:ext cx="1662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5575" lIns="85575" spcFirstLastPara="1" rIns="85575" wrap="square" tIns="85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Agentic Workflows</a:t>
            </a:r>
            <a:endParaRPr sz="16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301" name="Google Shape;301;p28" title="Group 2147227792.png"/>
          <p:cNvPicPr preferRelativeResize="0"/>
          <p:nvPr/>
        </p:nvPicPr>
        <p:blipFill rotWithShape="1">
          <a:blip r:embed="rId4">
            <a:alphaModFix/>
          </a:blip>
          <a:srcRect b="80" l="0" r="0" t="70"/>
          <a:stretch/>
        </p:blipFill>
        <p:spPr>
          <a:xfrm>
            <a:off x="4096693" y="1642695"/>
            <a:ext cx="950609" cy="955613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2" name="Google Shape;302;p28"/>
          <p:cNvSpPr txBox="1"/>
          <p:nvPr/>
        </p:nvSpPr>
        <p:spPr>
          <a:xfrm>
            <a:off x="848925" y="549850"/>
            <a:ext cx="7446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Agentic Workspace for Insurance</a:t>
            </a:r>
            <a:endParaRPr sz="305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303" name="Google Shape;303;p28" title="FAI png (1).png"/>
          <p:cNvPicPr preferRelativeResize="0"/>
          <p:nvPr/>
        </p:nvPicPr>
        <p:blipFill rotWithShape="1">
          <a:blip r:embed="rId5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8" title="Frame 214722796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81250" y="4402229"/>
            <a:ext cx="402637" cy="40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 title="Frame 2147227962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06977" y="4402229"/>
            <a:ext cx="402637" cy="40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 title="Frame 2147227963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704" y="4401388"/>
            <a:ext cx="403478" cy="40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8" title="Frame 2147227964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59272" y="4401388"/>
            <a:ext cx="403478" cy="4034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28"/>
          <p:cNvCxnSpPr/>
          <p:nvPr/>
        </p:nvCxnSpPr>
        <p:spPr>
          <a:xfrm>
            <a:off x="2527250" y="2083791"/>
            <a:ext cx="11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8"/>
          <p:cNvCxnSpPr/>
          <p:nvPr/>
        </p:nvCxnSpPr>
        <p:spPr>
          <a:xfrm>
            <a:off x="5424854" y="2083791"/>
            <a:ext cx="119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28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311" name="Google Shape;311;p28"/>
          <p:cNvGrpSpPr/>
          <p:nvPr/>
        </p:nvGrpSpPr>
        <p:grpSpPr>
          <a:xfrm>
            <a:off x="736794" y="2880725"/>
            <a:ext cx="3828231" cy="1180261"/>
            <a:chOff x="736794" y="2880725"/>
            <a:chExt cx="3828231" cy="1180261"/>
          </a:xfrm>
        </p:grpSpPr>
        <p:sp>
          <p:nvSpPr>
            <p:cNvPr id="312" name="Google Shape;312;p28"/>
            <p:cNvSpPr txBox="1"/>
            <p:nvPr/>
          </p:nvSpPr>
          <p:spPr>
            <a:xfrm>
              <a:off x="736794" y="3660786"/>
              <a:ext cx="19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Multi-modal AI</a:t>
              </a:r>
              <a:endParaRPr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tailored for Insurance</a:t>
              </a:r>
              <a:endParaRPr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cxnSp>
          <p:nvCxnSpPr>
            <p:cNvPr id="313" name="Google Shape;313;p28"/>
            <p:cNvCxnSpPr/>
            <p:nvPr/>
          </p:nvCxnSpPr>
          <p:spPr>
            <a:xfrm>
              <a:off x="4565025" y="2880725"/>
              <a:ext cx="0" cy="252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28"/>
            <p:cNvCxnSpPr/>
            <p:nvPr/>
          </p:nvCxnSpPr>
          <p:spPr>
            <a:xfrm flipH="1">
              <a:off x="1702994" y="3129261"/>
              <a:ext cx="2840400" cy="526800"/>
            </a:xfrm>
            <a:prstGeom prst="bentConnector3">
              <a:avLst>
                <a:gd fmla="val 99993" name="adj1"/>
              </a:avLst>
            </a:prstGeom>
            <a:noFill/>
            <a:ln cap="flat" cmpd="sng" w="9525">
              <a:solidFill>
                <a:srgbClr val="EEEEEE"/>
              </a:solidFill>
              <a:prstDash val="dot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15" name="Google Shape;315;p28"/>
          <p:cNvGrpSpPr/>
          <p:nvPr/>
        </p:nvGrpSpPr>
        <p:grpSpPr>
          <a:xfrm>
            <a:off x="2759969" y="3135486"/>
            <a:ext cx="1662600" cy="925500"/>
            <a:chOff x="2759969" y="3135486"/>
            <a:chExt cx="1662600" cy="925500"/>
          </a:xfrm>
        </p:grpSpPr>
        <p:sp>
          <p:nvSpPr>
            <p:cNvPr id="316" name="Google Shape;316;p28"/>
            <p:cNvSpPr txBox="1"/>
            <p:nvPr/>
          </p:nvSpPr>
          <p:spPr>
            <a:xfrm>
              <a:off x="2759969" y="3660786"/>
              <a:ext cx="166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rPr lang="en-US" sz="1000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Automates end-to-end Work</a:t>
              </a:r>
              <a:endParaRPr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cxnSp>
          <p:nvCxnSpPr>
            <p:cNvPr id="317" name="Google Shape;317;p28"/>
            <p:cNvCxnSpPr>
              <a:endCxn id="316" idx="0"/>
            </p:cNvCxnSpPr>
            <p:nvPr/>
          </p:nvCxnSpPr>
          <p:spPr>
            <a:xfrm>
              <a:off x="3587669" y="3135486"/>
              <a:ext cx="3600" cy="525300"/>
            </a:xfrm>
            <a:prstGeom prst="straightConnector1">
              <a:avLst/>
            </a:prstGeom>
            <a:noFill/>
            <a:ln cap="flat" cmpd="sng" w="9525">
              <a:solidFill>
                <a:srgbClr val="EEEEEE"/>
              </a:solidFill>
              <a:prstDash val="dot"/>
              <a:round/>
              <a:headEnd len="med" w="med" type="none"/>
              <a:tailEnd len="med" w="med" type="triangle"/>
            </a:ln>
          </p:spPr>
        </p:cxnSp>
      </p:grpSp>
      <p:sp>
        <p:nvSpPr>
          <p:cNvPr id="318" name="Google Shape;318;p28"/>
          <p:cNvSpPr txBox="1"/>
          <p:nvPr/>
        </p:nvSpPr>
        <p:spPr>
          <a:xfrm>
            <a:off x="6637944" y="3660786"/>
            <a:ext cx="176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Integrates with Insurance systems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319" name="Google Shape;319;p28"/>
          <p:cNvCxnSpPr>
            <a:endCxn id="320" idx="0"/>
          </p:cNvCxnSpPr>
          <p:nvPr/>
        </p:nvCxnSpPr>
        <p:spPr>
          <a:xfrm>
            <a:off x="4563300" y="3127686"/>
            <a:ext cx="890400" cy="533100"/>
          </a:xfrm>
          <a:prstGeom prst="bentConnector2">
            <a:avLst/>
          </a:prstGeom>
          <a:noFill/>
          <a:ln cap="flat" cmpd="sng" w="9525">
            <a:solidFill>
              <a:srgbClr val="EEEEEE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320" name="Google Shape;320;p28"/>
          <p:cNvSpPr txBox="1"/>
          <p:nvPr/>
        </p:nvSpPr>
        <p:spPr>
          <a:xfrm>
            <a:off x="4552200" y="3660786"/>
            <a:ext cx="180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With 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human-in-the-loop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321" name="Google Shape;321;p28"/>
          <p:cNvCxnSpPr>
            <a:endCxn id="318" idx="0"/>
          </p:cNvCxnSpPr>
          <p:nvPr/>
        </p:nvCxnSpPr>
        <p:spPr>
          <a:xfrm>
            <a:off x="5453844" y="3127686"/>
            <a:ext cx="2068800" cy="533100"/>
          </a:xfrm>
          <a:prstGeom prst="bentConnector2">
            <a:avLst/>
          </a:prstGeom>
          <a:noFill/>
          <a:ln cap="flat" cmpd="sng" w="9525">
            <a:solidFill>
              <a:srgbClr val="EEEEEE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322" name="Google Shape;322;p28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EEEEEE"/>
                </a:solidFill>
              </a:rPr>
              <a:t>‹#›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9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628738" y="597350"/>
            <a:ext cx="38865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5">
                <a:solidFill>
                  <a:srgbClr val="FBFBF9"/>
                </a:solidFill>
                <a:latin typeface="Fraunces"/>
                <a:ea typeface="Fraunces"/>
                <a:cs typeface="Fraunces"/>
                <a:sym typeface="Fraunces"/>
              </a:rPr>
              <a:t>Example Use Cases</a:t>
            </a:r>
            <a:endParaRPr sz="2825">
              <a:solidFill>
                <a:srgbClr val="FBFBF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1508100" y="1103825"/>
            <a:ext cx="61278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5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Automate Complex End to End </a:t>
            </a:r>
            <a:r>
              <a:rPr lang="en-US" sz="1225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Insurance</a:t>
            </a:r>
            <a:r>
              <a:rPr lang="en-US" sz="1225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Workflows</a:t>
            </a:r>
            <a:endParaRPr sz="1225">
              <a:solidFill>
                <a:srgbClr val="FFFFFF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331" name="Google Shape;331;p29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273300" y="238125"/>
            <a:ext cx="944148" cy="26907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7760094" y="1831638"/>
            <a:ext cx="80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75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and more</a:t>
            </a:r>
            <a:endParaRPr i="1" sz="1075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333" name="Google Shape;333;p29" title="Gen AI for Commercial Insurance (24).png"/>
          <p:cNvPicPr preferRelativeResize="0"/>
          <p:nvPr/>
        </p:nvPicPr>
        <p:blipFill rotWithShape="1">
          <a:blip r:embed="rId5">
            <a:alphaModFix/>
          </a:blip>
          <a:srcRect b="61858" l="7300" r="79878" t="28418"/>
          <a:stretch/>
        </p:blipFill>
        <p:spPr>
          <a:xfrm>
            <a:off x="619626" y="1673894"/>
            <a:ext cx="1160078" cy="4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9" title="Gen AI for Commercial Insurance (24).png"/>
          <p:cNvPicPr preferRelativeResize="0"/>
          <p:nvPr/>
        </p:nvPicPr>
        <p:blipFill rotWithShape="1">
          <a:blip r:embed="rId5">
            <a:alphaModFix/>
          </a:blip>
          <a:srcRect b="61858" l="21195" r="68369" t="28418"/>
          <a:stretch/>
        </p:blipFill>
        <p:spPr>
          <a:xfrm>
            <a:off x="1878434" y="1673894"/>
            <a:ext cx="944150" cy="4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9" title="Gen AI for Commercial Insurance (24).png"/>
          <p:cNvPicPr preferRelativeResize="0"/>
          <p:nvPr/>
        </p:nvPicPr>
        <p:blipFill rotWithShape="1">
          <a:blip r:embed="rId5">
            <a:alphaModFix/>
          </a:blip>
          <a:srcRect b="62975" l="31128" r="51691" t="28770"/>
          <a:stretch/>
        </p:blipFill>
        <p:spPr>
          <a:xfrm>
            <a:off x="2876110" y="1687444"/>
            <a:ext cx="1466424" cy="4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9" title="Gen AI for Commercial Insurance (24).png"/>
          <p:cNvPicPr preferRelativeResize="0"/>
          <p:nvPr/>
        </p:nvPicPr>
        <p:blipFill rotWithShape="1">
          <a:blip r:embed="rId5">
            <a:alphaModFix/>
          </a:blip>
          <a:srcRect b="62622" l="48111" r="41943" t="29122"/>
          <a:stretch/>
        </p:blipFill>
        <p:spPr>
          <a:xfrm>
            <a:off x="4287730" y="1711256"/>
            <a:ext cx="899851" cy="4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 title="Gen AI for Commercial Insurance (24).png"/>
          <p:cNvPicPr preferRelativeResize="0"/>
          <p:nvPr/>
        </p:nvPicPr>
        <p:blipFill rotWithShape="1">
          <a:blip r:embed="rId5">
            <a:alphaModFix/>
          </a:blip>
          <a:srcRect b="63151" l="58143" r="31911" t="28593"/>
          <a:stretch/>
        </p:blipFill>
        <p:spPr>
          <a:xfrm>
            <a:off x="5203016" y="1700218"/>
            <a:ext cx="899851" cy="4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9" title="Gen AI for Commercial Insurance (24).png"/>
          <p:cNvPicPr preferRelativeResize="0"/>
          <p:nvPr/>
        </p:nvPicPr>
        <p:blipFill rotWithShape="1">
          <a:blip r:embed="rId5">
            <a:alphaModFix/>
          </a:blip>
          <a:srcRect b="62621" l="67975" r="22079" t="27655"/>
          <a:stretch/>
        </p:blipFill>
        <p:spPr>
          <a:xfrm>
            <a:off x="6108926" y="1650515"/>
            <a:ext cx="899851" cy="49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9"/>
          <p:cNvSpPr txBox="1"/>
          <p:nvPr/>
        </p:nvSpPr>
        <p:spPr>
          <a:xfrm>
            <a:off x="7522300" y="3354038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Guideline Validation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7522300" y="3627938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Audit Trail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7517627" y="3883854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Segregation of Duties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342" name="Google Shape;342;p29"/>
          <p:cNvCxnSpPr/>
          <p:nvPr/>
        </p:nvCxnSpPr>
        <p:spPr>
          <a:xfrm>
            <a:off x="5550" y="2234457"/>
            <a:ext cx="913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9"/>
          <p:cNvCxnSpPr/>
          <p:nvPr/>
        </p:nvCxnSpPr>
        <p:spPr>
          <a:xfrm>
            <a:off x="81750" y="1572470"/>
            <a:ext cx="913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344" name="Google Shape;344;p29" title="Slides dump - merge to decks (10).png"/>
          <p:cNvPicPr preferRelativeResize="0"/>
          <p:nvPr/>
        </p:nvPicPr>
        <p:blipFill rotWithShape="1">
          <a:blip r:embed="rId6">
            <a:alphaModFix/>
          </a:blip>
          <a:srcRect b="42941" l="48829" r="29817" t="9860"/>
          <a:stretch/>
        </p:blipFill>
        <p:spPr>
          <a:xfrm>
            <a:off x="7269500" y="2634663"/>
            <a:ext cx="156845" cy="19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 title="Use Cases FurtherAI (6).png"/>
          <p:cNvPicPr preferRelativeResize="0"/>
          <p:nvPr/>
        </p:nvPicPr>
        <p:blipFill rotWithShape="1">
          <a:blip r:embed="rId7">
            <a:alphaModFix/>
          </a:blip>
          <a:srcRect b="0" l="0" r="0" t="44718"/>
          <a:stretch/>
        </p:blipFill>
        <p:spPr>
          <a:xfrm>
            <a:off x="-185842" y="2300125"/>
            <a:ext cx="9515678" cy="295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7562546" y="3293668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Underwriting Audit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47" name="Google Shape;347;p29"/>
          <p:cNvSpPr txBox="1"/>
          <p:nvPr/>
        </p:nvSpPr>
        <p:spPr>
          <a:xfrm>
            <a:off x="7562546" y="3574276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Transaction Audit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7581229" y="3850316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Claims Audit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49" name="Google Shape;349;p29"/>
          <p:cNvSpPr txBox="1"/>
          <p:nvPr/>
        </p:nvSpPr>
        <p:spPr>
          <a:xfrm>
            <a:off x="5803567" y="3307083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Claims Intake 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5810274" y="3580983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Segmentation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5798894" y="3843608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Claims Assignment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4066156" y="3295882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Renewal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4066156" y="3560801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Change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4066158" y="3846692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3802042" y="2874219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</a:t>
            </a:r>
            <a:endParaRPr b="1"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6" name="Google Shape;356;p29"/>
          <p:cNvSpPr txBox="1"/>
          <p:nvPr/>
        </p:nvSpPr>
        <p:spPr>
          <a:xfrm>
            <a:off x="5552350" y="2874219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Claims</a:t>
            </a:r>
            <a:endParaRPr b="1"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7353586" y="2874219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Compliance</a:t>
            </a:r>
            <a:endParaRPr b="1"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573825" y="3295144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Proposal Generation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550025" y="3565650"/>
            <a:ext cx="10671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Create Submission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561921" y="3855099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Compare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309006" y="2872667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Agency Ops</a:t>
            </a:r>
            <a:endParaRPr b="1"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561921" y="4110886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Quote Compare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4" name="Google Shape;364;p29"/>
          <p:cNvSpPr txBox="1"/>
          <p:nvPr/>
        </p:nvSpPr>
        <p:spPr>
          <a:xfrm>
            <a:off x="2316553" y="3323705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Intake &amp; Triage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2303523" y="3597865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Submission Clearance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2298070" y="3857135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SOV Processing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7" name="Google Shape;367;p29"/>
          <p:cNvSpPr txBox="1"/>
          <p:nvPr/>
        </p:nvSpPr>
        <p:spPr>
          <a:xfrm>
            <a:off x="2295770" y="4118742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Loss Run Processing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8" name="Google Shape;368;p29"/>
          <p:cNvSpPr txBox="1"/>
          <p:nvPr/>
        </p:nvSpPr>
        <p:spPr>
          <a:xfrm>
            <a:off x="2087364" y="2874219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Underwriting</a:t>
            </a:r>
            <a:endParaRPr b="1" sz="9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69" name="Google Shape;369;p29"/>
          <p:cNvSpPr txBox="1"/>
          <p:nvPr/>
        </p:nvSpPr>
        <p:spPr>
          <a:xfrm>
            <a:off x="4048496" y="3849627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Quoting &amp; Issuing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5805289" y="4126335"/>
            <a:ext cx="10413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Claims Adjudication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71" name="Google Shape;371;p29"/>
          <p:cNvSpPr txBox="1"/>
          <p:nvPr/>
        </p:nvSpPr>
        <p:spPr>
          <a:xfrm>
            <a:off x="4050535" y="4138449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Reinstatement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372" name="Google Shape;372;p29"/>
          <p:cNvSpPr txBox="1"/>
          <p:nvPr/>
        </p:nvSpPr>
        <p:spPr>
          <a:xfrm>
            <a:off x="2295170" y="4380367"/>
            <a:ext cx="10671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Portfolio Analytics/Mgmt</a:t>
            </a:r>
            <a:endParaRPr sz="65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373" name="Google Shape;373;p29" title="Use Cases FurtherAI (8).png"/>
          <p:cNvPicPr preferRelativeResize="0"/>
          <p:nvPr/>
        </p:nvPicPr>
        <p:blipFill rotWithShape="1">
          <a:blip r:embed="rId8">
            <a:alphaModFix/>
          </a:blip>
          <a:srcRect b="25009" l="11471" r="11123" t="29270"/>
          <a:stretch/>
        </p:blipFill>
        <p:spPr>
          <a:xfrm>
            <a:off x="7056207" y="1840218"/>
            <a:ext cx="586958" cy="19499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9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0" title="Slides dump - merge to decks (2).png"/>
          <p:cNvPicPr preferRelativeResize="0"/>
          <p:nvPr/>
        </p:nvPicPr>
        <p:blipFill rotWithShape="1">
          <a:blip r:embed="rId3">
            <a:alphaModFix/>
          </a:blip>
          <a:srcRect b="0" l="7020" r="0" t="7020"/>
          <a:stretch/>
        </p:blipFill>
        <p:spPr>
          <a:xfrm>
            <a:off x="0" y="-9650"/>
            <a:ext cx="9144000" cy="5143500"/>
          </a:xfrm>
          <a:prstGeom prst="rect">
            <a:avLst/>
          </a:prstGeom>
          <a:noFill/>
          <a:ln cap="flat" cmpd="sng" w="97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58509" rotWithShape="0" algn="bl" dir="5400000" dist="39006">
              <a:srgbClr val="000000">
                <a:alpha val="15000"/>
              </a:srgbClr>
            </a:outerShdw>
          </a:effectLst>
        </p:spPr>
      </p:pic>
      <p:sp>
        <p:nvSpPr>
          <p:cNvPr id="381" name="Google Shape;381;p30"/>
          <p:cNvSpPr txBox="1"/>
          <p:nvPr/>
        </p:nvSpPr>
        <p:spPr>
          <a:xfrm>
            <a:off x="1588500" y="243475"/>
            <a:ext cx="596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Agentic Workspace for Insurance</a:t>
            </a:r>
            <a:endParaRPr i="1" sz="2100">
              <a:solidFill>
                <a:schemeClr val="dk1"/>
              </a:solidFill>
            </a:endParaRPr>
          </a:p>
        </p:txBody>
      </p:sp>
      <p:grpSp>
        <p:nvGrpSpPr>
          <p:cNvPr id="382" name="Google Shape;382;p30"/>
          <p:cNvGrpSpPr/>
          <p:nvPr/>
        </p:nvGrpSpPr>
        <p:grpSpPr>
          <a:xfrm>
            <a:off x="2377663" y="3172074"/>
            <a:ext cx="2656800" cy="659390"/>
            <a:chOff x="2377663" y="3172074"/>
            <a:chExt cx="2656800" cy="659390"/>
          </a:xfrm>
        </p:grpSpPr>
        <p:sp>
          <p:nvSpPr>
            <p:cNvPr id="383" name="Google Shape;383;p30"/>
            <p:cNvSpPr/>
            <p:nvPr/>
          </p:nvSpPr>
          <p:spPr>
            <a:xfrm>
              <a:off x="2467942" y="3475665"/>
              <a:ext cx="577800" cy="355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Policy Forms</a:t>
              </a:r>
              <a:endParaRPr i="0" sz="700" u="none" cap="none" strike="noStrike">
                <a:solidFill>
                  <a:srgbClr val="000000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3732301" y="3475665"/>
              <a:ext cx="577800" cy="354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Loss Runs</a:t>
              </a:r>
              <a:endParaRPr i="0" sz="700" u="none" cap="none" strike="noStrike">
                <a:solidFill>
                  <a:srgbClr val="000000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3089047" y="3475665"/>
              <a:ext cx="577800" cy="355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SOVs</a:t>
              </a:r>
              <a:endParaRPr i="0" sz="700" u="none" cap="none" strike="noStrike">
                <a:solidFill>
                  <a:srgbClr val="000000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4360163" y="3475665"/>
              <a:ext cx="5778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0" spcFirstLastPara="1" rIns="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+10 More</a:t>
              </a:r>
              <a:endParaRPr sz="700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2377663" y="3172074"/>
              <a:ext cx="2656800" cy="241500"/>
            </a:xfrm>
            <a:prstGeom prst="roundRect">
              <a:avLst>
                <a:gd fmla="val 16667" name="adj"/>
              </a:avLst>
            </a:prstGeom>
            <a:solidFill>
              <a:srgbClr val="0B0B12"/>
            </a:solidFill>
            <a:ln cap="flat" cmpd="sng" w="9750">
              <a:solidFill>
                <a:srgbClr val="44433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b="1" lang="en-US" sz="1024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Skills</a:t>
              </a:r>
              <a:endParaRPr b="1" sz="102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</p:grpSp>
      <p:grpSp>
        <p:nvGrpSpPr>
          <p:cNvPr id="388" name="Google Shape;388;p30"/>
          <p:cNvGrpSpPr/>
          <p:nvPr/>
        </p:nvGrpSpPr>
        <p:grpSpPr>
          <a:xfrm>
            <a:off x="5223500" y="3949815"/>
            <a:ext cx="2656800" cy="804452"/>
            <a:chOff x="5223500" y="3949815"/>
            <a:chExt cx="2656800" cy="804452"/>
          </a:xfrm>
        </p:grpSpPr>
        <p:sp>
          <p:nvSpPr>
            <p:cNvPr id="389" name="Google Shape;389;p30"/>
            <p:cNvSpPr/>
            <p:nvPr/>
          </p:nvSpPr>
          <p:spPr>
            <a:xfrm>
              <a:off x="5223500" y="3949815"/>
              <a:ext cx="2656800" cy="378300"/>
            </a:xfrm>
            <a:prstGeom prst="roundRect">
              <a:avLst>
                <a:gd fmla="val 16667" name="adj"/>
              </a:avLst>
            </a:prstGeom>
            <a:solidFill>
              <a:srgbClr val="0B0B12"/>
            </a:solidFill>
            <a:ln cap="flat" cmpd="sng" w="9750">
              <a:solidFill>
                <a:srgbClr val="44433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b="1" lang="en-US" sz="1024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Insurance Systems</a:t>
              </a:r>
              <a:endParaRPr b="1" sz="102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5329040" y="4593466"/>
              <a:ext cx="4191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b="1" lang="en-US" sz="614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CRM</a:t>
              </a:r>
              <a:endParaRPr b="1" sz="614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7310768" y="4593466"/>
              <a:ext cx="4191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b="1" lang="en-US" sz="614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Misc.</a:t>
              </a:r>
              <a:endParaRPr b="1" sz="614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5836678" y="4593466"/>
              <a:ext cx="4191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b="1" lang="en-US" sz="614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AMS</a:t>
              </a:r>
              <a:endParaRPr b="1" sz="614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6342340" y="4593466"/>
              <a:ext cx="4191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b="1" lang="en-US" sz="614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PMS</a:t>
              </a:r>
              <a:endParaRPr b="1" sz="614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6848030" y="4593466"/>
              <a:ext cx="4191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b="1" lang="en-US" sz="614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MCP</a:t>
              </a:r>
              <a:endParaRPr b="1" sz="614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cxnSp>
          <p:nvCxnSpPr>
            <p:cNvPr id="395" name="Google Shape;395;p30"/>
            <p:cNvCxnSpPr>
              <a:stCxn id="389" idx="2"/>
              <a:endCxn id="390" idx="0"/>
            </p:cNvCxnSpPr>
            <p:nvPr/>
          </p:nvCxnSpPr>
          <p:spPr>
            <a:xfrm rot="5400000">
              <a:off x="5912450" y="3954165"/>
              <a:ext cx="265500" cy="1013400"/>
            </a:xfrm>
            <a:prstGeom prst="bentConnector3">
              <a:avLst>
                <a:gd fmla="val 49972" name="adj1"/>
              </a:avLst>
            </a:prstGeom>
            <a:noFill/>
            <a:ln cap="flat" cmpd="sng" w="9750">
              <a:solidFill>
                <a:srgbClr val="25654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30"/>
            <p:cNvCxnSpPr>
              <a:stCxn id="389" idx="2"/>
              <a:endCxn id="393" idx="0"/>
            </p:cNvCxnSpPr>
            <p:nvPr/>
          </p:nvCxnSpPr>
          <p:spPr>
            <a:xfrm flipH="1" rot="-5400000">
              <a:off x="6419450" y="4460565"/>
              <a:ext cx="265500" cy="600"/>
            </a:xfrm>
            <a:prstGeom prst="bentConnector3">
              <a:avLst>
                <a:gd fmla="val 49972" name="adj1"/>
              </a:avLst>
            </a:prstGeom>
            <a:noFill/>
            <a:ln cap="flat" cmpd="sng" w="9750">
              <a:solidFill>
                <a:srgbClr val="25654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30"/>
            <p:cNvCxnSpPr>
              <a:stCxn id="389" idx="2"/>
              <a:endCxn id="394" idx="0"/>
            </p:cNvCxnSpPr>
            <p:nvPr/>
          </p:nvCxnSpPr>
          <p:spPr>
            <a:xfrm flipH="1" rot="-5400000">
              <a:off x="6672050" y="4207965"/>
              <a:ext cx="265500" cy="505800"/>
            </a:xfrm>
            <a:prstGeom prst="bentConnector3">
              <a:avLst>
                <a:gd fmla="val 49972" name="adj1"/>
              </a:avLst>
            </a:prstGeom>
            <a:noFill/>
            <a:ln cap="flat" cmpd="sng" w="9750">
              <a:solidFill>
                <a:srgbClr val="25654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30"/>
            <p:cNvCxnSpPr>
              <a:stCxn id="389" idx="2"/>
              <a:endCxn id="391" idx="0"/>
            </p:cNvCxnSpPr>
            <p:nvPr/>
          </p:nvCxnSpPr>
          <p:spPr>
            <a:xfrm flipH="1" rot="-5400000">
              <a:off x="6903350" y="3976665"/>
              <a:ext cx="265500" cy="968400"/>
            </a:xfrm>
            <a:prstGeom prst="bentConnector3">
              <a:avLst>
                <a:gd fmla="val 49972" name="adj1"/>
              </a:avLst>
            </a:prstGeom>
            <a:noFill/>
            <a:ln cap="flat" cmpd="sng" w="9750">
              <a:solidFill>
                <a:srgbClr val="25654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30"/>
            <p:cNvCxnSpPr>
              <a:stCxn id="389" idx="2"/>
              <a:endCxn id="392" idx="0"/>
            </p:cNvCxnSpPr>
            <p:nvPr/>
          </p:nvCxnSpPr>
          <p:spPr>
            <a:xfrm rot="5400000">
              <a:off x="6166250" y="4207965"/>
              <a:ext cx="265500" cy="505800"/>
            </a:xfrm>
            <a:prstGeom prst="bentConnector3">
              <a:avLst>
                <a:gd fmla="val 49972" name="adj1"/>
              </a:avLst>
            </a:prstGeom>
            <a:noFill/>
            <a:ln cap="flat" cmpd="sng" w="9750">
              <a:solidFill>
                <a:srgbClr val="25654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400" name="Google Shape;400;p30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0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chemeClr val="lt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chemeClr val="lt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2343909" y="3949815"/>
            <a:ext cx="2656800" cy="804452"/>
            <a:chOff x="2343909" y="3949815"/>
            <a:chExt cx="2656800" cy="804452"/>
          </a:xfrm>
        </p:grpSpPr>
        <p:sp>
          <p:nvSpPr>
            <p:cNvPr id="403" name="Google Shape;403;p30"/>
            <p:cNvSpPr/>
            <p:nvPr/>
          </p:nvSpPr>
          <p:spPr>
            <a:xfrm>
              <a:off x="2451679" y="4593466"/>
              <a:ext cx="5778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lang="en-US" sz="614">
                  <a:solidFill>
                    <a:srgbClr val="0B0B12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ChatGPT</a:t>
              </a:r>
              <a:endParaRPr i="0" sz="614" u="none" cap="none" strike="noStrike">
                <a:solidFill>
                  <a:srgbClr val="0B0B1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3072784" y="4593466"/>
              <a:ext cx="5778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lang="en-US" sz="614">
                  <a:solidFill>
                    <a:srgbClr val="0B0B12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Claude</a:t>
              </a:r>
              <a:r>
                <a:rPr i="0" lang="en-US" sz="614" u="none" cap="none" strike="noStrike">
                  <a:solidFill>
                    <a:srgbClr val="0B0B12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 </a:t>
              </a:r>
              <a:endParaRPr i="0" sz="614" u="none" cap="none" strike="noStrike">
                <a:solidFill>
                  <a:srgbClr val="0B0B1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3693889" y="4593466"/>
              <a:ext cx="5778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i="0" lang="en-US" sz="614" u="none" cap="none" strike="noStrike">
                  <a:solidFill>
                    <a:srgbClr val="0B0B12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Gemini</a:t>
              </a:r>
              <a:endParaRPr i="0" sz="614" u="none" cap="none" strike="noStrike">
                <a:solidFill>
                  <a:srgbClr val="0B0B1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4314994" y="4593466"/>
              <a:ext cx="677700" cy="160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4"/>
                <a:buFont typeface="Arial"/>
                <a:buNone/>
              </a:pPr>
              <a:r>
                <a:rPr lang="en-US" sz="614">
                  <a:solidFill>
                    <a:srgbClr val="0B0B12"/>
                  </a:solidFill>
                  <a:latin typeface="Wix Madefor Display SemiBold"/>
                  <a:ea typeface="Wix Madefor Display SemiBold"/>
                  <a:cs typeface="Wix Madefor Display SemiBold"/>
                  <a:sym typeface="Wix Madefor Display SemiBold"/>
                </a:rPr>
                <a:t>Llama</a:t>
              </a:r>
              <a:endParaRPr i="0" sz="614" u="none" cap="none" strike="noStrike">
                <a:solidFill>
                  <a:srgbClr val="0B0B12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endParaRPr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2343909" y="3949815"/>
              <a:ext cx="2656800" cy="378300"/>
            </a:xfrm>
            <a:prstGeom prst="roundRect">
              <a:avLst>
                <a:gd fmla="val 16667" name="adj"/>
              </a:avLst>
            </a:prstGeom>
            <a:solidFill>
              <a:srgbClr val="0B0B12"/>
            </a:solidFill>
            <a:ln cap="flat" cmpd="sng" w="9750">
              <a:solidFill>
                <a:srgbClr val="44433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b="1" i="0" lang="en-US" sz="1024" u="none" cap="none" strike="noStrike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Model Router</a:t>
              </a:r>
              <a:endParaRPr b="1" i="0" sz="1024" u="none" cap="none" strike="noStrike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cxnSp>
          <p:nvCxnSpPr>
            <p:cNvPr id="408" name="Google Shape;408;p30"/>
            <p:cNvCxnSpPr>
              <a:stCxn id="407" idx="2"/>
              <a:endCxn id="403" idx="0"/>
            </p:cNvCxnSpPr>
            <p:nvPr/>
          </p:nvCxnSpPr>
          <p:spPr>
            <a:xfrm rot="5400000">
              <a:off x="3073659" y="3994965"/>
              <a:ext cx="265500" cy="931800"/>
            </a:xfrm>
            <a:prstGeom prst="bentConnector3">
              <a:avLst>
                <a:gd fmla="val 49972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30"/>
            <p:cNvCxnSpPr>
              <a:stCxn id="405" idx="0"/>
              <a:endCxn id="404" idx="0"/>
            </p:cNvCxnSpPr>
            <p:nvPr/>
          </p:nvCxnSpPr>
          <p:spPr>
            <a:xfrm rot="5400000">
              <a:off x="3671989" y="4283266"/>
              <a:ext cx="600" cy="621000"/>
            </a:xfrm>
            <a:prstGeom prst="bentConnector3">
              <a:avLst>
                <a:gd fmla="val -2226441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30"/>
            <p:cNvCxnSpPr>
              <a:stCxn id="407" idx="2"/>
              <a:endCxn id="406" idx="0"/>
            </p:cNvCxnSpPr>
            <p:nvPr/>
          </p:nvCxnSpPr>
          <p:spPr>
            <a:xfrm flipH="1" rot="-5400000">
              <a:off x="4030359" y="3970065"/>
              <a:ext cx="265500" cy="981600"/>
            </a:xfrm>
            <a:prstGeom prst="bentConnector3">
              <a:avLst>
                <a:gd fmla="val 49972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1" name="Google Shape;411;p30"/>
          <p:cNvGrpSpPr/>
          <p:nvPr/>
        </p:nvGrpSpPr>
        <p:grpSpPr>
          <a:xfrm>
            <a:off x="643425" y="3120596"/>
            <a:ext cx="7236875" cy="710868"/>
            <a:chOff x="643425" y="3120596"/>
            <a:chExt cx="7236875" cy="710868"/>
          </a:xfrm>
        </p:grpSpPr>
        <p:sp>
          <p:nvSpPr>
            <p:cNvPr id="412" name="Google Shape;412;p30"/>
            <p:cNvSpPr txBox="1"/>
            <p:nvPr/>
          </p:nvSpPr>
          <p:spPr>
            <a:xfrm>
              <a:off x="643425" y="3120596"/>
              <a:ext cx="1266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00" lIns="93600" spcFirstLastPara="1" rIns="93600" wrap="square" tIns="936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Intelligence + Contextual Data</a:t>
              </a:r>
              <a:endParaRPr sz="819">
                <a:solidFill>
                  <a:schemeClr val="lt1"/>
                </a:solidFill>
              </a:endParaRPr>
            </a:p>
          </p:txBody>
        </p:sp>
        <p:grpSp>
          <p:nvGrpSpPr>
            <p:cNvPr id="413" name="Google Shape;413;p30"/>
            <p:cNvGrpSpPr/>
            <p:nvPr/>
          </p:nvGrpSpPr>
          <p:grpSpPr>
            <a:xfrm>
              <a:off x="5223500" y="3172074"/>
              <a:ext cx="2656800" cy="659390"/>
              <a:chOff x="5223500" y="3172074"/>
              <a:chExt cx="2656800" cy="659390"/>
            </a:xfrm>
          </p:grpSpPr>
          <p:sp>
            <p:nvSpPr>
              <p:cNvPr id="414" name="Google Shape;414;p30"/>
              <p:cNvSpPr/>
              <p:nvPr/>
            </p:nvSpPr>
            <p:spPr>
              <a:xfrm>
                <a:off x="5223500" y="3172074"/>
                <a:ext cx="2656800" cy="241500"/>
              </a:xfrm>
              <a:prstGeom prst="roundRect">
                <a:avLst>
                  <a:gd fmla="val 16667" name="adj"/>
                </a:avLst>
              </a:prstGeom>
              <a:solidFill>
                <a:srgbClr val="0B0B12"/>
              </a:solidFill>
              <a:ln cap="flat" cmpd="sng" w="9750">
                <a:solidFill>
                  <a:srgbClr val="444339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8509" rotWithShape="0" algn="bl" dir="5400000" dist="39006">
                  <a:srgbClr val="000000">
                    <a:alpha val="15000"/>
                  </a:srgbClr>
                </a:outerShdw>
              </a:effectLst>
            </p:spPr>
            <p:txBody>
              <a:bodyPr anchorCtr="0" anchor="ctr" bIns="93600" lIns="93600" spcFirstLastPara="1" rIns="93600" wrap="square" tIns="936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26"/>
                  <a:buFont typeface="Arial"/>
                  <a:buNone/>
                </a:pPr>
                <a:r>
                  <a:rPr b="1" lang="en-US" sz="1024">
                    <a:solidFill>
                      <a:schemeClr val="lt1"/>
                    </a:solidFill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  <a:t>Web &amp; 3rd Party Data</a:t>
                </a:r>
                <a:endParaRPr b="1" sz="1024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5247842" y="3475665"/>
                <a:ext cx="577800" cy="3558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7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8509" rotWithShape="0" algn="bl" dir="5400000" dist="39006">
                  <a:srgbClr val="000000">
                    <a:alpha val="15000"/>
                  </a:srgbClr>
                </a:outerShdw>
              </a:effectLst>
            </p:spPr>
            <p:txBody>
              <a:bodyPr anchorCtr="0" anchor="ctr" bIns="93600" lIns="93600" spcFirstLastPara="1" rIns="93600" wrap="square" tIns="936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26"/>
                  <a:buFont typeface="Arial"/>
                  <a:buNone/>
                </a:pPr>
                <a:r>
                  <a:rPr lang="en-US" sz="700"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  <a:t>Identity Data</a:t>
                </a:r>
                <a:endParaRPr i="0" sz="700" u="none" cap="none" strike="noStrike">
                  <a:solidFill>
                    <a:srgbClr val="000000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6512200" y="3475665"/>
                <a:ext cx="621000" cy="348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7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8509" rotWithShape="0" algn="bl" dir="5400000" dist="39006">
                  <a:srgbClr val="000000">
                    <a:alpha val="15000"/>
                  </a:srgbClr>
                </a:outerShdw>
              </a:effectLst>
            </p:spPr>
            <p:txBody>
              <a:bodyPr anchorCtr="0" anchor="ctr" bIns="93600" lIns="93600" spcFirstLastPara="1" rIns="93600" wrap="square" tIns="936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26"/>
                  <a:buFont typeface="Arial"/>
                  <a:buNone/>
                </a:pPr>
                <a:r>
                  <a:rPr lang="en-US" sz="700"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  <a:t>Financial Data</a:t>
                </a:r>
                <a:endParaRPr i="0" sz="700" u="none" cap="none" strike="noStrike">
                  <a:solidFill>
                    <a:srgbClr val="000000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5868947" y="3475665"/>
                <a:ext cx="577800" cy="3558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7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8509" rotWithShape="0" algn="bl" dir="5400000" dist="39006">
                  <a:srgbClr val="000000">
                    <a:alpha val="15000"/>
                  </a:srgbClr>
                </a:outerShdw>
              </a:effectLst>
            </p:spPr>
            <p:txBody>
              <a:bodyPr anchorCtr="0" anchor="ctr" bIns="93600" lIns="93600" spcFirstLastPara="1" rIns="93600" wrap="square" tIns="936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26"/>
                  <a:buFont typeface="Arial"/>
                  <a:buNone/>
                </a:pPr>
                <a:r>
                  <a:rPr lang="en-US" sz="700"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  <a:t>Asset Data</a:t>
                </a:r>
                <a:endParaRPr i="0" sz="700" u="none" cap="none" strike="noStrike">
                  <a:solidFill>
                    <a:srgbClr val="000000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endParaRPr>
              </a:p>
            </p:txBody>
          </p:sp>
          <p:sp>
            <p:nvSpPr>
              <p:cNvPr id="418" name="Google Shape;418;p30"/>
              <p:cNvSpPr/>
              <p:nvPr/>
            </p:nvSpPr>
            <p:spPr>
              <a:xfrm>
                <a:off x="7198650" y="3475665"/>
                <a:ext cx="621000" cy="34800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97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8509" rotWithShape="0" algn="bl" dir="5400000" dist="39006">
                  <a:srgbClr val="000000">
                    <a:alpha val="15000"/>
                  </a:srgbClr>
                </a:outerShdw>
              </a:effectLst>
            </p:spPr>
            <p:txBody>
              <a:bodyPr anchorCtr="0" anchor="ctr" bIns="93600" lIns="93600" spcFirstLastPara="1" rIns="93600" wrap="square" tIns="936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26"/>
                  <a:buFont typeface="Arial"/>
                  <a:buNone/>
                </a:pPr>
                <a:r>
                  <a:rPr lang="en-US" sz="700">
                    <a:latin typeface="Wix Madefor Display"/>
                    <a:ea typeface="Wix Madefor Display"/>
                    <a:cs typeface="Wix Madefor Display"/>
                    <a:sym typeface="Wix Madefor Display"/>
                  </a:rPr>
                  <a:t>Hazard Data</a:t>
                </a:r>
                <a:endParaRPr i="0" sz="700" u="none" cap="none" strike="noStrike">
                  <a:solidFill>
                    <a:srgbClr val="000000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endParaRPr>
              </a:p>
            </p:txBody>
          </p:sp>
        </p:grpSp>
      </p:grpSp>
      <p:grpSp>
        <p:nvGrpSpPr>
          <p:cNvPr id="419" name="Google Shape;419;p30"/>
          <p:cNvGrpSpPr/>
          <p:nvPr/>
        </p:nvGrpSpPr>
        <p:grpSpPr>
          <a:xfrm>
            <a:off x="643425" y="2100663"/>
            <a:ext cx="7283865" cy="1071365"/>
            <a:chOff x="643425" y="2100663"/>
            <a:chExt cx="7283865" cy="1071365"/>
          </a:xfrm>
        </p:grpSpPr>
        <p:sp>
          <p:nvSpPr>
            <p:cNvPr id="420" name="Google Shape;420;p30"/>
            <p:cNvSpPr txBox="1"/>
            <p:nvPr/>
          </p:nvSpPr>
          <p:spPr>
            <a:xfrm>
              <a:off x="643425" y="2148454"/>
              <a:ext cx="1266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00" lIns="93600" spcFirstLastPara="1" rIns="93600" wrap="square" tIns="936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Agents and guardrails</a:t>
              </a:r>
              <a:endParaRPr sz="819">
                <a:solidFill>
                  <a:schemeClr val="lt1"/>
                </a:solidFill>
              </a:endParaRPr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2326449" y="2538729"/>
              <a:ext cx="5571300" cy="195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b="1" lang="en-US" sz="1024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Agentic Workflows</a:t>
              </a:r>
              <a:endParaRPr b="1" i="0" sz="1024" u="none" cap="none" strike="noStrike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2325516" y="2100663"/>
              <a:ext cx="27555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b="1" i="1" lang="en-US" sz="819">
                  <a:latin typeface="Poppins"/>
                  <a:ea typeface="Poppins"/>
                  <a:cs typeface="Poppins"/>
                  <a:sym typeface="Poppins"/>
                </a:rPr>
                <a:t> Agent </a:t>
              </a:r>
              <a:r>
                <a:rPr b="1" i="1" lang="en-US" sz="819">
                  <a:latin typeface="Poppins"/>
                  <a:ea typeface="Poppins"/>
                  <a:cs typeface="Poppins"/>
                  <a:sym typeface="Poppins"/>
                </a:rPr>
                <a:t>Orchestrator</a:t>
              </a:r>
              <a:endParaRPr b="1" i="1" sz="81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5171790" y="2100663"/>
              <a:ext cx="27555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D0CEC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b="1" i="1" lang="en-US" sz="819">
                  <a:latin typeface="Poppins"/>
                  <a:ea typeface="Poppins"/>
                  <a:cs typeface="Poppins"/>
                  <a:sym typeface="Poppins"/>
                </a:rPr>
                <a:t>Agent Evaluations</a:t>
              </a:r>
              <a:endParaRPr b="1" i="1" sz="81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424" name="Google Shape;424;p30"/>
            <p:cNvCxnSpPr>
              <a:stCxn id="421" idx="2"/>
              <a:endCxn id="387" idx="0"/>
            </p:cNvCxnSpPr>
            <p:nvPr/>
          </p:nvCxnSpPr>
          <p:spPr>
            <a:xfrm rot="5400000">
              <a:off x="4190049" y="2249979"/>
              <a:ext cx="438000" cy="1406100"/>
            </a:xfrm>
            <a:prstGeom prst="bentConnector3">
              <a:avLst>
                <a:gd fmla="val 5000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30"/>
            <p:cNvCxnSpPr>
              <a:stCxn id="421" idx="2"/>
              <a:endCxn id="414" idx="0"/>
            </p:cNvCxnSpPr>
            <p:nvPr/>
          </p:nvCxnSpPr>
          <p:spPr>
            <a:xfrm flipH="1" rot="-5400000">
              <a:off x="5612949" y="2233179"/>
              <a:ext cx="438000" cy="1439700"/>
            </a:xfrm>
            <a:prstGeom prst="bentConnector3">
              <a:avLst>
                <a:gd fmla="val 5000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6" name="Google Shape;426;p30"/>
          <p:cNvGrpSpPr/>
          <p:nvPr/>
        </p:nvGrpSpPr>
        <p:grpSpPr>
          <a:xfrm>
            <a:off x="643425" y="1050300"/>
            <a:ext cx="7254325" cy="1050374"/>
            <a:chOff x="643425" y="1050300"/>
            <a:chExt cx="7254325" cy="1050374"/>
          </a:xfrm>
        </p:grpSpPr>
        <p:sp>
          <p:nvSpPr>
            <p:cNvPr id="427" name="Google Shape;427;p30"/>
            <p:cNvSpPr txBox="1"/>
            <p:nvPr/>
          </p:nvSpPr>
          <p:spPr>
            <a:xfrm>
              <a:off x="643425" y="1050300"/>
              <a:ext cx="1266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3600" lIns="93600" spcFirstLastPara="1" rIns="93600" wrap="square" tIns="936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Out of box </a:t>
              </a:r>
              <a:endParaRPr b="1" sz="819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19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usecases</a:t>
              </a:r>
              <a:r>
                <a:rPr b="1" lang="en-US" sz="819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 </a:t>
              </a:r>
              <a:endParaRPr sz="819">
                <a:solidFill>
                  <a:schemeClr val="lt1"/>
                </a:solidFill>
              </a:endParaRPr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3450350" y="1147215"/>
              <a:ext cx="10758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UW</a:t>
              </a:r>
              <a:endParaRPr sz="700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4574207" y="1147215"/>
              <a:ext cx="10758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Claims</a:t>
              </a:r>
              <a:endParaRPr sz="700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5698064" y="1147215"/>
              <a:ext cx="10758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Policy Servicing</a:t>
              </a:r>
              <a:endParaRPr sz="700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6821921" y="1147215"/>
              <a:ext cx="10758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Compliance</a:t>
              </a:r>
              <a:endParaRPr sz="700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2326492" y="1147215"/>
              <a:ext cx="1075800" cy="348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7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lang="en-US" sz="700"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Distribution</a:t>
              </a:r>
              <a:endParaRPr sz="700"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2326450" y="1535474"/>
              <a:ext cx="5571300" cy="1953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  <a:effectLst>
              <a:outerShdw blurRad="58509" rotWithShape="0" algn="bl" dir="5400000" dist="39006">
                <a:srgbClr val="000000">
                  <a:alpha val="15000"/>
                </a:srgbClr>
              </a:outerShdw>
            </a:effectLst>
          </p:spPr>
          <p:txBody>
            <a:bodyPr anchorCtr="0" anchor="ctr" bIns="93600" lIns="93600" spcFirstLastPara="1" rIns="93600" wrap="square" tIns="93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6"/>
                <a:buFont typeface="Arial"/>
                <a:buNone/>
              </a:pPr>
              <a:r>
                <a:rPr b="1" lang="en-US" sz="1024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Agentic Workflow</a:t>
              </a:r>
              <a:r>
                <a:rPr b="1" lang="en-US" sz="1024">
                  <a:solidFill>
                    <a:schemeClr val="lt1"/>
                  </a:solidFill>
                  <a:latin typeface="Wix Madefor Display"/>
                  <a:ea typeface="Wix Madefor Display"/>
                  <a:cs typeface="Wix Madefor Display"/>
                  <a:sym typeface="Wix Madefor Display"/>
                </a:rPr>
                <a:t> Library</a:t>
              </a:r>
              <a:endParaRPr b="1" sz="102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cxnSp>
          <p:nvCxnSpPr>
            <p:cNvPr id="434" name="Google Shape;434;p30"/>
            <p:cNvCxnSpPr>
              <a:stCxn id="433" idx="2"/>
              <a:endCxn id="422" idx="0"/>
            </p:cNvCxnSpPr>
            <p:nvPr/>
          </p:nvCxnSpPr>
          <p:spPr>
            <a:xfrm rot="5400000">
              <a:off x="4222750" y="1211324"/>
              <a:ext cx="369900" cy="1408800"/>
            </a:xfrm>
            <a:prstGeom prst="bentConnector3">
              <a:avLst>
                <a:gd fmla="val 49998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" name="Google Shape;435;p30"/>
            <p:cNvCxnSpPr>
              <a:stCxn id="433" idx="2"/>
              <a:endCxn id="423" idx="0"/>
            </p:cNvCxnSpPr>
            <p:nvPr/>
          </p:nvCxnSpPr>
          <p:spPr>
            <a:xfrm flipH="1" rot="-5400000">
              <a:off x="5645800" y="1197074"/>
              <a:ext cx="369900" cy="1437300"/>
            </a:xfrm>
            <a:prstGeom prst="bentConnector3">
              <a:avLst>
                <a:gd fmla="val 49998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6" name="Google Shape;436;p30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EEEEEE"/>
                </a:solidFill>
              </a:rPr>
              <a:t>‹#›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74B40"/>
            </a:gs>
            <a:gs pos="47000">
              <a:srgbClr val="1A421F"/>
            </a:gs>
            <a:gs pos="50000">
              <a:srgbClr val="14452A"/>
            </a:gs>
            <a:gs pos="100000">
              <a:srgbClr val="203E13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1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443825" y="1712061"/>
            <a:ext cx="2509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Demo</a:t>
            </a:r>
            <a:endParaRPr sz="21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444" name="Google Shape;444;p31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443813" y="427775"/>
            <a:ext cx="1330227" cy="37908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1"/>
          <p:cNvSpPr txBox="1"/>
          <p:nvPr/>
        </p:nvSpPr>
        <p:spPr>
          <a:xfrm>
            <a:off x="8091213" y="4790450"/>
            <a:ext cx="844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0CEC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6</a:t>
            </a:r>
            <a:endParaRPr sz="85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46" name="Google Shape;446;p31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47" name="Google Shape;447;p31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443813" y="427775"/>
            <a:ext cx="1330227" cy="37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2784" y="1518800"/>
            <a:ext cx="5013300" cy="3706500"/>
          </a:xfrm>
          <a:prstGeom prst="roundRect">
            <a:avLst>
              <a:gd fmla="val 2105" name="adj"/>
            </a:avLst>
          </a:prstGeom>
          <a:noFill/>
          <a:ln>
            <a:noFill/>
          </a:ln>
          <a:effectLst>
            <a:outerShdw blurRad="496764" rotWithShape="0" algn="bl" dir="13200000" dist="311695">
              <a:srgbClr val="000000">
                <a:alpha val="27000"/>
              </a:srgbClr>
            </a:outerShdw>
          </a:effectLst>
        </p:spPr>
      </p:pic>
      <p:sp>
        <p:nvSpPr>
          <p:cNvPr id="449" name="Google Shape;449;p31"/>
          <p:cNvSpPr/>
          <p:nvPr/>
        </p:nvSpPr>
        <p:spPr>
          <a:xfrm rot="204">
            <a:off x="4218325" y="4060948"/>
            <a:ext cx="5062200" cy="1082400"/>
          </a:xfrm>
          <a:prstGeom prst="roundRect">
            <a:avLst>
              <a:gd fmla="val 2566" name="adj"/>
            </a:avLst>
          </a:prstGeom>
          <a:gradFill>
            <a:gsLst>
              <a:gs pos="0">
                <a:srgbClr val="0A271F"/>
              </a:gs>
              <a:gs pos="100000">
                <a:srgbClr val="14161C">
                  <a:alpha val="0"/>
                </a:srgbClr>
              </a:gs>
            </a:gsLst>
            <a:lin ang="16200038" scaled="0"/>
          </a:gradFill>
          <a:ln>
            <a:noFill/>
          </a:ln>
        </p:spPr>
        <p:txBody>
          <a:bodyPr anchorCtr="0" anchor="ctr" bIns="186975" lIns="186975" spcFirstLastPara="1" rIns="186975" wrap="square" tIns="186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63"/>
          </a:p>
        </p:txBody>
      </p:sp>
      <p:pic>
        <p:nvPicPr>
          <p:cNvPr id="450" name="Google Shape;450;p31" title="Subtract.png"/>
          <p:cNvPicPr preferRelativeResize="0"/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293112" y="139793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1" title="Subtract.png"/>
          <p:cNvPicPr preferRelativeResize="0"/>
          <p:nvPr/>
        </p:nvPicPr>
        <p:blipFill>
          <a:blip r:embed="rId7">
            <a:alphaModFix amt="48000"/>
          </a:blip>
          <a:stretch>
            <a:fillRect/>
          </a:stretch>
        </p:blipFill>
        <p:spPr>
          <a:xfrm>
            <a:off x="519475" y="2477712"/>
            <a:ext cx="135275" cy="134492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1"/>
          <p:cNvSpPr txBox="1"/>
          <p:nvPr/>
        </p:nvSpPr>
        <p:spPr>
          <a:xfrm>
            <a:off x="738225" y="2350050"/>
            <a:ext cx="1286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</a:t>
            </a:r>
            <a:r>
              <a:rPr lang="en-US" sz="19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ssistant</a:t>
            </a:r>
            <a:endParaRPr sz="1200"/>
          </a:p>
        </p:txBody>
      </p:sp>
      <p:pic>
        <p:nvPicPr>
          <p:cNvPr id="453" name="Google Shape;453;p31" title="Subtract.png"/>
          <p:cNvPicPr preferRelativeResize="0"/>
          <p:nvPr/>
        </p:nvPicPr>
        <p:blipFill>
          <a:blip r:embed="rId7">
            <a:alphaModFix amt="48000"/>
          </a:blip>
          <a:stretch>
            <a:fillRect/>
          </a:stretch>
        </p:blipFill>
        <p:spPr>
          <a:xfrm>
            <a:off x="501143" y="2791858"/>
            <a:ext cx="135275" cy="134492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1"/>
          <p:cNvSpPr txBox="1"/>
          <p:nvPr/>
        </p:nvSpPr>
        <p:spPr>
          <a:xfrm>
            <a:off x="719905" y="2682172"/>
            <a:ext cx="2232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Workflows</a:t>
            </a:r>
            <a:endParaRPr sz="1200"/>
          </a:p>
        </p:txBody>
      </p:sp>
      <p:pic>
        <p:nvPicPr>
          <p:cNvPr id="455" name="Google Shape;455;p31" title="Subtract.png"/>
          <p:cNvPicPr preferRelativeResize="0"/>
          <p:nvPr/>
        </p:nvPicPr>
        <p:blipFill>
          <a:blip r:embed="rId7">
            <a:alphaModFix amt="48000"/>
          </a:blip>
          <a:stretch>
            <a:fillRect/>
          </a:stretch>
        </p:blipFill>
        <p:spPr>
          <a:xfrm>
            <a:off x="491798" y="3097017"/>
            <a:ext cx="135275" cy="134492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1"/>
          <p:cNvSpPr txBox="1"/>
          <p:nvPr/>
        </p:nvSpPr>
        <p:spPr>
          <a:xfrm>
            <a:off x="710559" y="2996317"/>
            <a:ext cx="2232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Orchestrator</a:t>
            </a:r>
            <a:endParaRPr sz="1200"/>
          </a:p>
        </p:txBody>
      </p:sp>
      <p:pic>
        <p:nvPicPr>
          <p:cNvPr id="457" name="Google Shape;457;p31" title="Subtract.png"/>
          <p:cNvPicPr preferRelativeResize="0"/>
          <p:nvPr/>
        </p:nvPicPr>
        <p:blipFill>
          <a:blip r:embed="rId7">
            <a:alphaModFix amt="48000"/>
          </a:blip>
          <a:stretch>
            <a:fillRect/>
          </a:stretch>
        </p:blipFill>
        <p:spPr>
          <a:xfrm>
            <a:off x="491798" y="3415116"/>
            <a:ext cx="135275" cy="134492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1"/>
          <p:cNvSpPr txBox="1"/>
          <p:nvPr/>
        </p:nvSpPr>
        <p:spPr>
          <a:xfrm>
            <a:off x="710559" y="3305430"/>
            <a:ext cx="2232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Eval Studio</a:t>
            </a:r>
            <a:endParaRPr sz="1200"/>
          </a:p>
        </p:txBody>
      </p:sp>
      <p:pic>
        <p:nvPicPr>
          <p:cNvPr id="459" name="Google Shape;459;p31" title="Subtract.png"/>
          <p:cNvPicPr preferRelativeResize="0"/>
          <p:nvPr/>
        </p:nvPicPr>
        <p:blipFill>
          <a:blip r:embed="rId7">
            <a:alphaModFix amt="48000"/>
          </a:blip>
          <a:stretch>
            <a:fillRect/>
          </a:stretch>
        </p:blipFill>
        <p:spPr>
          <a:xfrm>
            <a:off x="472598" y="3766554"/>
            <a:ext cx="135275" cy="134492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1"/>
          <p:cNvSpPr txBox="1"/>
          <p:nvPr/>
        </p:nvSpPr>
        <p:spPr>
          <a:xfrm>
            <a:off x="691359" y="3656868"/>
            <a:ext cx="2232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Portfolio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2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2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2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228225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469" name="Google Shape;469;p32"/>
          <p:cNvSpPr txBox="1"/>
          <p:nvPr/>
        </p:nvSpPr>
        <p:spPr>
          <a:xfrm>
            <a:off x="376450" y="436850"/>
            <a:ext cx="414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Demo Workflow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470" name="Google Shape;470;p32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2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72" name="Google Shape;472;p32"/>
          <p:cNvSpPr/>
          <p:nvPr/>
        </p:nvSpPr>
        <p:spPr>
          <a:xfrm>
            <a:off x="1004625" y="3304162"/>
            <a:ext cx="898200" cy="898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074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Received Submission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(Email)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319449" y="1603483"/>
            <a:ext cx="6777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0725" lIns="70725" spcFirstLastPara="1" rIns="70725" wrap="square" tIns="70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Broker</a:t>
            </a:r>
            <a:endParaRPr b="1" sz="11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74" name="Google Shape;474;p32"/>
          <p:cNvSpPr txBox="1"/>
          <p:nvPr/>
        </p:nvSpPr>
        <p:spPr>
          <a:xfrm>
            <a:off x="286824" y="3507217"/>
            <a:ext cx="6777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0725" lIns="70725" spcFirstLastPara="1" rIns="70725" wrap="square" tIns="70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</a:t>
            </a:r>
            <a:endParaRPr b="1" sz="11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475" name="Google Shape;47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359" y="1856448"/>
            <a:ext cx="313935" cy="322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734" y="3750230"/>
            <a:ext cx="313935" cy="27905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2"/>
          <p:cNvSpPr/>
          <p:nvPr/>
        </p:nvSpPr>
        <p:spPr>
          <a:xfrm>
            <a:off x="906086" y="1734366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Email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478" name="Google Shape;478;p32"/>
          <p:cNvCxnSpPr>
            <a:stCxn id="477" idx="2"/>
            <a:endCxn id="472" idx="0"/>
          </p:cNvCxnSpPr>
          <p:nvPr/>
        </p:nvCxnSpPr>
        <p:spPr>
          <a:xfrm>
            <a:off x="1453736" y="2038566"/>
            <a:ext cx="0" cy="126570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32"/>
          <p:cNvCxnSpPr/>
          <p:nvPr/>
        </p:nvCxnSpPr>
        <p:spPr>
          <a:xfrm>
            <a:off x="1902955" y="3753250"/>
            <a:ext cx="3078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32"/>
          <p:cNvSpPr/>
          <p:nvPr/>
        </p:nvSpPr>
        <p:spPr>
          <a:xfrm>
            <a:off x="2304825" y="2469450"/>
            <a:ext cx="1411200" cy="1846200"/>
          </a:xfrm>
          <a:prstGeom prst="roundRect">
            <a:avLst>
              <a:gd fmla="val 9999" name="adj"/>
            </a:avLst>
          </a:prstGeom>
          <a:solidFill>
            <a:schemeClr val="lt2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81" name="Google Shape;481;p32"/>
          <p:cNvSpPr/>
          <p:nvPr/>
        </p:nvSpPr>
        <p:spPr>
          <a:xfrm>
            <a:off x="2363125" y="3149775"/>
            <a:ext cx="1293900" cy="1052400"/>
          </a:xfrm>
          <a:prstGeom prst="roundRect">
            <a:avLst>
              <a:gd fmla="val 9999" name="adj"/>
            </a:avLst>
          </a:prstGeom>
          <a:solidFill>
            <a:schemeClr val="lt1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2"/>
          <p:cNvSpPr txBox="1"/>
          <p:nvPr/>
        </p:nvSpPr>
        <p:spPr>
          <a:xfrm>
            <a:off x="2333575" y="2545650"/>
            <a:ext cx="13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Document Classification &amp; Data</a:t>
            </a:r>
            <a:b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Extraction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83" name="Google Shape;483;p32"/>
          <p:cNvSpPr txBox="1"/>
          <p:nvPr/>
        </p:nvSpPr>
        <p:spPr>
          <a:xfrm>
            <a:off x="2333925" y="3225975"/>
            <a:ext cx="135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Completed Document Classification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84" name="Google Shape;484;p32"/>
          <p:cNvSpPr txBox="1"/>
          <p:nvPr/>
        </p:nvSpPr>
        <p:spPr>
          <a:xfrm>
            <a:off x="2333925" y="3660900"/>
            <a:ext cx="135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Extracted Submission Information from ACORDs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3962500" y="2178875"/>
            <a:ext cx="1411200" cy="2571900"/>
          </a:xfrm>
          <a:prstGeom prst="roundRect">
            <a:avLst>
              <a:gd fmla="val 9999" name="adj"/>
            </a:avLst>
          </a:prstGeom>
          <a:solidFill>
            <a:srgbClr val="FCE5CD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86" name="Google Shape;486;p32"/>
          <p:cNvSpPr txBox="1"/>
          <p:nvPr/>
        </p:nvSpPr>
        <p:spPr>
          <a:xfrm>
            <a:off x="3991600" y="2264781"/>
            <a:ext cx="13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Exposure &amp; Loss Run Processing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4021150" y="2726475"/>
            <a:ext cx="1293900" cy="1930200"/>
          </a:xfrm>
          <a:prstGeom prst="roundRect">
            <a:avLst>
              <a:gd fmla="val 9999" name="adj"/>
            </a:avLst>
          </a:prstGeom>
          <a:solidFill>
            <a:schemeClr val="lt1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2"/>
          <p:cNvSpPr txBox="1"/>
          <p:nvPr/>
        </p:nvSpPr>
        <p:spPr>
          <a:xfrm>
            <a:off x="4075900" y="2764950"/>
            <a:ext cx="11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Extracted Loss Run information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89" name="Google Shape;489;p32"/>
          <p:cNvSpPr txBox="1"/>
          <p:nvPr/>
        </p:nvSpPr>
        <p:spPr>
          <a:xfrm>
            <a:off x="4075900" y="3145950"/>
            <a:ext cx="118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Verified Claims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90" name="Google Shape;490;p32"/>
          <p:cNvSpPr txBox="1"/>
          <p:nvPr/>
        </p:nvSpPr>
        <p:spPr>
          <a:xfrm>
            <a:off x="3999700" y="3450750"/>
            <a:ext cx="12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Completed Aggregate Loss Runs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91" name="Google Shape;491;p32"/>
          <p:cNvSpPr txBox="1"/>
          <p:nvPr/>
        </p:nvSpPr>
        <p:spPr>
          <a:xfrm>
            <a:off x="3983050" y="3873225"/>
            <a:ext cx="129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Processed SOV Files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92" name="Google Shape;492;p32"/>
          <p:cNvSpPr txBox="1"/>
          <p:nvPr/>
        </p:nvSpPr>
        <p:spPr>
          <a:xfrm>
            <a:off x="3999700" y="4212750"/>
            <a:ext cx="129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Extracted Occupancy Classification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493" name="Google Shape;493;p32"/>
          <p:cNvCxnSpPr/>
          <p:nvPr/>
        </p:nvCxnSpPr>
        <p:spPr>
          <a:xfrm>
            <a:off x="3657030" y="3675975"/>
            <a:ext cx="3078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32"/>
          <p:cNvSpPr/>
          <p:nvPr/>
        </p:nvSpPr>
        <p:spPr>
          <a:xfrm>
            <a:off x="5620175" y="2178875"/>
            <a:ext cx="1411200" cy="1594500"/>
          </a:xfrm>
          <a:prstGeom prst="roundRect">
            <a:avLst>
              <a:gd fmla="val 9999" name="adj"/>
            </a:avLst>
          </a:prstGeom>
          <a:solidFill>
            <a:srgbClr val="F9CB9C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95" name="Google Shape;495;p32"/>
          <p:cNvSpPr txBox="1"/>
          <p:nvPr/>
        </p:nvSpPr>
        <p:spPr>
          <a:xfrm>
            <a:off x="5649275" y="2188575"/>
            <a:ext cx="13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Clearance Checks</a:t>
            </a:r>
            <a:b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(OFAC, Legal, Insurity)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96" name="Google Shape;496;p32"/>
          <p:cNvSpPr/>
          <p:nvPr/>
        </p:nvSpPr>
        <p:spPr>
          <a:xfrm>
            <a:off x="5678825" y="2726475"/>
            <a:ext cx="1293900" cy="912900"/>
          </a:xfrm>
          <a:prstGeom prst="roundRect">
            <a:avLst>
              <a:gd fmla="val 9999" name="adj"/>
            </a:avLst>
          </a:prstGeom>
          <a:solidFill>
            <a:schemeClr val="lt1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2"/>
          <p:cNvSpPr txBox="1"/>
          <p:nvPr/>
        </p:nvSpPr>
        <p:spPr>
          <a:xfrm>
            <a:off x="5733575" y="2764950"/>
            <a:ext cx="11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Checked OFAC Sanctions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98" name="Google Shape;498;p32"/>
          <p:cNvSpPr txBox="1"/>
          <p:nvPr/>
        </p:nvSpPr>
        <p:spPr>
          <a:xfrm>
            <a:off x="5733575" y="3145950"/>
            <a:ext cx="118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Checked Legal Case History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499" name="Google Shape;499;p32"/>
          <p:cNvSpPr/>
          <p:nvPr/>
        </p:nvSpPr>
        <p:spPr>
          <a:xfrm>
            <a:off x="5591075" y="3866075"/>
            <a:ext cx="1411200" cy="471300"/>
          </a:xfrm>
          <a:prstGeom prst="roundRect">
            <a:avLst>
              <a:gd fmla="val 9999" name="adj"/>
            </a:avLst>
          </a:prstGeom>
          <a:solidFill>
            <a:schemeClr val="lt1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00" name="Google Shape;500;p32"/>
          <p:cNvSpPr txBox="1"/>
          <p:nvPr/>
        </p:nvSpPr>
        <p:spPr>
          <a:xfrm>
            <a:off x="5543975" y="3875775"/>
            <a:ext cx="14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Check for Clearance</a:t>
            </a:r>
            <a:endParaRPr b="1" sz="9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(Internal System)</a:t>
            </a:r>
            <a:endParaRPr b="1" sz="9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01" name="Google Shape;501;p32"/>
          <p:cNvCxnSpPr/>
          <p:nvPr/>
        </p:nvCxnSpPr>
        <p:spPr>
          <a:xfrm>
            <a:off x="5343043" y="3145950"/>
            <a:ext cx="3078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32"/>
          <p:cNvCxnSpPr/>
          <p:nvPr/>
        </p:nvCxnSpPr>
        <p:spPr>
          <a:xfrm flipH="1">
            <a:off x="6348525" y="3678625"/>
            <a:ext cx="900" cy="2976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32"/>
          <p:cNvSpPr/>
          <p:nvPr/>
        </p:nvSpPr>
        <p:spPr>
          <a:xfrm>
            <a:off x="7179450" y="2726475"/>
            <a:ext cx="1411200" cy="1052400"/>
          </a:xfrm>
          <a:prstGeom prst="roundRect">
            <a:avLst>
              <a:gd fmla="val 9999" name="adj"/>
            </a:avLst>
          </a:prstGeom>
          <a:solidFill>
            <a:srgbClr val="C9DAF8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04" name="Google Shape;504;p32"/>
          <p:cNvSpPr txBox="1"/>
          <p:nvPr/>
        </p:nvSpPr>
        <p:spPr>
          <a:xfrm>
            <a:off x="7208550" y="2802675"/>
            <a:ext cx="13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Calculated Triage Score &amp; Summary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7238100" y="3235125"/>
            <a:ext cx="1293900" cy="431100"/>
          </a:xfrm>
          <a:prstGeom prst="roundRect">
            <a:avLst>
              <a:gd fmla="val 9999" name="adj"/>
            </a:avLst>
          </a:prstGeom>
          <a:solidFill>
            <a:schemeClr val="lt1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" name="Google Shape;506;p32"/>
          <p:cNvCxnSpPr/>
          <p:nvPr/>
        </p:nvCxnSpPr>
        <p:spPr>
          <a:xfrm>
            <a:off x="6943618" y="3034650"/>
            <a:ext cx="3078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7" name="Google Shape;507;p32"/>
          <p:cNvSpPr txBox="1"/>
          <p:nvPr/>
        </p:nvSpPr>
        <p:spPr>
          <a:xfrm>
            <a:off x="7292850" y="3283800"/>
            <a:ext cx="118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Outgoing Email</a:t>
            </a:r>
            <a:endParaRPr sz="7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08" name="Google Shape;508;p32"/>
          <p:cNvCxnSpPr/>
          <p:nvPr/>
        </p:nvCxnSpPr>
        <p:spPr>
          <a:xfrm>
            <a:off x="2361375" y="3638775"/>
            <a:ext cx="1296000" cy="3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2"/>
          <p:cNvCxnSpPr/>
          <p:nvPr/>
        </p:nvCxnSpPr>
        <p:spPr>
          <a:xfrm flipH="1" rot="10800000">
            <a:off x="4030150" y="3438375"/>
            <a:ext cx="1275900" cy="63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2"/>
          <p:cNvCxnSpPr/>
          <p:nvPr/>
        </p:nvCxnSpPr>
        <p:spPr>
          <a:xfrm flipH="1" rot="10800000">
            <a:off x="4030150" y="3133575"/>
            <a:ext cx="1275900" cy="63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32"/>
          <p:cNvCxnSpPr/>
          <p:nvPr/>
        </p:nvCxnSpPr>
        <p:spPr>
          <a:xfrm flipH="1" rot="10800000">
            <a:off x="4030150" y="3873225"/>
            <a:ext cx="1275900" cy="63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2"/>
          <p:cNvCxnSpPr/>
          <p:nvPr/>
        </p:nvCxnSpPr>
        <p:spPr>
          <a:xfrm flipH="1" rot="10800000">
            <a:off x="4039150" y="4192725"/>
            <a:ext cx="1275900" cy="63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2"/>
          <p:cNvCxnSpPr/>
          <p:nvPr/>
        </p:nvCxnSpPr>
        <p:spPr>
          <a:xfrm flipH="1" rot="10800000">
            <a:off x="5679175" y="3179775"/>
            <a:ext cx="1275900" cy="63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32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33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3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3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228225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523" name="Google Shape;523;p33"/>
          <p:cNvSpPr txBox="1"/>
          <p:nvPr/>
        </p:nvSpPr>
        <p:spPr>
          <a:xfrm>
            <a:off x="376450" y="436850"/>
            <a:ext cx="414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524" name="Google Shape;524;p33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3"/>
          <p:cNvSpPr txBox="1"/>
          <p:nvPr/>
        </p:nvSpPr>
        <p:spPr>
          <a:xfrm>
            <a:off x="2923107" y="2822837"/>
            <a:ext cx="5040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No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26" name="Google Shape;526;p33"/>
          <p:cNvCxnSpPr/>
          <p:nvPr/>
        </p:nvCxnSpPr>
        <p:spPr>
          <a:xfrm>
            <a:off x="3328269" y="3150107"/>
            <a:ext cx="864600" cy="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3"/>
          <p:cNvSpPr/>
          <p:nvPr/>
        </p:nvSpPr>
        <p:spPr>
          <a:xfrm>
            <a:off x="7617507" y="3536213"/>
            <a:ext cx="1094700" cy="2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Summarize </a:t>
            </a:r>
            <a:b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w/ Risk Score</a:t>
            </a:r>
            <a:endParaRPr b="1" sz="784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1066108" y="3244139"/>
            <a:ext cx="879600" cy="879600"/>
          </a:xfrm>
          <a:prstGeom prst="ellipse">
            <a:avLst/>
          </a:prstGeom>
          <a:solidFill>
            <a:srgbClr val="D9EAD3"/>
          </a:solidFill>
          <a:ln cap="flat" cmpd="sng" w="9325">
            <a:solidFill>
              <a:srgbClr val="074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Data Ingestion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29" name="Google Shape;529;p33"/>
          <p:cNvSpPr txBox="1"/>
          <p:nvPr/>
        </p:nvSpPr>
        <p:spPr>
          <a:xfrm>
            <a:off x="394981" y="1578325"/>
            <a:ext cx="663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75" lIns="69275" spcFirstLastPara="1" rIns="69275" wrap="square" tIns="69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Broker</a:t>
            </a:r>
            <a:endParaRPr b="1" sz="1077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30" name="Google Shape;530;p33"/>
          <p:cNvSpPr txBox="1"/>
          <p:nvPr/>
        </p:nvSpPr>
        <p:spPr>
          <a:xfrm>
            <a:off x="363025" y="3443030"/>
            <a:ext cx="663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75" lIns="69275" spcFirstLastPara="1" rIns="69275" wrap="square" tIns="69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</a:t>
            </a:r>
            <a:endParaRPr b="1" sz="1077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31" name="Google Shape;531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62" y="1826104"/>
            <a:ext cx="307498" cy="315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206" y="3681061"/>
            <a:ext cx="307498" cy="273331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3"/>
          <p:cNvSpPr txBox="1"/>
          <p:nvPr/>
        </p:nvSpPr>
        <p:spPr>
          <a:xfrm>
            <a:off x="394981" y="2340826"/>
            <a:ext cx="6636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9275" lIns="69275" spcFirstLastPara="1" rIns="69275" wrap="square" tIns="69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UW</a:t>
            </a:r>
            <a:endParaRPr b="1" sz="1077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534" name="Google Shape;53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37" y="2574456"/>
            <a:ext cx="307498" cy="31580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3"/>
          <p:cNvSpPr/>
          <p:nvPr/>
        </p:nvSpPr>
        <p:spPr>
          <a:xfrm>
            <a:off x="2247506" y="3536213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D0CEC3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Data Extraction</a:t>
            </a:r>
            <a:endParaRPr b="1" sz="784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3643707" y="3536213"/>
            <a:ext cx="1094700" cy="2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Clearance</a:t>
            </a:r>
            <a:endParaRPr b="1" sz="784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5039908" y="3244139"/>
            <a:ext cx="879600" cy="879600"/>
          </a:xfrm>
          <a:prstGeom prst="ellipse">
            <a:avLst/>
          </a:prstGeom>
          <a:solidFill>
            <a:srgbClr val="D9EAD3"/>
          </a:solidFill>
          <a:ln cap="flat" cmpd="sng" w="9325">
            <a:solidFill>
              <a:srgbClr val="074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Prior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6221311" y="3430721"/>
            <a:ext cx="1094700" cy="506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72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Triage</a:t>
            </a:r>
            <a:b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(Additional Questions)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2247506" y="3002300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All Documents Present?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969589" y="1706524"/>
            <a:ext cx="1072500" cy="2979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Email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41" name="Google Shape;541;p33"/>
          <p:cNvCxnSpPr>
            <a:stCxn id="540" idx="2"/>
            <a:endCxn id="528" idx="0"/>
          </p:cNvCxnSpPr>
          <p:nvPr/>
        </p:nvCxnSpPr>
        <p:spPr>
          <a:xfrm>
            <a:off x="1505839" y="2004424"/>
            <a:ext cx="0" cy="1239600"/>
          </a:xfrm>
          <a:prstGeom prst="straightConnector1">
            <a:avLst/>
          </a:prstGeom>
          <a:noFill/>
          <a:ln cap="flat" cmpd="sng" w="72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" name="Google Shape;542;p33"/>
          <p:cNvSpPr/>
          <p:nvPr/>
        </p:nvSpPr>
        <p:spPr>
          <a:xfrm>
            <a:off x="2247506" y="2468388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Request More Documents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43" name="Google Shape;543;p33"/>
          <p:cNvCxnSpPr>
            <a:endCxn id="535" idx="1"/>
          </p:cNvCxnSpPr>
          <p:nvPr/>
        </p:nvCxnSpPr>
        <p:spPr>
          <a:xfrm>
            <a:off x="1946306" y="3683963"/>
            <a:ext cx="301200" cy="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33"/>
          <p:cNvCxnSpPr/>
          <p:nvPr/>
        </p:nvCxnSpPr>
        <p:spPr>
          <a:xfrm>
            <a:off x="3342165" y="3684020"/>
            <a:ext cx="301200" cy="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33"/>
          <p:cNvCxnSpPr/>
          <p:nvPr/>
        </p:nvCxnSpPr>
        <p:spPr>
          <a:xfrm rot="10800000">
            <a:off x="2794798" y="3297750"/>
            <a:ext cx="0" cy="23670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33"/>
          <p:cNvCxnSpPr/>
          <p:nvPr/>
        </p:nvCxnSpPr>
        <p:spPr>
          <a:xfrm rot="10800000">
            <a:off x="2794798" y="2763850"/>
            <a:ext cx="0" cy="23670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7" name="Google Shape;547;p33"/>
          <p:cNvCxnSpPr/>
          <p:nvPr/>
        </p:nvCxnSpPr>
        <p:spPr>
          <a:xfrm rot="10800000">
            <a:off x="4190995" y="3154950"/>
            <a:ext cx="0" cy="37950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33"/>
          <p:cNvSpPr txBox="1"/>
          <p:nvPr/>
        </p:nvSpPr>
        <p:spPr>
          <a:xfrm>
            <a:off x="4190990" y="3282903"/>
            <a:ext cx="5040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49" name="Google Shape;549;p33"/>
          <p:cNvSpPr/>
          <p:nvPr/>
        </p:nvSpPr>
        <p:spPr>
          <a:xfrm>
            <a:off x="4932521" y="2468388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Request for BOR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50" name="Google Shape;550;p33"/>
          <p:cNvCxnSpPr>
            <a:endCxn id="549" idx="2"/>
          </p:cNvCxnSpPr>
          <p:nvPr/>
        </p:nvCxnSpPr>
        <p:spPr>
          <a:xfrm flipH="1" rot="10800000">
            <a:off x="5469671" y="2763888"/>
            <a:ext cx="10200" cy="48000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1" name="Google Shape;551;p33"/>
          <p:cNvSpPr txBox="1"/>
          <p:nvPr/>
        </p:nvSpPr>
        <p:spPr>
          <a:xfrm>
            <a:off x="5469500" y="2992579"/>
            <a:ext cx="5040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52" name="Google Shape;552;p33"/>
          <p:cNvCxnSpPr/>
          <p:nvPr/>
        </p:nvCxnSpPr>
        <p:spPr>
          <a:xfrm>
            <a:off x="4738312" y="3684020"/>
            <a:ext cx="301200" cy="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33"/>
          <p:cNvCxnSpPr/>
          <p:nvPr/>
        </p:nvCxnSpPr>
        <p:spPr>
          <a:xfrm>
            <a:off x="5938250" y="3684020"/>
            <a:ext cx="301200" cy="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33"/>
          <p:cNvCxnSpPr/>
          <p:nvPr/>
        </p:nvCxnSpPr>
        <p:spPr>
          <a:xfrm>
            <a:off x="7315959" y="3684020"/>
            <a:ext cx="301200" cy="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5" name="Google Shape;555;p33"/>
          <p:cNvSpPr txBox="1"/>
          <p:nvPr/>
        </p:nvSpPr>
        <p:spPr>
          <a:xfrm>
            <a:off x="5802210" y="3284519"/>
            <a:ext cx="5040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Clear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617537" y="2468388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D0CEC3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Send T</a:t>
            </a:r>
            <a: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 Insurity</a:t>
            </a:r>
            <a:endParaRPr b="1" sz="784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57" name="Google Shape;557;p33"/>
          <p:cNvCxnSpPr>
            <a:stCxn id="527" idx="0"/>
            <a:endCxn id="556" idx="2"/>
          </p:cNvCxnSpPr>
          <p:nvPr/>
        </p:nvCxnSpPr>
        <p:spPr>
          <a:xfrm rot="10800000">
            <a:off x="8164857" y="2764013"/>
            <a:ext cx="0" cy="77220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8" name="Google Shape;558;p33"/>
          <p:cNvSpPr/>
          <p:nvPr/>
        </p:nvSpPr>
        <p:spPr>
          <a:xfrm>
            <a:off x="6221311" y="4031641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72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Guideline Check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6221311" y="4421583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72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Enrichment</a:t>
            </a:r>
            <a:endParaRPr b="1" sz="784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3643697" y="4206778"/>
            <a:ext cx="1094700" cy="51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Check For Clearance</a:t>
            </a:r>
            <a:endParaRPr b="1" sz="784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561" name="Google Shape;561;p33"/>
          <p:cNvCxnSpPr>
            <a:stCxn id="560" idx="0"/>
            <a:endCxn id="536" idx="2"/>
          </p:cNvCxnSpPr>
          <p:nvPr/>
        </p:nvCxnSpPr>
        <p:spPr>
          <a:xfrm rot="10800000">
            <a:off x="4191047" y="3831778"/>
            <a:ext cx="0" cy="375000"/>
          </a:xfrm>
          <a:prstGeom prst="straightConnector1">
            <a:avLst/>
          </a:prstGeom>
          <a:noFill/>
          <a:ln cap="flat" cmpd="sng" w="932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2" name="Google Shape;562;p33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63" name="Google Shape;563;p33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569;p34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4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4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228225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572" name="Google Shape;572;p34"/>
          <p:cNvSpPr txBox="1"/>
          <p:nvPr/>
        </p:nvSpPr>
        <p:spPr>
          <a:xfrm>
            <a:off x="376450" y="436850"/>
            <a:ext cx="414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573" name="Google Shape;573;p34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4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969589" y="1706524"/>
            <a:ext cx="1072500" cy="2979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Submissions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6" name="Google Shape;576;p34"/>
          <p:cNvSpPr/>
          <p:nvPr/>
        </p:nvSpPr>
        <p:spPr>
          <a:xfrm>
            <a:off x="958506" y="2095088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Program 1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958506" y="2481263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Program 2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8" name="Google Shape;578;p34"/>
          <p:cNvSpPr/>
          <p:nvPr/>
        </p:nvSpPr>
        <p:spPr>
          <a:xfrm>
            <a:off x="947406" y="2869300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Program 3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79" name="Google Shape;579;p34"/>
          <p:cNvSpPr/>
          <p:nvPr/>
        </p:nvSpPr>
        <p:spPr>
          <a:xfrm>
            <a:off x="2181081" y="2095088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Admin 1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80" name="Google Shape;580;p34"/>
          <p:cNvSpPr/>
          <p:nvPr/>
        </p:nvSpPr>
        <p:spPr>
          <a:xfrm>
            <a:off x="2181081" y="2481263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Admin 2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2181081" y="2869300"/>
            <a:ext cx="1094700" cy="2955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Admin 3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82" name="Google Shape;582;p34"/>
          <p:cNvSpPr/>
          <p:nvPr/>
        </p:nvSpPr>
        <p:spPr>
          <a:xfrm>
            <a:off x="3713050" y="1707724"/>
            <a:ext cx="1094700" cy="14571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69275" lIns="69275" spcFirstLastPara="1" rIns="69275" wrap="square" tIns="69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Submissions Platform</a:t>
            </a:r>
            <a:endParaRPr b="1" sz="784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83" name="Google Shape;583;p34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35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50" y="0"/>
            <a:ext cx="87229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5"/>
          <p:cNvSpPr/>
          <p:nvPr/>
        </p:nvSpPr>
        <p:spPr>
          <a:xfrm>
            <a:off x="-61000" y="0"/>
            <a:ext cx="4328700" cy="5253000"/>
          </a:xfrm>
          <a:prstGeom prst="rect">
            <a:avLst/>
          </a:prstGeom>
          <a:solidFill>
            <a:srgbClr val="FBFBF9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91" name="Google Shape;591;p35"/>
          <p:cNvSpPr txBox="1"/>
          <p:nvPr/>
        </p:nvSpPr>
        <p:spPr>
          <a:xfrm>
            <a:off x="381188" y="425100"/>
            <a:ext cx="38865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Distribution</a:t>
            </a:r>
            <a:endParaRPr sz="2825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592" name="Google Shape;592;p35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5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0" l="29474" r="1854" t="0"/>
          <a:stretch/>
        </p:blipFill>
        <p:spPr>
          <a:xfrm>
            <a:off x="4410856" y="11625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594" name="Google Shape;594;p35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64096" l="29474" r="1854" t="0"/>
          <a:stretch/>
        </p:blipFill>
        <p:spPr>
          <a:xfrm>
            <a:off x="4267588" y="3974638"/>
            <a:ext cx="4876349" cy="1422862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595" name="Google Shape;59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5419" y="1282200"/>
            <a:ext cx="4280588" cy="298826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35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97" name="Google Shape;597;p35"/>
          <p:cNvSpPr txBox="1"/>
          <p:nvPr/>
        </p:nvSpPr>
        <p:spPr>
          <a:xfrm>
            <a:off x="562098" y="1282206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Proposal </a:t>
            </a: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Generation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598" name="Google Shape;598;p35"/>
          <p:cNvSpPr txBox="1"/>
          <p:nvPr/>
        </p:nvSpPr>
        <p:spPr>
          <a:xfrm>
            <a:off x="562098" y="15718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Generate compliant, carrier-ready proposals in minutes — enabling 2–3× more proposals per producer per week.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99" name="Google Shape;599;p35"/>
          <p:cNvSpPr txBox="1"/>
          <p:nvPr/>
        </p:nvSpPr>
        <p:spPr>
          <a:xfrm>
            <a:off x="562098" y="21392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Create Submission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00" name="Google Shape;600;p35"/>
          <p:cNvSpPr txBox="1"/>
          <p:nvPr/>
        </p:nvSpPr>
        <p:spPr>
          <a:xfrm>
            <a:off x="562098" y="2438493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Turn inbound emails and attachments into complete, structured submissions with &gt;90% automation.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01" name="Google Shape;601;p35"/>
          <p:cNvSpPr txBox="1"/>
          <p:nvPr/>
        </p:nvSpPr>
        <p:spPr>
          <a:xfrm>
            <a:off x="562098" y="29774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Policy Checking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02" name="Google Shape;602;p35"/>
          <p:cNvSpPr txBox="1"/>
          <p:nvPr/>
        </p:nvSpPr>
        <p:spPr>
          <a:xfrm>
            <a:off x="562098" y="32909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Compare binders, endorsements, and policies line-by-line to catch discrepancies before they reach the insured.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03" name="Google Shape;603;p35"/>
          <p:cNvSpPr txBox="1"/>
          <p:nvPr/>
        </p:nvSpPr>
        <p:spPr>
          <a:xfrm>
            <a:off x="562098" y="38156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Quote Compare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04" name="Google Shape;604;p35"/>
          <p:cNvSpPr txBox="1"/>
          <p:nvPr/>
        </p:nvSpPr>
        <p:spPr>
          <a:xfrm>
            <a:off x="562098" y="4143343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Normalize and compare quotes across carriers so brokers can advise faster and bind with confidence.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605" name="Google Shape;605;p35"/>
          <p:cNvCxnSpPr>
            <a:stCxn id="606" idx="0"/>
            <a:endCxn id="607" idx="0"/>
          </p:cNvCxnSpPr>
          <p:nvPr/>
        </p:nvCxnSpPr>
        <p:spPr>
          <a:xfrm>
            <a:off x="360750" y="1397934"/>
            <a:ext cx="7500" cy="25185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606" name="Google Shape;606;p35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293112" y="139793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5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300462" y="2237459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5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300475" y="307698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5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300475" y="3916509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5" title="Slides dump - merge to decks (14).png"/>
          <p:cNvPicPr preferRelativeResize="0"/>
          <p:nvPr/>
        </p:nvPicPr>
        <p:blipFill rotWithShape="1">
          <a:blip r:embed="rId12">
            <a:alphaModFix/>
          </a:blip>
          <a:srcRect b="27038" l="38077" r="36301" t="26182"/>
          <a:stretch/>
        </p:blipFill>
        <p:spPr>
          <a:xfrm>
            <a:off x="2620726" y="1403400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611" name="Google Shape;611;p35" title="Slides dump - merge to decks (14).png"/>
          <p:cNvPicPr preferRelativeResize="0"/>
          <p:nvPr/>
        </p:nvPicPr>
        <p:blipFill rotWithShape="1">
          <a:blip r:embed="rId12">
            <a:alphaModFix/>
          </a:blip>
          <a:srcRect b="27038" l="38077" r="36301" t="26182"/>
          <a:stretch/>
        </p:blipFill>
        <p:spPr>
          <a:xfrm>
            <a:off x="2432938" y="2225812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612" name="Google Shape;612;p35" title="Slides dump - merge to decks (14).png"/>
          <p:cNvPicPr preferRelativeResize="0"/>
          <p:nvPr/>
        </p:nvPicPr>
        <p:blipFill rotWithShape="1">
          <a:blip r:embed="rId12">
            <a:alphaModFix/>
          </a:blip>
          <a:srcRect b="27038" l="38077" r="36301" t="26182"/>
          <a:stretch/>
        </p:blipFill>
        <p:spPr>
          <a:xfrm>
            <a:off x="2204338" y="3140212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sp>
        <p:nvSpPr>
          <p:cNvPr id="613" name="Google Shape;613;p35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6"/>
          <p:cNvSpPr/>
          <p:nvPr/>
        </p:nvSpPr>
        <p:spPr>
          <a:xfrm>
            <a:off x="-61000" y="0"/>
            <a:ext cx="4328700" cy="5253000"/>
          </a:xfrm>
          <a:prstGeom prst="rect">
            <a:avLst/>
          </a:prstGeom>
          <a:solidFill>
            <a:srgbClr val="FBFBF9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620" name="Google Shape;620;p36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50" y="0"/>
            <a:ext cx="88753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36"/>
          <p:cNvSpPr/>
          <p:nvPr/>
        </p:nvSpPr>
        <p:spPr>
          <a:xfrm>
            <a:off x="-61000" y="0"/>
            <a:ext cx="4267800" cy="5143500"/>
          </a:xfrm>
          <a:prstGeom prst="rect">
            <a:avLst/>
          </a:prstGeom>
          <a:solidFill>
            <a:srgbClr val="FBFBF9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22" name="Google Shape;622;p36"/>
          <p:cNvSpPr txBox="1"/>
          <p:nvPr/>
        </p:nvSpPr>
        <p:spPr>
          <a:xfrm>
            <a:off x="381188" y="425100"/>
            <a:ext cx="38865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Underwriting </a:t>
            </a:r>
            <a:endParaRPr sz="2825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623" name="Google Shape;623;p36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6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0" l="29474" r="1854" t="0"/>
          <a:stretch/>
        </p:blipFill>
        <p:spPr>
          <a:xfrm>
            <a:off x="4410856" y="11625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625" name="Google Shape;625;p36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64096" l="29474" r="1854" t="0"/>
          <a:stretch/>
        </p:blipFill>
        <p:spPr>
          <a:xfrm>
            <a:off x="4267588" y="3974638"/>
            <a:ext cx="4876349" cy="1422862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626" name="Google Shape;626;p36" title="ScreenRecording2025-03-30at9.26.35AM-ezgif.com-video-to-gif-converter.gif"/>
          <p:cNvPicPr preferRelativeResize="0"/>
          <p:nvPr/>
        </p:nvPicPr>
        <p:blipFill rotWithShape="1">
          <a:blip r:embed="rId6">
            <a:alphaModFix/>
          </a:blip>
          <a:srcRect b="892" l="0" r="0" t="0"/>
          <a:stretch/>
        </p:blipFill>
        <p:spPr>
          <a:xfrm>
            <a:off x="4656836" y="1333950"/>
            <a:ext cx="4039800" cy="2932800"/>
          </a:xfrm>
          <a:prstGeom prst="roundRect">
            <a:avLst>
              <a:gd fmla="val 2199" name="adj"/>
            </a:avLst>
          </a:prstGeom>
          <a:noFill/>
          <a:ln>
            <a:noFill/>
          </a:ln>
        </p:spPr>
      </p:pic>
      <p:sp>
        <p:nvSpPr>
          <p:cNvPr id="627" name="Google Shape;627;p36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28" name="Google Shape;628;p36"/>
          <p:cNvSpPr txBox="1"/>
          <p:nvPr/>
        </p:nvSpPr>
        <p:spPr>
          <a:xfrm>
            <a:off x="562098" y="1282206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Intake &amp; Triage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29" name="Google Shape;629;p36"/>
          <p:cNvSpPr txBox="1"/>
          <p:nvPr/>
        </p:nvSpPr>
        <p:spPr>
          <a:xfrm>
            <a:off x="562098" y="15718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Automatically ingest submissions and surface risk signals upfront, cutting triage time by up to 70%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30" name="Google Shape;630;p36"/>
          <p:cNvSpPr txBox="1"/>
          <p:nvPr/>
        </p:nvSpPr>
        <p:spPr>
          <a:xfrm>
            <a:off x="562098" y="21392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Clearance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31" name="Google Shape;631;p36"/>
          <p:cNvSpPr txBox="1"/>
          <p:nvPr/>
        </p:nvSpPr>
        <p:spPr>
          <a:xfrm>
            <a:off x="562098" y="2438493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Run OFAC, legal, and clearance checks automatically to reduce review cycles from days to minutes.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32" name="Google Shape;632;p36">
            <a:hlinkClick r:id="rId8"/>
          </p:cNvPr>
          <p:cNvSpPr txBox="1"/>
          <p:nvPr/>
        </p:nvSpPr>
        <p:spPr>
          <a:xfrm>
            <a:off x="562098" y="29774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SOV Conversion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33" name="Google Shape;633;p36"/>
          <p:cNvSpPr txBox="1"/>
          <p:nvPr/>
        </p:nvSpPr>
        <p:spPr>
          <a:xfrm>
            <a:off x="562098" y="32909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Convert messy, multi-format SOVs into structured, analysis-ready data with &gt;95% accuracy.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34" name="Google Shape;634;p36"/>
          <p:cNvSpPr txBox="1"/>
          <p:nvPr/>
        </p:nvSpPr>
        <p:spPr>
          <a:xfrm>
            <a:off x="562098" y="38156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Loss Run Processing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35" name="Google Shape;635;p36"/>
          <p:cNvSpPr txBox="1"/>
          <p:nvPr/>
        </p:nvSpPr>
        <p:spPr>
          <a:xfrm>
            <a:off x="562098" y="4143343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Extract, verify, and summarize loss runs automatically — reducing processing time by 70–90%.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636" name="Google Shape;636;p36"/>
          <p:cNvCxnSpPr>
            <a:stCxn id="637" idx="0"/>
            <a:endCxn id="638" idx="0"/>
          </p:cNvCxnSpPr>
          <p:nvPr/>
        </p:nvCxnSpPr>
        <p:spPr>
          <a:xfrm>
            <a:off x="360750" y="1397934"/>
            <a:ext cx="7500" cy="25185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637" name="Google Shape;637;p36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293112" y="139793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36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300462" y="2237459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6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300475" y="307698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36" title="Subtract.png"/>
          <p:cNvPicPr preferRelativeResize="0"/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300475" y="3916509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6" title="Slides dump - merge to decks (14).png"/>
          <p:cNvPicPr preferRelativeResize="0"/>
          <p:nvPr/>
        </p:nvPicPr>
        <p:blipFill rotWithShape="1">
          <a:blip r:embed="rId12">
            <a:alphaModFix/>
          </a:blip>
          <a:srcRect b="27038" l="38077" r="36301" t="26182"/>
          <a:stretch/>
        </p:blipFill>
        <p:spPr>
          <a:xfrm>
            <a:off x="2163526" y="1403400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642" name="Google Shape;642;p36" title="Slides dump - merge to decks (14).png"/>
          <p:cNvPicPr preferRelativeResize="0"/>
          <p:nvPr/>
        </p:nvPicPr>
        <p:blipFill rotWithShape="1">
          <a:blip r:embed="rId12">
            <a:alphaModFix/>
          </a:blip>
          <a:srcRect b="27038" l="38077" r="36301" t="26182"/>
          <a:stretch/>
        </p:blipFill>
        <p:spPr>
          <a:xfrm>
            <a:off x="2239726" y="3079800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643" name="Google Shape;643;p36" title="Slides dump - merge to decks (14).png"/>
          <p:cNvPicPr preferRelativeResize="0"/>
          <p:nvPr/>
        </p:nvPicPr>
        <p:blipFill rotWithShape="1">
          <a:blip r:embed="rId12">
            <a:alphaModFix/>
          </a:blip>
          <a:srcRect b="27038" l="38077" r="36301" t="26182"/>
          <a:stretch/>
        </p:blipFill>
        <p:spPr>
          <a:xfrm>
            <a:off x="2620726" y="3914287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sp>
        <p:nvSpPr>
          <p:cNvPr id="644" name="Google Shape;644;p36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37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50" y="0"/>
            <a:ext cx="88753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7"/>
          <p:cNvSpPr/>
          <p:nvPr/>
        </p:nvSpPr>
        <p:spPr>
          <a:xfrm>
            <a:off x="-61062" y="-97687"/>
            <a:ext cx="4328700" cy="5241300"/>
          </a:xfrm>
          <a:prstGeom prst="rect">
            <a:avLst/>
          </a:prstGeom>
          <a:solidFill>
            <a:srgbClr val="FBFBF9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52" name="Google Shape;652;p37"/>
          <p:cNvSpPr txBox="1"/>
          <p:nvPr/>
        </p:nvSpPr>
        <p:spPr>
          <a:xfrm>
            <a:off x="381188" y="425100"/>
            <a:ext cx="38865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Policy Servicing</a:t>
            </a:r>
            <a:endParaRPr sz="2825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653" name="Google Shape;653;p37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7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0" l="29474" r="1854" t="0"/>
          <a:stretch/>
        </p:blipFill>
        <p:spPr>
          <a:xfrm>
            <a:off x="4410856" y="11625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655" name="Google Shape;655;p37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64096" l="29474" r="1854" t="0"/>
          <a:stretch/>
        </p:blipFill>
        <p:spPr>
          <a:xfrm>
            <a:off x="4267588" y="3974638"/>
            <a:ext cx="4876349" cy="1422862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656" name="Google Shape;656;p37" title="ScreenRecording2025-05-05at6.29.48PM-ezgif.com-video-to-gif-converter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9275" y="1536700"/>
            <a:ext cx="4176238" cy="2500513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7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58" name="Google Shape;658;p37"/>
          <p:cNvSpPr txBox="1"/>
          <p:nvPr/>
        </p:nvSpPr>
        <p:spPr>
          <a:xfrm>
            <a:off x="562098" y="1282206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Policy Comparison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59" name="Google Shape;659;p37"/>
          <p:cNvSpPr txBox="1"/>
          <p:nvPr/>
        </p:nvSpPr>
        <p:spPr>
          <a:xfrm>
            <a:off x="562098" y="1571831"/>
            <a:ext cx="3387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Compare binders, endorsements, and issued policies line-by-line to surface discrepancies before they become E&amp;O risk.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60" name="Google Shape;660;p37"/>
          <p:cNvSpPr txBox="1"/>
          <p:nvPr/>
        </p:nvSpPr>
        <p:spPr>
          <a:xfrm>
            <a:off x="562098" y="22916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Policy Checking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61" name="Google Shape;661;p37"/>
          <p:cNvSpPr txBox="1"/>
          <p:nvPr/>
        </p:nvSpPr>
        <p:spPr>
          <a:xfrm>
            <a:off x="562098" y="2590893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Validate policies against underwriting intent and guidelines to prevent post-bind rework.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62" name="Google Shape;662;p37"/>
          <p:cNvSpPr txBox="1"/>
          <p:nvPr/>
        </p:nvSpPr>
        <p:spPr>
          <a:xfrm>
            <a:off x="562098" y="32060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Quote Comparison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63" name="Google Shape;663;p37"/>
          <p:cNvSpPr txBox="1"/>
          <p:nvPr/>
        </p:nvSpPr>
        <p:spPr>
          <a:xfrm>
            <a:off x="562098" y="35195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Normalize and compare carrier quotes side-by-side so teams can advise and bind with confidence.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664" name="Google Shape;664;p37"/>
          <p:cNvCxnSpPr>
            <a:stCxn id="665" idx="0"/>
            <a:endCxn id="666" idx="2"/>
          </p:cNvCxnSpPr>
          <p:nvPr/>
        </p:nvCxnSpPr>
        <p:spPr>
          <a:xfrm>
            <a:off x="360750" y="1397934"/>
            <a:ext cx="7500" cy="20421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665" name="Google Shape;665;p37" title="Subtract.png"/>
          <p:cNvPicPr preferRelativeResize="0"/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293112" y="139793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37" title="Subtract.png"/>
          <p:cNvPicPr preferRelativeResize="0"/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300462" y="2389859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37" title="Subtract.png"/>
          <p:cNvPicPr preferRelativeResize="0"/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300475" y="330558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37" title="Slides dump - merge to decks (14).png"/>
          <p:cNvPicPr preferRelativeResize="0"/>
          <p:nvPr/>
        </p:nvPicPr>
        <p:blipFill rotWithShape="1">
          <a:blip r:embed="rId10">
            <a:alphaModFix/>
          </a:blip>
          <a:srcRect b="27038" l="38077" r="36301" t="26182"/>
          <a:stretch/>
        </p:blipFill>
        <p:spPr>
          <a:xfrm>
            <a:off x="2468326" y="1403400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669" name="Google Shape;669;p37" title="Slides dump - merge to decks (14).png"/>
          <p:cNvPicPr preferRelativeResize="0"/>
          <p:nvPr/>
        </p:nvPicPr>
        <p:blipFill rotWithShape="1">
          <a:blip r:embed="rId10">
            <a:alphaModFix/>
          </a:blip>
          <a:srcRect b="27038" l="38077" r="36301" t="26182"/>
          <a:stretch/>
        </p:blipFill>
        <p:spPr>
          <a:xfrm>
            <a:off x="2256813" y="2387637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sp>
        <p:nvSpPr>
          <p:cNvPr id="670" name="Google Shape;670;p37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38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100" y="0"/>
            <a:ext cx="48763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8"/>
          <p:cNvSpPr/>
          <p:nvPr/>
        </p:nvSpPr>
        <p:spPr>
          <a:xfrm>
            <a:off x="0" y="-97687"/>
            <a:ext cx="4267800" cy="5403900"/>
          </a:xfrm>
          <a:prstGeom prst="rect">
            <a:avLst/>
          </a:prstGeom>
          <a:solidFill>
            <a:srgbClr val="FBFBF9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678" name="Google Shape;678;p38"/>
          <p:cNvSpPr txBox="1"/>
          <p:nvPr/>
        </p:nvSpPr>
        <p:spPr>
          <a:xfrm>
            <a:off x="562098" y="1282206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Claims Intake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79" name="Google Shape;679;p38"/>
          <p:cNvSpPr txBox="1"/>
          <p:nvPr/>
        </p:nvSpPr>
        <p:spPr>
          <a:xfrm>
            <a:off x="562098" y="15718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Automate first notice and document intake to process claims 10× faster with &gt;90% automation.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80" name="Google Shape;680;p38"/>
          <p:cNvSpPr txBox="1"/>
          <p:nvPr/>
        </p:nvSpPr>
        <p:spPr>
          <a:xfrm>
            <a:off x="562098" y="21392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Segmentation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81" name="Google Shape;681;p38"/>
          <p:cNvSpPr txBox="1"/>
          <p:nvPr/>
        </p:nvSpPr>
        <p:spPr>
          <a:xfrm>
            <a:off x="562098" y="2438493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Route claims by complexity and severity automatically so adjusters focus on the cases that need judgment.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82" name="Google Shape;682;p38"/>
          <p:cNvSpPr txBox="1"/>
          <p:nvPr/>
        </p:nvSpPr>
        <p:spPr>
          <a:xfrm>
            <a:off x="562098" y="29774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Summary Generation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683" name="Google Shape;683;p38"/>
          <p:cNvSpPr txBox="1"/>
          <p:nvPr/>
        </p:nvSpPr>
        <p:spPr>
          <a:xfrm>
            <a:off x="562098" y="32909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Generate clear, audit-ready claim summaries instantly — eliminating manual write-ups and rework.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684" name="Google Shape;684;p38"/>
          <p:cNvCxnSpPr>
            <a:stCxn id="685" idx="0"/>
            <a:endCxn id="686" idx="2"/>
          </p:cNvCxnSpPr>
          <p:nvPr/>
        </p:nvCxnSpPr>
        <p:spPr>
          <a:xfrm>
            <a:off x="360750" y="1397934"/>
            <a:ext cx="7500" cy="18135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685" name="Google Shape;685;p38" title="Subtract.png"/>
          <p:cNvPicPr preferRelativeResize="0"/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93112" y="139793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8" title="Subtract.png"/>
          <p:cNvPicPr preferRelativeResize="0"/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300462" y="2237459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38" title="Subtract.png"/>
          <p:cNvPicPr preferRelativeResize="0"/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300475" y="3076984"/>
            <a:ext cx="135275" cy="13449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38"/>
          <p:cNvSpPr txBox="1"/>
          <p:nvPr/>
        </p:nvSpPr>
        <p:spPr>
          <a:xfrm>
            <a:off x="381188" y="425100"/>
            <a:ext cx="38865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Claims</a:t>
            </a:r>
            <a:endParaRPr sz="2825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689" name="Google Shape;689;p38" title="FAI png (1).png"/>
          <p:cNvPicPr preferRelativeResize="0"/>
          <p:nvPr/>
        </p:nvPicPr>
        <p:blipFill rotWithShape="1">
          <a:blip r:embed="rId6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38" title="Slides dump - merge to decks (3).png"/>
          <p:cNvPicPr preferRelativeResize="0"/>
          <p:nvPr/>
        </p:nvPicPr>
        <p:blipFill rotWithShape="1">
          <a:blip r:embed="rId7">
            <a:alphaModFix amt="68000"/>
          </a:blip>
          <a:srcRect b="0" l="29474" r="1854" t="0"/>
          <a:stretch/>
        </p:blipFill>
        <p:spPr>
          <a:xfrm>
            <a:off x="4410856" y="11625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691" name="Google Shape;691;p38" title="Slides dump - merge to decks (3).png"/>
          <p:cNvPicPr preferRelativeResize="0"/>
          <p:nvPr/>
        </p:nvPicPr>
        <p:blipFill rotWithShape="1">
          <a:blip r:embed="rId7">
            <a:alphaModFix amt="68000"/>
          </a:blip>
          <a:srcRect b="64096" l="29474" r="1854" t="0"/>
          <a:stretch/>
        </p:blipFill>
        <p:spPr>
          <a:xfrm>
            <a:off x="4267588" y="3974638"/>
            <a:ext cx="4876349" cy="1422862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sp>
        <p:nvSpPr>
          <p:cNvPr id="692" name="Google Shape;692;p38"/>
          <p:cNvSpPr txBox="1"/>
          <p:nvPr/>
        </p:nvSpPr>
        <p:spPr>
          <a:xfrm>
            <a:off x="452114" y="4805897"/>
            <a:ext cx="2167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Domain Specific AI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93" name="Google Shape;693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08663" y="1156520"/>
            <a:ext cx="3886350" cy="3207781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8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95" name="Google Shape;695;p38" title="Slides dump - merge to decks (14).png"/>
          <p:cNvPicPr preferRelativeResize="0"/>
          <p:nvPr/>
        </p:nvPicPr>
        <p:blipFill rotWithShape="1">
          <a:blip r:embed="rId9">
            <a:alphaModFix/>
          </a:blip>
          <a:srcRect b="27038" l="38077" r="36301" t="26182"/>
          <a:stretch/>
        </p:blipFill>
        <p:spPr>
          <a:xfrm>
            <a:off x="2087326" y="1403400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sp>
        <p:nvSpPr>
          <p:cNvPr id="696" name="Google Shape;696;p38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39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50" y="0"/>
            <a:ext cx="88753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39"/>
          <p:cNvSpPr/>
          <p:nvPr/>
        </p:nvSpPr>
        <p:spPr>
          <a:xfrm>
            <a:off x="-61062" y="-97687"/>
            <a:ext cx="4328700" cy="5241300"/>
          </a:xfrm>
          <a:prstGeom prst="rect">
            <a:avLst/>
          </a:prstGeom>
          <a:solidFill>
            <a:srgbClr val="FBFBF9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704" name="Google Shape;704;p39"/>
          <p:cNvSpPr txBox="1"/>
          <p:nvPr/>
        </p:nvSpPr>
        <p:spPr>
          <a:xfrm>
            <a:off x="381188" y="425100"/>
            <a:ext cx="38865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Compliance &amp; Audit</a:t>
            </a:r>
            <a:endParaRPr sz="2825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705" name="Google Shape;705;p39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39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0" l="29474" r="1854" t="0"/>
          <a:stretch/>
        </p:blipFill>
        <p:spPr>
          <a:xfrm>
            <a:off x="4410856" y="11625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707" name="Google Shape;707;p39" title="Slides dump - merge to decks (3).png"/>
          <p:cNvPicPr preferRelativeResize="0"/>
          <p:nvPr/>
        </p:nvPicPr>
        <p:blipFill rotWithShape="1">
          <a:blip r:embed="rId5">
            <a:alphaModFix amt="68000"/>
          </a:blip>
          <a:srcRect b="64096" l="29474" r="1854" t="0"/>
          <a:stretch/>
        </p:blipFill>
        <p:spPr>
          <a:xfrm>
            <a:off x="4267588" y="3974638"/>
            <a:ext cx="4876349" cy="1422862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708" name="Google Shape;708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4225" y="1158626"/>
            <a:ext cx="3886500" cy="3207000"/>
          </a:xfrm>
          <a:prstGeom prst="roundRect">
            <a:avLst>
              <a:gd fmla="val 4128" name="adj"/>
            </a:avLst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sp>
        <p:nvSpPr>
          <p:cNvPr id="709" name="Google Shape;709;p39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10" name="Google Shape;710;p39"/>
          <p:cNvSpPr txBox="1"/>
          <p:nvPr/>
        </p:nvSpPr>
        <p:spPr>
          <a:xfrm>
            <a:off x="562098" y="1282206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Underwriting Audit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711" name="Google Shape;711;p39"/>
          <p:cNvSpPr txBox="1"/>
          <p:nvPr/>
        </p:nvSpPr>
        <p:spPr>
          <a:xfrm>
            <a:off x="562098" y="1571831"/>
            <a:ext cx="3387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Audit underwriting decisions automatically to reduce review time by up to 45% while improving guideline adherence.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12" name="Google Shape;712;p39"/>
          <p:cNvSpPr txBox="1"/>
          <p:nvPr/>
        </p:nvSpPr>
        <p:spPr>
          <a:xfrm>
            <a:off x="562098" y="22916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Fraunces"/>
                <a:ea typeface="Fraunces"/>
                <a:cs typeface="Fraunces"/>
                <a:sym typeface="Fraunces"/>
              </a:rPr>
              <a:t>Transaction Audit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713" name="Google Shape;713;p39"/>
          <p:cNvSpPr txBox="1"/>
          <p:nvPr/>
        </p:nvSpPr>
        <p:spPr>
          <a:xfrm>
            <a:off x="562098" y="2590893"/>
            <a:ext cx="3387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Automatically audit policy and endorsement transactions to ensure accuracy, completeness, and regulatory compliance.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14" name="Google Shape;714;p39"/>
          <p:cNvSpPr txBox="1"/>
          <p:nvPr/>
        </p:nvSpPr>
        <p:spPr>
          <a:xfrm>
            <a:off x="562098" y="3358443"/>
            <a:ext cx="338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uFill>
                  <a:noFill/>
                </a:uFill>
                <a:latin typeface="Fraunces"/>
                <a:ea typeface="Fraunces"/>
                <a:cs typeface="Fraunces"/>
                <a:sym typeface="Fraunce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Claims Audit</a:t>
            </a:r>
            <a:endParaRPr sz="1550">
              <a:solidFill>
                <a:schemeClr val="dk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715" name="Google Shape;715;p39"/>
          <p:cNvSpPr txBox="1"/>
          <p:nvPr/>
        </p:nvSpPr>
        <p:spPr>
          <a:xfrm>
            <a:off x="562098" y="3671931"/>
            <a:ext cx="338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2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Review claims files automatically to identify leakage, inconsistencies, and compliance gaps at scale.</a:t>
            </a:r>
            <a:endParaRPr sz="950">
              <a:solidFill>
                <a:schemeClr val="dk2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716" name="Google Shape;716;p39"/>
          <p:cNvCxnSpPr>
            <a:stCxn id="717" idx="0"/>
            <a:endCxn id="718" idx="2"/>
          </p:cNvCxnSpPr>
          <p:nvPr/>
        </p:nvCxnSpPr>
        <p:spPr>
          <a:xfrm>
            <a:off x="360750" y="1397934"/>
            <a:ext cx="7500" cy="21945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717" name="Google Shape;717;p39" title="Subtract.png"/>
          <p:cNvPicPr preferRelativeResize="0"/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293112" y="139793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9" title="Subtract.png"/>
          <p:cNvPicPr preferRelativeResize="0"/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300462" y="2389859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9" title="Subtract.png"/>
          <p:cNvPicPr preferRelativeResize="0"/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300475" y="3457984"/>
            <a:ext cx="135275" cy="134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39" title="Slides dump - merge to decks (14).png"/>
          <p:cNvPicPr preferRelativeResize="0"/>
          <p:nvPr/>
        </p:nvPicPr>
        <p:blipFill rotWithShape="1">
          <a:blip r:embed="rId10">
            <a:alphaModFix/>
          </a:blip>
          <a:srcRect b="27038" l="38077" r="36301" t="26182"/>
          <a:stretch/>
        </p:blipFill>
        <p:spPr>
          <a:xfrm>
            <a:off x="2533601" y="1378187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pic>
        <p:nvPicPr>
          <p:cNvPr id="721" name="Google Shape;721;p39" title="Slides dump - merge to decks (14).png"/>
          <p:cNvPicPr preferRelativeResize="0"/>
          <p:nvPr/>
        </p:nvPicPr>
        <p:blipFill rotWithShape="1">
          <a:blip r:embed="rId10">
            <a:alphaModFix/>
          </a:blip>
          <a:srcRect b="27038" l="38077" r="36301" t="26182"/>
          <a:stretch/>
        </p:blipFill>
        <p:spPr>
          <a:xfrm>
            <a:off x="1911351" y="3455762"/>
            <a:ext cx="135274" cy="138926"/>
          </a:xfrm>
          <a:prstGeom prst="rect">
            <a:avLst/>
          </a:prstGeom>
          <a:solidFill>
            <a:srgbClr val="FBFBF9"/>
          </a:solidFill>
          <a:ln>
            <a:noFill/>
          </a:ln>
        </p:spPr>
      </p:pic>
      <p:sp>
        <p:nvSpPr>
          <p:cNvPr id="722" name="Google Shape;722;p39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40" title="Slides dump - merge to decks (3).png"/>
          <p:cNvPicPr preferRelativeResize="0"/>
          <p:nvPr/>
        </p:nvPicPr>
        <p:blipFill rotWithShape="1">
          <a:blip r:embed="rId3">
            <a:alphaModFix amt="28000"/>
          </a:blip>
          <a:srcRect b="0" l="29474" r="1854" t="0"/>
          <a:stretch/>
        </p:blipFill>
        <p:spPr>
          <a:xfrm>
            <a:off x="-462319" y="11625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729" name="Google Shape;729;p40" title="Slides dump - merge to decks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40" title="Slides dump - merge to decks (3).png"/>
          <p:cNvPicPr preferRelativeResize="0"/>
          <p:nvPr/>
        </p:nvPicPr>
        <p:blipFill rotWithShape="1">
          <a:blip r:embed="rId3">
            <a:alphaModFix amt="28000"/>
          </a:blip>
          <a:srcRect b="64096" l="29474" r="1854" t="0"/>
          <a:stretch/>
        </p:blipFill>
        <p:spPr>
          <a:xfrm>
            <a:off x="4245363" y="4039213"/>
            <a:ext cx="4876349" cy="1422862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731" name="Google Shape;731;p40" title="Slides dump - merge to decks (3).png"/>
          <p:cNvPicPr preferRelativeResize="0"/>
          <p:nvPr/>
        </p:nvPicPr>
        <p:blipFill rotWithShape="1">
          <a:blip r:embed="rId3">
            <a:alphaModFix amt="28000"/>
          </a:blip>
          <a:srcRect b="64096" l="29474" r="1854" t="0"/>
          <a:stretch/>
        </p:blipFill>
        <p:spPr>
          <a:xfrm>
            <a:off x="-757987" y="4050838"/>
            <a:ext cx="4876349" cy="1422862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cxnSp>
        <p:nvCxnSpPr>
          <p:cNvPr id="732" name="Google Shape;732;p40"/>
          <p:cNvCxnSpPr/>
          <p:nvPr/>
        </p:nvCxnSpPr>
        <p:spPr>
          <a:xfrm>
            <a:off x="422550" y="4686725"/>
            <a:ext cx="8298900" cy="0"/>
          </a:xfrm>
          <a:prstGeom prst="straightConnector1">
            <a:avLst/>
          </a:prstGeom>
          <a:noFill/>
          <a:ln cap="flat" cmpd="sng" w="4775">
            <a:solidFill>
              <a:srgbClr val="2565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40"/>
          <p:cNvSpPr txBox="1"/>
          <p:nvPr/>
        </p:nvSpPr>
        <p:spPr>
          <a:xfrm>
            <a:off x="422550" y="4729700"/>
            <a:ext cx="2232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0CEC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85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34" name="Google Shape;734;p40"/>
          <p:cNvSpPr txBox="1"/>
          <p:nvPr/>
        </p:nvSpPr>
        <p:spPr>
          <a:xfrm>
            <a:off x="4149900" y="4729700"/>
            <a:ext cx="844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D0CEC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furtherai.com</a:t>
            </a:r>
            <a:endParaRPr sz="85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35" name="Google Shape;735;p40"/>
          <p:cNvSpPr txBox="1"/>
          <p:nvPr/>
        </p:nvSpPr>
        <p:spPr>
          <a:xfrm>
            <a:off x="443827" y="523725"/>
            <a:ext cx="4477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is transforming how insurance works. </a:t>
            </a:r>
            <a:endParaRPr sz="155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But the question for insurers is:</a:t>
            </a:r>
            <a:endParaRPr sz="155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736" name="Google Shape;736;p40" title="Slides dump - merge to decks (18).png"/>
          <p:cNvPicPr preferRelativeResize="0"/>
          <p:nvPr/>
        </p:nvPicPr>
        <p:blipFill rotWithShape="1">
          <a:blip r:embed="rId5">
            <a:alphaModFix amt="50000"/>
          </a:blip>
          <a:srcRect b="35266" l="37905" r="37676" t="39424"/>
          <a:stretch/>
        </p:blipFill>
        <p:spPr>
          <a:xfrm>
            <a:off x="4270775" y="2685650"/>
            <a:ext cx="2904725" cy="169339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0"/>
          <p:cNvSpPr txBox="1"/>
          <p:nvPr/>
        </p:nvSpPr>
        <p:spPr>
          <a:xfrm>
            <a:off x="3419213" y="2442313"/>
            <a:ext cx="5323500" cy="1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5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How do we unlock </a:t>
            </a:r>
            <a:r>
              <a:rPr i="1" lang="en-US" sz="4150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millions</a:t>
            </a:r>
            <a:r>
              <a:rPr lang="en-US" sz="415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 in value </a:t>
            </a:r>
            <a:endParaRPr sz="415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5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with AI?</a:t>
            </a:r>
            <a:endParaRPr sz="415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738" name="Google Shape;738;p40" title="FAI png (1).png"/>
          <p:cNvPicPr preferRelativeResize="0"/>
          <p:nvPr/>
        </p:nvPicPr>
        <p:blipFill rotWithShape="1">
          <a:blip r:embed="rId6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40" title="Slides dump - merge to decks (3).png"/>
          <p:cNvPicPr preferRelativeResize="0"/>
          <p:nvPr/>
        </p:nvPicPr>
        <p:blipFill rotWithShape="1">
          <a:blip r:embed="rId3">
            <a:alphaModFix amt="28000"/>
          </a:blip>
          <a:srcRect b="0" l="29474" r="1854" t="0"/>
          <a:stretch/>
        </p:blipFill>
        <p:spPr>
          <a:xfrm>
            <a:off x="4388631" y="0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id="740" name="Google Shape;740;p40" title="Slides dump - merge to decks (3).png"/>
          <p:cNvPicPr preferRelativeResize="0"/>
          <p:nvPr/>
        </p:nvPicPr>
        <p:blipFill rotWithShape="1">
          <a:blip r:embed="rId3">
            <a:alphaModFix amt="28000"/>
          </a:blip>
          <a:srcRect b="0" l="29474" r="1854" t="0"/>
          <a:stretch/>
        </p:blipFill>
        <p:spPr>
          <a:xfrm>
            <a:off x="-259569" y="0"/>
            <a:ext cx="4733083" cy="3963011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sp>
        <p:nvSpPr>
          <p:cNvPr id="741" name="Google Shape;741;p40"/>
          <p:cNvSpPr txBox="1"/>
          <p:nvPr>
            <p:ph idx="12" type="sldNum"/>
          </p:nvPr>
        </p:nvSpPr>
        <p:spPr>
          <a:xfrm>
            <a:off x="7880250" y="4729700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50">
                <a:solidFill>
                  <a:srgbClr val="D0CEC3"/>
                </a:solidFill>
              </a:rPr>
              <a:t>‹#›</a:t>
            </a:fld>
            <a:endParaRPr sz="850">
              <a:solidFill>
                <a:srgbClr val="D0CEC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3EF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7" name="Google Shape;747;p41"/>
          <p:cNvCxnSpPr/>
          <p:nvPr/>
        </p:nvCxnSpPr>
        <p:spPr>
          <a:xfrm flipH="1" rot="10800000">
            <a:off x="150900" y="4683125"/>
            <a:ext cx="8842200" cy="3600"/>
          </a:xfrm>
          <a:prstGeom prst="straightConnector1">
            <a:avLst/>
          </a:prstGeom>
          <a:noFill/>
          <a:ln cap="flat" cmpd="sng" w="4775">
            <a:solidFill>
              <a:srgbClr val="D0CEC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41"/>
          <p:cNvSpPr txBox="1"/>
          <p:nvPr/>
        </p:nvSpPr>
        <p:spPr>
          <a:xfrm>
            <a:off x="561725" y="482200"/>
            <a:ext cx="59610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5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We provide a different approach</a:t>
            </a:r>
            <a:endParaRPr sz="5100">
              <a:solidFill>
                <a:schemeClr val="dk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749" name="Google Shape;749;p41"/>
          <p:cNvSpPr txBox="1"/>
          <p:nvPr/>
        </p:nvSpPr>
        <p:spPr>
          <a:xfrm>
            <a:off x="716975" y="1485138"/>
            <a:ext cx="14289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B2D3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Start with one workflow</a:t>
            </a:r>
            <a:endParaRPr sz="1050">
              <a:solidFill>
                <a:srgbClr val="2B2D3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50" name="Google Shape;750;p41"/>
          <p:cNvSpPr txBox="1"/>
          <p:nvPr/>
        </p:nvSpPr>
        <p:spPr>
          <a:xfrm>
            <a:off x="3771238" y="1463225"/>
            <a:ext cx="1428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B2D3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Preserve your systems</a:t>
            </a:r>
            <a:endParaRPr sz="1050">
              <a:solidFill>
                <a:srgbClr val="2B2D3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51" name="Google Shape;751;p41"/>
          <p:cNvSpPr txBox="1"/>
          <p:nvPr/>
        </p:nvSpPr>
        <p:spPr>
          <a:xfrm>
            <a:off x="6753663" y="1444400"/>
            <a:ext cx="142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B2D3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Expand as value compounds</a:t>
            </a:r>
            <a:endParaRPr sz="1050">
              <a:solidFill>
                <a:srgbClr val="2B2D3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pic>
        <p:nvPicPr>
          <p:cNvPr id="752" name="Google Shape;752;p41" title="Left panel - IT NY 26 (1).png"/>
          <p:cNvPicPr preferRelativeResize="0"/>
          <p:nvPr/>
        </p:nvPicPr>
        <p:blipFill rotWithShape="1">
          <a:blip r:embed="rId3">
            <a:alphaModFix/>
          </a:blip>
          <a:srcRect b="53791" l="18280" r="58059" t="33974"/>
          <a:stretch/>
        </p:blipFill>
        <p:spPr>
          <a:xfrm>
            <a:off x="803363" y="2625213"/>
            <a:ext cx="1428752" cy="88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1" title="Left panel - IT NY 26 (1).png"/>
          <p:cNvPicPr preferRelativeResize="0"/>
          <p:nvPr/>
        </p:nvPicPr>
        <p:blipFill rotWithShape="1">
          <a:blip r:embed="rId3">
            <a:alphaModFix/>
          </a:blip>
          <a:srcRect b="52714" l="16675" r="58228" t="32520"/>
          <a:stretch/>
        </p:blipFill>
        <p:spPr>
          <a:xfrm>
            <a:off x="6812356" y="2278356"/>
            <a:ext cx="1311365" cy="9283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4" name="Google Shape;754;p41"/>
          <p:cNvCxnSpPr/>
          <p:nvPr/>
        </p:nvCxnSpPr>
        <p:spPr>
          <a:xfrm>
            <a:off x="2236775" y="1665275"/>
            <a:ext cx="1335900" cy="120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1"/>
          <p:cNvCxnSpPr/>
          <p:nvPr/>
        </p:nvCxnSpPr>
        <p:spPr>
          <a:xfrm>
            <a:off x="5344869" y="1665275"/>
            <a:ext cx="1335900" cy="120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756" name="Google Shape;756;p41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254255" y="241050"/>
            <a:ext cx="672192" cy="15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1" title="Subtrac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0775" y="1620613"/>
            <a:ext cx="91050" cy="9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41" title="Subtrac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6701" y="1620613"/>
            <a:ext cx="91050" cy="9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41" title="Subtrac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575" y="1620613"/>
            <a:ext cx="91050" cy="9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41" title="Subtrac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6907" y="1620613"/>
            <a:ext cx="91050" cy="9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41" title="Integrations (1).png"/>
          <p:cNvPicPr preferRelativeResize="0"/>
          <p:nvPr/>
        </p:nvPicPr>
        <p:blipFill rotWithShape="1">
          <a:blip r:embed="rId6">
            <a:alphaModFix/>
          </a:blip>
          <a:srcRect b="0" l="15853" r="8800" t="0"/>
          <a:stretch/>
        </p:blipFill>
        <p:spPr>
          <a:xfrm>
            <a:off x="2779550" y="1755425"/>
            <a:ext cx="3535176" cy="293234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1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44433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763" name="Google Shape;763;p41" title="Container.png"/>
          <p:cNvPicPr preferRelativeResize="0"/>
          <p:nvPr/>
        </p:nvPicPr>
        <p:blipFill rotWithShape="1">
          <a:blip r:embed="rId7">
            <a:alphaModFix/>
          </a:blip>
          <a:srcRect b="9346" l="0" r="33240" t="0"/>
          <a:stretch/>
        </p:blipFill>
        <p:spPr>
          <a:xfrm>
            <a:off x="6159850" y="3206750"/>
            <a:ext cx="2616350" cy="813728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41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8625" y="224399"/>
            <a:ext cx="1037200" cy="2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42"/>
          <p:cNvSpPr txBox="1"/>
          <p:nvPr/>
        </p:nvSpPr>
        <p:spPr>
          <a:xfrm>
            <a:off x="512088" y="504576"/>
            <a:ext cx="8119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Proven Playbook | Top 5 Engagements</a:t>
            </a:r>
            <a:endParaRPr sz="2900">
              <a:solidFill>
                <a:srgbClr val="074B40"/>
              </a:solidFill>
              <a:latin typeface="Wix Madefor Display ExtraBold"/>
              <a:ea typeface="Wix Madefor Display ExtraBold"/>
              <a:cs typeface="Wix Madefor Display ExtraBold"/>
              <a:sym typeface="Wix Madefor Display ExtraBold"/>
            </a:endParaRPr>
          </a:p>
        </p:txBody>
      </p:sp>
      <p:graphicFrame>
        <p:nvGraphicFramePr>
          <p:cNvPr id="772" name="Google Shape;772;p42"/>
          <p:cNvGraphicFramePr/>
          <p:nvPr/>
        </p:nvGraphicFramePr>
        <p:xfrm>
          <a:off x="551175" y="12341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{FE2FBB0D-22F3-43D4-9186-071B2D20831D}</a:tableStyleId>
              </a:tblPr>
              <a:tblGrid>
                <a:gridCol w="1929650"/>
                <a:gridCol w="1958400"/>
                <a:gridCol w="2902750"/>
                <a:gridCol w="1250825"/>
              </a:tblGrid>
              <a:tr h="38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Company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Initial Workflow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Current Status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Expected Value In 12 months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F4F3EF"/>
                    </a:solidFill>
                  </a:tcPr>
                </a:tc>
              </a:tr>
              <a:tr h="4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Large Fronting Carrier 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Underwriting audit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Wix Madefor Display"/>
                        <a:buChar char="+"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Policy</a:t>
                      </a: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 Audit, Submissions Processing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5654F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$9M</a:t>
                      </a:r>
                      <a:endParaRPr b="1" sz="1100">
                        <a:solidFill>
                          <a:srgbClr val="25654F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Top-5 Carrier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SOV Mapping (Large commercial property)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Wix Madefor Display"/>
                        <a:buChar char="+"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E&amp;S Submissions, Surety Bond Intake, Financial Statement Processing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5654F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$35M</a:t>
                      </a:r>
                      <a:endParaRPr b="1" sz="1100">
                        <a:solidFill>
                          <a:srgbClr val="25654F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MGA with &gt;$1B GWP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Commercial Property Submissions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Wix Madefor Display"/>
                        <a:buChar char="+"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Expansion across CGL, D&amp;O and Personal Lines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5654F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$19.5M</a:t>
                      </a:r>
                      <a:endParaRPr b="1" sz="1100">
                        <a:solidFill>
                          <a:srgbClr val="25654F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Top-20 Broker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Policy comparison, Proposal Generation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Wix Madefor Display"/>
                        <a:buChar char="+"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Quote compare, loss analysis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5654F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$24M</a:t>
                      </a:r>
                      <a:endParaRPr b="1" sz="1100">
                        <a:solidFill>
                          <a:srgbClr val="25654F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Fortune 50 Insurer</a:t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Claims Intake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Wix Madefor Display"/>
                        <a:buChar char="+"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Submissions Processing, Claims Intake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5654F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$15M</a:t>
                      </a:r>
                      <a:endParaRPr b="1" sz="1100">
                        <a:solidFill>
                          <a:srgbClr val="25654F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Large E&amp;S Carrier</a:t>
                      </a:r>
                      <a:br>
                        <a:rPr b="1"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</a:br>
                      <a:endParaRPr b="1"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Submissions Ingestion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228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Wix Madefor Display"/>
                        <a:buChar char="+"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Appetite Check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5654F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$20M</a:t>
                      </a:r>
                      <a:endParaRPr b="1" sz="1100">
                        <a:solidFill>
                          <a:srgbClr val="25654F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4B4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3" name="Google Shape;773;p42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43" title="Slides dump - merge to decks (3).png"/>
          <p:cNvPicPr preferRelativeResize="0"/>
          <p:nvPr/>
        </p:nvPicPr>
        <p:blipFill rotWithShape="1">
          <a:blip r:embed="rId3">
            <a:alphaModFix amt="68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sp>
        <p:nvSpPr>
          <p:cNvPr id="780" name="Google Shape;780;p43"/>
          <p:cNvSpPr/>
          <p:nvPr/>
        </p:nvSpPr>
        <p:spPr>
          <a:xfrm>
            <a:off x="2222500" y="3757263"/>
            <a:ext cx="6466800" cy="547200"/>
          </a:xfrm>
          <a:prstGeom prst="roundRect">
            <a:avLst>
              <a:gd fmla="val 10606" name="adj"/>
            </a:avLst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781" name="Google Shape;781;p43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7957525" y="262188"/>
            <a:ext cx="877553" cy="250088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43"/>
          <p:cNvSpPr txBox="1"/>
          <p:nvPr/>
        </p:nvSpPr>
        <p:spPr>
          <a:xfrm>
            <a:off x="471050" y="353600"/>
            <a:ext cx="63699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5">
                <a:solidFill>
                  <a:srgbClr val="FBFBF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How FurtherAI Fits Your Stack</a:t>
            </a:r>
            <a:endParaRPr sz="2525">
              <a:solidFill>
                <a:srgbClr val="FBFBF9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783" name="Google Shape;783;p43"/>
          <p:cNvSpPr/>
          <p:nvPr/>
        </p:nvSpPr>
        <p:spPr>
          <a:xfrm>
            <a:off x="2222500" y="1284725"/>
            <a:ext cx="6466800" cy="547200"/>
          </a:xfrm>
          <a:prstGeom prst="roundRect">
            <a:avLst>
              <a:gd fmla="val 10606" name="adj"/>
            </a:avLst>
          </a:prstGeom>
          <a:solidFill>
            <a:schemeClr val="dk1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784" name="Google Shape;784;p43"/>
          <p:cNvSpPr txBox="1"/>
          <p:nvPr/>
        </p:nvSpPr>
        <p:spPr>
          <a:xfrm>
            <a:off x="2222498" y="1420331"/>
            <a:ext cx="1456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Underwriting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85" name="Google Shape;785;p43"/>
          <p:cNvSpPr txBox="1"/>
          <p:nvPr/>
        </p:nvSpPr>
        <p:spPr>
          <a:xfrm>
            <a:off x="3328794" y="1435736"/>
            <a:ext cx="16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Claims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86" name="Google Shape;786;p43"/>
          <p:cNvSpPr txBox="1"/>
          <p:nvPr/>
        </p:nvSpPr>
        <p:spPr>
          <a:xfrm>
            <a:off x="4427625" y="1435736"/>
            <a:ext cx="180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Admin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87" name="Google Shape;787;p43"/>
          <p:cNvSpPr txBox="1"/>
          <p:nvPr/>
        </p:nvSpPr>
        <p:spPr>
          <a:xfrm>
            <a:off x="5726844" y="1435736"/>
            <a:ext cx="176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Distribution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88" name="Google Shape;788;p43"/>
          <p:cNvSpPr txBox="1"/>
          <p:nvPr/>
        </p:nvSpPr>
        <p:spPr>
          <a:xfrm>
            <a:off x="7019256" y="1435736"/>
            <a:ext cx="176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Compliance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789" name="Google Shape;789;p43" title="Slides dump - merge to decks (7).png"/>
          <p:cNvPicPr preferRelativeResize="0"/>
          <p:nvPr/>
        </p:nvPicPr>
        <p:blipFill rotWithShape="1">
          <a:blip r:embed="rId5">
            <a:alphaModFix/>
          </a:blip>
          <a:srcRect b="39243" l="5465" r="7646" t="37226"/>
          <a:stretch/>
        </p:blipFill>
        <p:spPr>
          <a:xfrm>
            <a:off x="2119644" y="2261168"/>
            <a:ext cx="6588245" cy="1003668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3"/>
          <p:cNvSpPr txBox="1"/>
          <p:nvPr/>
        </p:nvSpPr>
        <p:spPr>
          <a:xfrm>
            <a:off x="2309923" y="2562900"/>
            <a:ext cx="145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Document 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Understanding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91" name="Google Shape;791;p43"/>
          <p:cNvSpPr txBox="1"/>
          <p:nvPr/>
        </p:nvSpPr>
        <p:spPr>
          <a:xfrm>
            <a:off x="3652426" y="2562900"/>
            <a:ext cx="12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Research </a:t>
            </a:r>
            <a:b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&amp; Analysis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92" name="Google Shape;792;p43"/>
          <p:cNvSpPr txBox="1"/>
          <p:nvPr/>
        </p:nvSpPr>
        <p:spPr>
          <a:xfrm>
            <a:off x="4608279" y="2562899"/>
            <a:ext cx="180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Multi-System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Reasoning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93" name="Google Shape;793;p43"/>
          <p:cNvSpPr txBox="1"/>
          <p:nvPr/>
        </p:nvSpPr>
        <p:spPr>
          <a:xfrm>
            <a:off x="5814360" y="2562899"/>
            <a:ext cx="176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Human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Judgement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94" name="Google Shape;794;p43"/>
          <p:cNvSpPr txBox="1"/>
          <p:nvPr/>
        </p:nvSpPr>
        <p:spPr>
          <a:xfrm>
            <a:off x="7021094" y="2562899"/>
            <a:ext cx="176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Autonomous</a:t>
            </a:r>
            <a:b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Execution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795" name="Google Shape;795;p43" title="FAI png (1).png"/>
          <p:cNvPicPr preferRelativeResize="0"/>
          <p:nvPr/>
        </p:nvPicPr>
        <p:blipFill rotWithShape="1">
          <a:blip r:embed="rId4">
            <a:alphaModFix/>
          </a:blip>
          <a:srcRect b="44204" l="0" r="77983" t="16819"/>
          <a:stretch/>
        </p:blipFill>
        <p:spPr>
          <a:xfrm>
            <a:off x="859138" y="2451600"/>
            <a:ext cx="628127" cy="62552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3"/>
          <p:cNvSpPr txBox="1"/>
          <p:nvPr/>
        </p:nvSpPr>
        <p:spPr>
          <a:xfrm>
            <a:off x="372726" y="3377238"/>
            <a:ext cx="1601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75">
              <a:solidFill>
                <a:srgbClr val="FBFBF9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97" name="Google Shape;797;p43"/>
          <p:cNvSpPr txBox="1"/>
          <p:nvPr/>
        </p:nvSpPr>
        <p:spPr>
          <a:xfrm>
            <a:off x="499844" y="3846688"/>
            <a:ext cx="1346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25">
                <a:solidFill>
                  <a:srgbClr val="FBFBF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Your Systems</a:t>
            </a:r>
            <a:endParaRPr i="1" sz="1325">
              <a:solidFill>
                <a:srgbClr val="FBFBF9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798" name="Google Shape;798;p43"/>
          <p:cNvSpPr txBox="1"/>
          <p:nvPr/>
        </p:nvSpPr>
        <p:spPr>
          <a:xfrm>
            <a:off x="2222498" y="3907713"/>
            <a:ext cx="1456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Policy Admin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799" name="Google Shape;799;p43"/>
          <p:cNvSpPr txBox="1"/>
          <p:nvPr/>
        </p:nvSpPr>
        <p:spPr>
          <a:xfrm>
            <a:off x="3328794" y="3907711"/>
            <a:ext cx="166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CRM/AMS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00" name="Google Shape;800;p43"/>
          <p:cNvSpPr txBox="1"/>
          <p:nvPr/>
        </p:nvSpPr>
        <p:spPr>
          <a:xfrm>
            <a:off x="4427625" y="3907711"/>
            <a:ext cx="180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Email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01" name="Google Shape;801;p43"/>
          <p:cNvSpPr txBox="1"/>
          <p:nvPr/>
        </p:nvSpPr>
        <p:spPr>
          <a:xfrm>
            <a:off x="5726844" y="3907711"/>
            <a:ext cx="176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Third Party Data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02" name="Google Shape;802;p43"/>
          <p:cNvSpPr txBox="1"/>
          <p:nvPr/>
        </p:nvSpPr>
        <p:spPr>
          <a:xfrm>
            <a:off x="7019256" y="3907711"/>
            <a:ext cx="176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File Stores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03" name="Google Shape;803;p43"/>
          <p:cNvSpPr txBox="1"/>
          <p:nvPr/>
        </p:nvSpPr>
        <p:spPr>
          <a:xfrm>
            <a:off x="499844" y="1390288"/>
            <a:ext cx="13467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25">
                <a:solidFill>
                  <a:srgbClr val="FBFBF9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Use Cases</a:t>
            </a:r>
            <a:endParaRPr i="1" sz="1325">
              <a:solidFill>
                <a:srgbClr val="FBFBF9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cxnSp>
        <p:nvCxnSpPr>
          <p:cNvPr id="804" name="Google Shape;804;p43"/>
          <p:cNvCxnSpPr>
            <a:stCxn id="784" idx="1"/>
            <a:endCxn id="803" idx="3"/>
          </p:cNvCxnSpPr>
          <p:nvPr/>
        </p:nvCxnSpPr>
        <p:spPr>
          <a:xfrm rot="10800000">
            <a:off x="1846598" y="1535981"/>
            <a:ext cx="375900" cy="750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3"/>
          <p:cNvCxnSpPr/>
          <p:nvPr/>
        </p:nvCxnSpPr>
        <p:spPr>
          <a:xfrm flipH="1" rot="-5400000">
            <a:off x="787194" y="2616888"/>
            <a:ext cx="2494800" cy="348000"/>
          </a:xfrm>
          <a:prstGeom prst="bentConnector3">
            <a:avLst>
              <a:gd fmla="val 99946" name="adj1"/>
            </a:avLst>
          </a:prstGeom>
          <a:noFill/>
          <a:ln cap="flat" cmpd="sng" w="9525">
            <a:solidFill>
              <a:srgbClr val="2565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3"/>
          <p:cNvCxnSpPr/>
          <p:nvPr/>
        </p:nvCxnSpPr>
        <p:spPr>
          <a:xfrm rot="10800000">
            <a:off x="1466412" y="2724462"/>
            <a:ext cx="741300" cy="900"/>
          </a:xfrm>
          <a:prstGeom prst="straightConnector1">
            <a:avLst/>
          </a:prstGeom>
          <a:noFill/>
          <a:ln cap="flat" cmpd="sng" w="9525">
            <a:solidFill>
              <a:srgbClr val="2565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43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08" name="Google Shape;808;p43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5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‹#›</a:t>
            </a:fld>
            <a:endParaRPr sz="650">
              <a:solidFill>
                <a:srgbClr val="FFFFFF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44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44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44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566300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817" name="Google Shape;817;p44"/>
          <p:cNvSpPr txBox="1"/>
          <p:nvPr/>
        </p:nvSpPr>
        <p:spPr>
          <a:xfrm>
            <a:off x="392325" y="643225"/>
            <a:ext cx="414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Multi-agent System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818" name="Google Shape;818;p44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4"/>
          <p:cNvSpPr/>
          <p:nvPr/>
        </p:nvSpPr>
        <p:spPr>
          <a:xfrm>
            <a:off x="6511558" y="3545639"/>
            <a:ext cx="1501200" cy="54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250">
            <a:solidFill>
              <a:srgbClr val="25654F"/>
            </a:solidFill>
            <a:prstDash val="dash"/>
            <a:round/>
            <a:headEnd len="sm" w="sm" type="none"/>
            <a:tailEnd len="sm" w="sm" type="none"/>
          </a:ln>
          <a:effectLst>
            <a:outerShdw blurRad="49498" rotWithShape="0" algn="bl" dir="5400000" dist="65998">
              <a:srgbClr val="000000">
                <a:alpha val="30000"/>
              </a:srgbClr>
            </a:outerShdw>
          </a:effectLst>
        </p:spPr>
        <p:txBody>
          <a:bodyPr anchorCtr="0" anchor="ctr" bIns="127075" lIns="127075" spcFirstLastPara="1" rIns="127075" wrap="square" tIns="12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Rating</a:t>
            </a:r>
            <a:endParaRPr sz="1186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186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20" name="Google Shape;820;p44"/>
          <p:cNvSpPr/>
          <p:nvPr/>
        </p:nvSpPr>
        <p:spPr>
          <a:xfrm>
            <a:off x="1120725" y="3545639"/>
            <a:ext cx="1501200" cy="54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250">
            <a:solidFill>
              <a:srgbClr val="25654F"/>
            </a:solidFill>
            <a:prstDash val="dash"/>
            <a:round/>
            <a:headEnd len="sm" w="sm" type="none"/>
            <a:tailEnd len="sm" w="sm" type="none"/>
          </a:ln>
          <a:effectLst>
            <a:outerShdw blurRad="49498" rotWithShape="0" algn="bl" dir="5400000" dist="74248">
              <a:srgbClr val="000000">
                <a:alpha val="30000"/>
              </a:srgbClr>
            </a:outerShdw>
          </a:effectLst>
        </p:spPr>
        <p:txBody>
          <a:bodyPr anchorCtr="0" anchor="ctr" bIns="127075" lIns="127075" spcFirstLastPara="1" rIns="127075" wrap="square" tIns="12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Inbox</a:t>
            </a:r>
            <a:endParaRPr sz="1186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1D4438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186">
              <a:solidFill>
                <a:srgbClr val="1D4438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21" name="Google Shape;821;p44"/>
          <p:cNvSpPr/>
          <p:nvPr/>
        </p:nvSpPr>
        <p:spPr>
          <a:xfrm>
            <a:off x="2917669" y="3545639"/>
            <a:ext cx="1501200" cy="54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250">
            <a:solidFill>
              <a:srgbClr val="25654F"/>
            </a:solidFill>
            <a:prstDash val="dash"/>
            <a:round/>
            <a:headEnd len="sm" w="sm" type="none"/>
            <a:tailEnd len="sm" w="sm" type="none"/>
          </a:ln>
          <a:effectLst>
            <a:outerShdw blurRad="49498" rotWithShape="0" algn="bl" dir="5400000" dist="65998">
              <a:srgbClr val="000000">
                <a:alpha val="30000"/>
              </a:srgbClr>
            </a:outerShdw>
          </a:effectLst>
        </p:spPr>
        <p:txBody>
          <a:bodyPr anchorCtr="0" anchor="ctr" bIns="127075" lIns="127075" spcFirstLastPara="1" rIns="127075" wrap="square" tIns="12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Intake</a:t>
            </a:r>
            <a:endParaRPr sz="1186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186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22" name="Google Shape;822;p44"/>
          <p:cNvSpPr/>
          <p:nvPr/>
        </p:nvSpPr>
        <p:spPr>
          <a:xfrm>
            <a:off x="4714614" y="3545639"/>
            <a:ext cx="1501200" cy="546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250">
            <a:solidFill>
              <a:srgbClr val="25654F"/>
            </a:solidFill>
            <a:prstDash val="lgDash"/>
            <a:round/>
            <a:headEnd len="sm" w="sm" type="none"/>
            <a:tailEnd len="sm" w="sm" type="none"/>
          </a:ln>
          <a:effectLst>
            <a:outerShdw blurRad="49498" rotWithShape="0" algn="bl" dir="5400000" dist="65998">
              <a:srgbClr val="000000">
                <a:alpha val="30000"/>
              </a:srgbClr>
            </a:outerShdw>
          </a:effectLst>
        </p:spPr>
        <p:txBody>
          <a:bodyPr anchorCtr="0" anchor="ctr" bIns="127075" lIns="127075" spcFirstLastPara="1" rIns="127075" wrap="square" tIns="12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Risk</a:t>
            </a:r>
            <a:endParaRPr sz="1186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6">
                <a:solidFill>
                  <a:srgbClr val="074B40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Workflow</a:t>
            </a:r>
            <a:endParaRPr sz="1186">
              <a:solidFill>
                <a:srgbClr val="074B40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pic>
        <p:nvPicPr>
          <p:cNvPr id="823" name="Google Shape;82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7023" y="2327272"/>
            <a:ext cx="1819443" cy="390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4" name="Google Shape;824;p44"/>
          <p:cNvCxnSpPr>
            <a:stCxn id="823" idx="2"/>
            <a:endCxn id="820" idx="0"/>
          </p:cNvCxnSpPr>
          <p:nvPr/>
        </p:nvCxnSpPr>
        <p:spPr>
          <a:xfrm rot="5400000">
            <a:off x="2804995" y="1783872"/>
            <a:ext cx="828000" cy="2695500"/>
          </a:xfrm>
          <a:prstGeom prst="bentConnector3">
            <a:avLst>
              <a:gd fmla="val 49995" name="adj1"/>
            </a:avLst>
          </a:prstGeom>
          <a:noFill/>
          <a:ln cap="flat" cmpd="sng" w="4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5" name="Google Shape;825;p44"/>
          <p:cNvCxnSpPr>
            <a:stCxn id="823" idx="2"/>
            <a:endCxn id="821" idx="0"/>
          </p:cNvCxnSpPr>
          <p:nvPr/>
        </p:nvCxnSpPr>
        <p:spPr>
          <a:xfrm rot="5400000">
            <a:off x="3703495" y="2682372"/>
            <a:ext cx="828000" cy="898500"/>
          </a:xfrm>
          <a:prstGeom prst="bentConnector3">
            <a:avLst>
              <a:gd fmla="val 49995" name="adj1"/>
            </a:avLst>
          </a:prstGeom>
          <a:noFill/>
          <a:ln cap="flat" cmpd="sng" w="4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6" name="Google Shape;826;p44"/>
          <p:cNvCxnSpPr>
            <a:stCxn id="823" idx="2"/>
            <a:endCxn id="822" idx="0"/>
          </p:cNvCxnSpPr>
          <p:nvPr/>
        </p:nvCxnSpPr>
        <p:spPr>
          <a:xfrm flipH="1" rot="-5400000">
            <a:off x="4601995" y="2682372"/>
            <a:ext cx="828000" cy="898500"/>
          </a:xfrm>
          <a:prstGeom prst="bentConnector3">
            <a:avLst>
              <a:gd fmla="val 49995" name="adj1"/>
            </a:avLst>
          </a:prstGeom>
          <a:noFill/>
          <a:ln cap="flat" cmpd="sng" w="4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44"/>
          <p:cNvCxnSpPr>
            <a:stCxn id="823" idx="2"/>
            <a:endCxn id="819" idx="0"/>
          </p:cNvCxnSpPr>
          <p:nvPr/>
        </p:nvCxnSpPr>
        <p:spPr>
          <a:xfrm flipH="1" rot="-5400000">
            <a:off x="5500495" y="1783872"/>
            <a:ext cx="828000" cy="2695500"/>
          </a:xfrm>
          <a:prstGeom prst="bentConnector3">
            <a:avLst>
              <a:gd fmla="val 49995" name="adj1"/>
            </a:avLst>
          </a:prstGeom>
          <a:noFill/>
          <a:ln cap="flat" cmpd="sng" w="41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8" name="Google Shape;828;p44"/>
          <p:cNvSpPr/>
          <p:nvPr/>
        </p:nvSpPr>
        <p:spPr>
          <a:xfrm>
            <a:off x="3499932" y="2213550"/>
            <a:ext cx="2079300" cy="610200"/>
          </a:xfrm>
          <a:prstGeom prst="roundRect">
            <a:avLst>
              <a:gd fmla="val 14811" name="adj"/>
            </a:avLst>
          </a:prstGeom>
          <a:solidFill>
            <a:schemeClr val="lt1"/>
          </a:solidFill>
          <a:ln cap="flat" cmpd="sng" w="8250">
            <a:solidFill>
              <a:srgbClr val="25654F"/>
            </a:solidFill>
            <a:prstDash val="solid"/>
            <a:round/>
            <a:headEnd len="sm" w="sm" type="none"/>
            <a:tailEnd len="sm" w="sm" type="none"/>
          </a:ln>
          <a:effectLst>
            <a:outerShdw blurRad="49498" rotWithShape="0" algn="bl" dir="5400000" dist="16499">
              <a:srgbClr val="000000">
                <a:alpha val="30000"/>
              </a:srgbClr>
            </a:outerShdw>
          </a:effectLst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3"/>
          </a:p>
        </p:txBody>
      </p:sp>
      <p:cxnSp>
        <p:nvCxnSpPr>
          <p:cNvPr id="829" name="Google Shape;829;p44"/>
          <p:cNvCxnSpPr>
            <a:stCxn id="820" idx="3"/>
            <a:endCxn id="821" idx="1"/>
          </p:cNvCxnSpPr>
          <p:nvPr/>
        </p:nvCxnSpPr>
        <p:spPr>
          <a:xfrm>
            <a:off x="2621925" y="3818939"/>
            <a:ext cx="295800" cy="0"/>
          </a:xfrm>
          <a:prstGeom prst="straightConnector1">
            <a:avLst/>
          </a:prstGeom>
          <a:noFill/>
          <a:ln cap="flat" cmpd="sng" w="52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0" name="Google Shape;830;p44"/>
          <p:cNvCxnSpPr>
            <a:stCxn id="821" idx="3"/>
            <a:endCxn id="822" idx="1"/>
          </p:cNvCxnSpPr>
          <p:nvPr/>
        </p:nvCxnSpPr>
        <p:spPr>
          <a:xfrm>
            <a:off x="4418869" y="3818939"/>
            <a:ext cx="295800" cy="0"/>
          </a:xfrm>
          <a:prstGeom prst="straightConnector1">
            <a:avLst/>
          </a:prstGeom>
          <a:noFill/>
          <a:ln cap="flat" cmpd="sng" w="52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1" name="Google Shape;831;p44"/>
          <p:cNvCxnSpPr>
            <a:stCxn id="822" idx="3"/>
            <a:endCxn id="819" idx="1"/>
          </p:cNvCxnSpPr>
          <p:nvPr/>
        </p:nvCxnSpPr>
        <p:spPr>
          <a:xfrm>
            <a:off x="6215814" y="3818939"/>
            <a:ext cx="295800" cy="0"/>
          </a:xfrm>
          <a:prstGeom prst="straightConnector1">
            <a:avLst/>
          </a:prstGeom>
          <a:noFill/>
          <a:ln cap="flat" cmpd="sng" w="52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832" name="Google Shape;832;p44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3788997" y="2346480"/>
            <a:ext cx="1501324" cy="344477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44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34" name="Google Shape;834;p44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45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5"/>
          <p:cNvSpPr/>
          <p:nvPr/>
        </p:nvSpPr>
        <p:spPr>
          <a:xfrm>
            <a:off x="581025" y="3128099"/>
            <a:ext cx="873900" cy="8739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89175" lIns="89175" spcFirstLastPara="1" rIns="89175" wrap="square" tIns="89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Inbox</a:t>
            </a:r>
            <a:endParaRPr b="1" sz="78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</a:t>
            </a:r>
            <a:endParaRPr b="1" sz="78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2" name="Google Shape;842;p45"/>
          <p:cNvSpPr/>
          <p:nvPr/>
        </p:nvSpPr>
        <p:spPr>
          <a:xfrm>
            <a:off x="7808773" y="3128050"/>
            <a:ext cx="873900" cy="8739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89175" lIns="89175" spcFirstLastPara="1" rIns="89175" wrap="square" tIns="89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Intake Agent</a:t>
            </a:r>
            <a:endParaRPr b="1" sz="78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3" name="Google Shape;843;p45"/>
          <p:cNvSpPr/>
          <p:nvPr/>
        </p:nvSpPr>
        <p:spPr>
          <a:xfrm>
            <a:off x="1843051" y="2146875"/>
            <a:ext cx="1068300" cy="2967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69000" lIns="69000" spcFirstLastPara="1" rIns="69000" wrap="square" tIns="6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Email</a:t>
            </a:r>
            <a:endParaRPr b="1" sz="78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844" name="Google Shape;844;p45"/>
          <p:cNvCxnSpPr>
            <a:endCxn id="845" idx="0"/>
          </p:cNvCxnSpPr>
          <p:nvPr/>
        </p:nvCxnSpPr>
        <p:spPr>
          <a:xfrm>
            <a:off x="2377137" y="2438399"/>
            <a:ext cx="0" cy="689700"/>
          </a:xfrm>
          <a:prstGeom prst="straightConnector1">
            <a:avLst/>
          </a:prstGeom>
          <a:noFill/>
          <a:ln cap="flat" cmpd="sng" w="72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" name="Google Shape;846;p45"/>
          <p:cNvSpPr/>
          <p:nvPr/>
        </p:nvSpPr>
        <p:spPr>
          <a:xfrm>
            <a:off x="3299358" y="3369961"/>
            <a:ext cx="1089900" cy="39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000" lIns="69000" spcFirstLastPara="1" rIns="69000" wrap="square" tIns="69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Process Email &amp; Attachment</a:t>
            </a:r>
            <a:endParaRPr b="1" sz="78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7" name="Google Shape;847;p45"/>
          <p:cNvSpPr/>
          <p:nvPr/>
        </p:nvSpPr>
        <p:spPr>
          <a:xfrm>
            <a:off x="6233646" y="2944520"/>
            <a:ext cx="1089900" cy="39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000" lIns="69000" spcFirstLastPara="1" rIns="69000" wrap="square" tIns="69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Start new workflow</a:t>
            </a:r>
            <a:endParaRPr b="1" sz="78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8" name="Google Shape;848;p45"/>
          <p:cNvSpPr/>
          <p:nvPr/>
        </p:nvSpPr>
        <p:spPr>
          <a:xfrm>
            <a:off x="6233646" y="3795403"/>
            <a:ext cx="1089900" cy="39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000" lIns="69000" spcFirstLastPara="1" rIns="69000" wrap="square" tIns="69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Merge with existing</a:t>
            </a:r>
            <a:endParaRPr b="1" sz="78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49" name="Google Shape;849;p45"/>
          <p:cNvSpPr txBox="1"/>
          <p:nvPr/>
        </p:nvSpPr>
        <p:spPr>
          <a:xfrm>
            <a:off x="2807449" y="3206311"/>
            <a:ext cx="499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78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850" name="Google Shape;850;p45"/>
          <p:cNvCxnSpPr>
            <a:stCxn id="841" idx="3"/>
          </p:cNvCxnSpPr>
          <p:nvPr/>
        </p:nvCxnSpPr>
        <p:spPr>
          <a:xfrm>
            <a:off x="1454925" y="3565049"/>
            <a:ext cx="483900" cy="0"/>
          </a:xfrm>
          <a:prstGeom prst="straightConnector1">
            <a:avLst/>
          </a:prstGeom>
          <a:noFill/>
          <a:ln cap="flat" cmpd="sng" w="72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5" name="Google Shape;845;p45"/>
          <p:cNvSpPr/>
          <p:nvPr/>
        </p:nvSpPr>
        <p:spPr>
          <a:xfrm>
            <a:off x="1940187" y="3128099"/>
            <a:ext cx="873900" cy="873900"/>
          </a:xfrm>
          <a:prstGeom prst="ellipse">
            <a:avLst/>
          </a:prstGeom>
          <a:solidFill>
            <a:srgbClr val="D9EAD3"/>
          </a:solidFill>
          <a:ln cap="flat" cmpd="sng" w="9300">
            <a:solidFill>
              <a:srgbClr val="256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851" name="Google Shape;851;p45"/>
          <p:cNvCxnSpPr/>
          <p:nvPr/>
        </p:nvCxnSpPr>
        <p:spPr>
          <a:xfrm>
            <a:off x="5750527" y="3565148"/>
            <a:ext cx="211500" cy="0"/>
          </a:xfrm>
          <a:prstGeom prst="straightConnector1">
            <a:avLst/>
          </a:prstGeom>
          <a:noFill/>
          <a:ln cap="flat" cmpd="sng" w="930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5"/>
          <p:cNvCxnSpPr/>
          <p:nvPr/>
        </p:nvCxnSpPr>
        <p:spPr>
          <a:xfrm>
            <a:off x="5961297" y="3134634"/>
            <a:ext cx="0" cy="860700"/>
          </a:xfrm>
          <a:prstGeom prst="straightConnector1">
            <a:avLst/>
          </a:prstGeom>
          <a:noFill/>
          <a:ln cap="flat" cmpd="sng" w="930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45"/>
          <p:cNvCxnSpPr>
            <a:endCxn id="847" idx="1"/>
          </p:cNvCxnSpPr>
          <p:nvPr/>
        </p:nvCxnSpPr>
        <p:spPr>
          <a:xfrm>
            <a:off x="5957346" y="3139670"/>
            <a:ext cx="276300" cy="0"/>
          </a:xfrm>
          <a:prstGeom prst="straightConnector1">
            <a:avLst/>
          </a:prstGeom>
          <a:noFill/>
          <a:ln cap="flat" cmpd="sng" w="72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45"/>
          <p:cNvCxnSpPr>
            <a:endCxn id="848" idx="1"/>
          </p:cNvCxnSpPr>
          <p:nvPr/>
        </p:nvCxnSpPr>
        <p:spPr>
          <a:xfrm>
            <a:off x="5966946" y="3990553"/>
            <a:ext cx="266700" cy="0"/>
          </a:xfrm>
          <a:prstGeom prst="straightConnector1">
            <a:avLst/>
          </a:prstGeom>
          <a:noFill/>
          <a:ln cap="flat" cmpd="sng" w="72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45"/>
          <p:cNvCxnSpPr/>
          <p:nvPr/>
        </p:nvCxnSpPr>
        <p:spPr>
          <a:xfrm>
            <a:off x="7535264" y="3134634"/>
            <a:ext cx="0" cy="860700"/>
          </a:xfrm>
          <a:prstGeom prst="straightConnector1">
            <a:avLst/>
          </a:prstGeom>
          <a:noFill/>
          <a:ln cap="flat" cmpd="sng" w="930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45"/>
          <p:cNvSpPr txBox="1"/>
          <p:nvPr/>
        </p:nvSpPr>
        <p:spPr>
          <a:xfrm>
            <a:off x="5683136" y="2824540"/>
            <a:ext cx="499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No</a:t>
            </a:r>
            <a:endParaRPr b="1" sz="780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57" name="Google Shape;857;p45"/>
          <p:cNvSpPr txBox="1"/>
          <p:nvPr/>
        </p:nvSpPr>
        <p:spPr>
          <a:xfrm>
            <a:off x="5643853" y="4292740"/>
            <a:ext cx="5784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3">
                <a:solidFill>
                  <a:srgbClr val="074B4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903">
              <a:solidFill>
                <a:srgbClr val="074B4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58" name="Google Shape;858;p45"/>
          <p:cNvSpPr txBox="1"/>
          <p:nvPr/>
        </p:nvSpPr>
        <p:spPr>
          <a:xfrm>
            <a:off x="3299358" y="3924430"/>
            <a:ext cx="10899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Classify</a:t>
            </a:r>
            <a:endParaRPr b="1" sz="78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Documents</a:t>
            </a:r>
            <a:endParaRPr b="1" sz="78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Extract Data</a:t>
            </a:r>
            <a:endParaRPr b="1" sz="78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Broker, Account Product, Date</a:t>
            </a:r>
            <a:endParaRPr b="1" sz="78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59" name="Google Shape;859;p45"/>
          <p:cNvSpPr txBox="1"/>
          <p:nvPr/>
        </p:nvSpPr>
        <p:spPr>
          <a:xfrm>
            <a:off x="1832207" y="3405175"/>
            <a:ext cx="10899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Is</a:t>
            </a:r>
            <a:endParaRPr b="1" sz="78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Submission?</a:t>
            </a:r>
            <a:endParaRPr b="1" sz="78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60" name="Google Shape;860;p45"/>
          <p:cNvSpPr/>
          <p:nvPr/>
        </p:nvSpPr>
        <p:spPr>
          <a:xfrm>
            <a:off x="4874474" y="3128099"/>
            <a:ext cx="873900" cy="873900"/>
          </a:xfrm>
          <a:prstGeom prst="ellipse">
            <a:avLst/>
          </a:prstGeom>
          <a:solidFill>
            <a:srgbClr val="D9EAD3"/>
          </a:solidFill>
          <a:ln cap="flat" cmpd="sng" w="9300">
            <a:solidFill>
              <a:srgbClr val="256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8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61" name="Google Shape;861;p45"/>
          <p:cNvSpPr txBox="1"/>
          <p:nvPr/>
        </p:nvSpPr>
        <p:spPr>
          <a:xfrm>
            <a:off x="4766493" y="3505158"/>
            <a:ext cx="10899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Follow-up?</a:t>
            </a:r>
            <a:endParaRPr b="1" sz="78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862" name="Google Shape;862;p45"/>
          <p:cNvCxnSpPr/>
          <p:nvPr/>
        </p:nvCxnSpPr>
        <p:spPr>
          <a:xfrm>
            <a:off x="2815362" y="3565148"/>
            <a:ext cx="483900" cy="0"/>
          </a:xfrm>
          <a:prstGeom prst="straightConnector1">
            <a:avLst/>
          </a:prstGeom>
          <a:noFill/>
          <a:ln cap="flat" cmpd="sng" w="72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45"/>
          <p:cNvCxnSpPr/>
          <p:nvPr/>
        </p:nvCxnSpPr>
        <p:spPr>
          <a:xfrm>
            <a:off x="4389938" y="3565148"/>
            <a:ext cx="483900" cy="0"/>
          </a:xfrm>
          <a:prstGeom prst="straightConnector1">
            <a:avLst/>
          </a:prstGeom>
          <a:noFill/>
          <a:ln cap="flat" cmpd="sng" w="72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4" name="Google Shape;864;p45"/>
          <p:cNvCxnSpPr/>
          <p:nvPr/>
        </p:nvCxnSpPr>
        <p:spPr>
          <a:xfrm>
            <a:off x="7323688" y="3139707"/>
            <a:ext cx="211500" cy="0"/>
          </a:xfrm>
          <a:prstGeom prst="straightConnector1">
            <a:avLst/>
          </a:prstGeom>
          <a:noFill/>
          <a:ln cap="flat" cmpd="sng" w="930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45"/>
          <p:cNvCxnSpPr/>
          <p:nvPr/>
        </p:nvCxnSpPr>
        <p:spPr>
          <a:xfrm>
            <a:off x="7323688" y="4002197"/>
            <a:ext cx="211500" cy="0"/>
          </a:xfrm>
          <a:prstGeom prst="straightConnector1">
            <a:avLst/>
          </a:prstGeom>
          <a:noFill/>
          <a:ln cap="flat" cmpd="sng" w="930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45"/>
          <p:cNvCxnSpPr/>
          <p:nvPr/>
        </p:nvCxnSpPr>
        <p:spPr>
          <a:xfrm>
            <a:off x="7538723" y="3565099"/>
            <a:ext cx="266700" cy="0"/>
          </a:xfrm>
          <a:prstGeom prst="straightConnector1">
            <a:avLst/>
          </a:prstGeom>
          <a:noFill/>
          <a:ln cap="flat" cmpd="sng" w="720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67" name="Google Shape;867;p45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45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566300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869" name="Google Shape;869;p45"/>
          <p:cNvSpPr txBox="1"/>
          <p:nvPr/>
        </p:nvSpPr>
        <p:spPr>
          <a:xfrm>
            <a:off x="392325" y="643225"/>
            <a:ext cx="281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Inbox Workflow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70" name="Google Shape;870;p45"/>
          <p:cNvSpPr txBox="1"/>
          <p:nvPr/>
        </p:nvSpPr>
        <p:spPr>
          <a:xfrm>
            <a:off x="382200" y="398525"/>
            <a:ext cx="8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00">
                <a:solidFill>
                  <a:srgbClr val="9E9E9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 #1</a:t>
            </a:r>
            <a:endParaRPr i="1" sz="100">
              <a:solidFill>
                <a:srgbClr val="9E9E9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71" name="Google Shape;871;p45"/>
          <p:cNvSpPr txBox="1"/>
          <p:nvPr/>
        </p:nvSpPr>
        <p:spPr>
          <a:xfrm>
            <a:off x="4167600" y="737225"/>
            <a:ext cx="430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7E6E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An agent that can identify submissions, extract key document data, and intelligently route new or existing cases to intake.</a:t>
            </a:r>
            <a:endParaRPr sz="100">
              <a:solidFill>
                <a:srgbClr val="E7E6E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872" name="Google Shape;872;p45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5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74" name="Google Shape;874;p45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46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46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46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566300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883" name="Google Shape;883;p46"/>
          <p:cNvSpPr txBox="1"/>
          <p:nvPr/>
        </p:nvSpPr>
        <p:spPr>
          <a:xfrm>
            <a:off x="392325" y="643225"/>
            <a:ext cx="281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Intake Workflow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884" name="Google Shape;884;p46"/>
          <p:cNvSpPr txBox="1"/>
          <p:nvPr/>
        </p:nvSpPr>
        <p:spPr>
          <a:xfrm>
            <a:off x="382200" y="398525"/>
            <a:ext cx="8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00">
                <a:solidFill>
                  <a:srgbClr val="9E9E9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 #2</a:t>
            </a:r>
            <a:endParaRPr i="1" sz="100">
              <a:solidFill>
                <a:srgbClr val="9E9E9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85" name="Google Shape;885;p46"/>
          <p:cNvSpPr txBox="1"/>
          <p:nvPr/>
        </p:nvSpPr>
        <p:spPr>
          <a:xfrm>
            <a:off x="4158075" y="643225"/>
            <a:ext cx="470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7E6E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An agent that validates submission completeness, processes core underwriting data, and screens against appetite rules before routing to risk assessment.</a:t>
            </a:r>
            <a:endParaRPr sz="100">
              <a:solidFill>
                <a:srgbClr val="E7E6E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886" name="Google Shape;886;p46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46"/>
          <p:cNvSpPr/>
          <p:nvPr/>
        </p:nvSpPr>
        <p:spPr>
          <a:xfrm>
            <a:off x="5592127" y="3355890"/>
            <a:ext cx="903600" cy="903600"/>
          </a:xfrm>
          <a:prstGeom prst="ellipse">
            <a:avLst/>
          </a:prstGeom>
          <a:solidFill>
            <a:srgbClr val="D9EAD3"/>
          </a:solidFill>
          <a:ln cap="flat" cmpd="sng" w="9600">
            <a:solidFill>
              <a:srgbClr val="256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88" name="Google Shape;888;p46"/>
          <p:cNvSpPr/>
          <p:nvPr/>
        </p:nvSpPr>
        <p:spPr>
          <a:xfrm>
            <a:off x="2662670" y="2417734"/>
            <a:ext cx="842400" cy="3069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 cap="flat" cmpd="sng" w="74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Email</a:t>
            </a:r>
            <a:endParaRPr b="1" sz="80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pSp>
        <p:nvGrpSpPr>
          <p:cNvPr id="889" name="Google Shape;889;p46"/>
          <p:cNvGrpSpPr/>
          <p:nvPr/>
        </p:nvGrpSpPr>
        <p:grpSpPr>
          <a:xfrm>
            <a:off x="2108031" y="3509003"/>
            <a:ext cx="903627" cy="903627"/>
            <a:chOff x="1822013" y="2695600"/>
            <a:chExt cx="896100" cy="896100"/>
          </a:xfrm>
        </p:grpSpPr>
        <p:sp>
          <p:nvSpPr>
            <p:cNvPr id="890" name="Google Shape;890;p46"/>
            <p:cNvSpPr/>
            <p:nvPr/>
          </p:nvSpPr>
          <p:spPr>
            <a:xfrm>
              <a:off x="1822013" y="2695600"/>
              <a:ext cx="896100" cy="896100"/>
            </a:xfrm>
            <a:prstGeom prst="ellipse">
              <a:avLst/>
            </a:prstGeom>
            <a:solidFill>
              <a:srgbClr val="D9EAD3"/>
            </a:solidFill>
            <a:ln cap="flat" cmpd="sng" w="9600">
              <a:solidFill>
                <a:srgbClr val="2565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endParaRPr>
            </a:p>
          </p:txBody>
        </p:sp>
        <p:sp>
          <p:nvSpPr>
            <p:cNvPr id="891" name="Google Shape;891;p46"/>
            <p:cNvSpPr/>
            <p:nvPr/>
          </p:nvSpPr>
          <p:spPr>
            <a:xfrm>
              <a:off x="1852319" y="2978098"/>
              <a:ext cx="835500" cy="3042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71300" lIns="71300" spcFirstLastPara="1" rIns="71300" wrap="square" tIns="713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7">
                  <a:latin typeface="Nunito"/>
                  <a:ea typeface="Nunito"/>
                  <a:cs typeface="Nunito"/>
                  <a:sym typeface="Nunito"/>
                </a:rPr>
                <a:t>Complete?</a:t>
              </a:r>
              <a:endParaRPr b="1" sz="807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cxnSp>
        <p:nvCxnSpPr>
          <p:cNvPr id="892" name="Google Shape;892;p46"/>
          <p:cNvCxnSpPr>
            <a:stCxn id="893" idx="2"/>
          </p:cNvCxnSpPr>
          <p:nvPr/>
        </p:nvCxnSpPr>
        <p:spPr>
          <a:xfrm flipH="1" rot="-5400000">
            <a:off x="1881902" y="2821976"/>
            <a:ext cx="784500" cy="589500"/>
          </a:xfrm>
          <a:prstGeom prst="bentConnector3">
            <a:avLst>
              <a:gd fmla="val 50000" name="adj1"/>
            </a:avLst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4" name="Google Shape;894;p46"/>
          <p:cNvCxnSpPr>
            <a:stCxn id="888" idx="2"/>
          </p:cNvCxnSpPr>
          <p:nvPr/>
        </p:nvCxnSpPr>
        <p:spPr>
          <a:xfrm rot="5400000">
            <a:off x="2434070" y="2859334"/>
            <a:ext cx="784500" cy="515100"/>
          </a:xfrm>
          <a:prstGeom prst="bentConnector3">
            <a:avLst>
              <a:gd fmla="val 50000" name="adj1"/>
            </a:avLst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5" name="Google Shape;895;p46"/>
          <p:cNvSpPr/>
          <p:nvPr/>
        </p:nvSpPr>
        <p:spPr>
          <a:xfrm>
            <a:off x="3996687" y="3608019"/>
            <a:ext cx="1113600" cy="30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4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Process Core Data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3987082" y="2999534"/>
            <a:ext cx="1113600" cy="30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4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Send Email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97" name="Google Shape;897;p46"/>
          <p:cNvSpPr/>
          <p:nvPr/>
        </p:nvSpPr>
        <p:spPr>
          <a:xfrm>
            <a:off x="2864337" y="3581319"/>
            <a:ext cx="8424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898" name="Google Shape;898;p46"/>
          <p:cNvCxnSpPr>
            <a:stCxn id="890" idx="6"/>
            <a:endCxn id="896" idx="1"/>
          </p:cNvCxnSpPr>
          <p:nvPr/>
        </p:nvCxnSpPr>
        <p:spPr>
          <a:xfrm flipH="1" rot="10800000">
            <a:off x="3011658" y="3152917"/>
            <a:ext cx="975300" cy="807900"/>
          </a:xfrm>
          <a:prstGeom prst="bentConnector3">
            <a:avLst>
              <a:gd fmla="val 50007" name="adj1"/>
            </a:avLst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9" name="Google Shape;899;p46"/>
          <p:cNvSpPr/>
          <p:nvPr/>
        </p:nvSpPr>
        <p:spPr>
          <a:xfrm>
            <a:off x="2886951" y="2999525"/>
            <a:ext cx="8424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No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00" name="Google Shape;900;p46"/>
          <p:cNvSpPr/>
          <p:nvPr/>
        </p:nvSpPr>
        <p:spPr>
          <a:xfrm>
            <a:off x="4045839" y="4026662"/>
            <a:ext cx="11136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LoB Specific Info</a:t>
            </a:r>
            <a:endParaRPr b="1" sz="807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01" name="Google Shape;901;p46"/>
          <p:cNvSpPr/>
          <p:nvPr/>
        </p:nvSpPr>
        <p:spPr>
          <a:xfrm>
            <a:off x="3729455" y="4174088"/>
            <a:ext cx="11136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7">
              <a:solidFill>
                <a:srgbClr val="9E9E9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02" name="Google Shape;902;p46"/>
          <p:cNvSpPr/>
          <p:nvPr/>
        </p:nvSpPr>
        <p:spPr>
          <a:xfrm>
            <a:off x="3981025" y="4219188"/>
            <a:ext cx="11136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Loss Run Data</a:t>
            </a:r>
            <a:endParaRPr b="1" sz="807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03" name="Google Shape;903;p46"/>
          <p:cNvSpPr/>
          <p:nvPr/>
        </p:nvSpPr>
        <p:spPr>
          <a:xfrm>
            <a:off x="3981025" y="4480839"/>
            <a:ext cx="11136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Account Details, Broker Details etc.</a:t>
            </a:r>
            <a:endParaRPr b="1" sz="807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04" name="Google Shape;904;p46"/>
          <p:cNvSpPr/>
          <p:nvPr/>
        </p:nvSpPr>
        <p:spPr>
          <a:xfrm>
            <a:off x="5622687" y="3654471"/>
            <a:ext cx="8424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Nunito"/>
                <a:ea typeface="Nunito"/>
                <a:cs typeface="Nunito"/>
                <a:sym typeface="Nunito"/>
              </a:rPr>
              <a:t>Appetite Check</a:t>
            </a:r>
            <a:endParaRPr b="1" sz="807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5" name="Google Shape;905;p46"/>
          <p:cNvSpPr/>
          <p:nvPr/>
        </p:nvSpPr>
        <p:spPr>
          <a:xfrm>
            <a:off x="5592132" y="2417734"/>
            <a:ext cx="842400" cy="3069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 cap="flat" cmpd="sng" w="74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Appetite Rules</a:t>
            </a:r>
            <a:endParaRPr b="1" sz="80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06" name="Google Shape;906;p46"/>
          <p:cNvSpPr/>
          <p:nvPr/>
        </p:nvSpPr>
        <p:spPr>
          <a:xfrm>
            <a:off x="6434660" y="3854371"/>
            <a:ext cx="8424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07" name="Google Shape;907;p46"/>
          <p:cNvCxnSpPr>
            <a:endCxn id="908" idx="1"/>
          </p:cNvCxnSpPr>
          <p:nvPr/>
        </p:nvCxnSpPr>
        <p:spPr>
          <a:xfrm flipH="1" rot="10800000">
            <a:off x="6504730" y="3046020"/>
            <a:ext cx="780900" cy="760800"/>
          </a:xfrm>
          <a:prstGeom prst="bentConnector3">
            <a:avLst>
              <a:gd fmla="val 50000" name="adj1"/>
            </a:avLst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9" name="Google Shape;909;p46"/>
          <p:cNvSpPr/>
          <p:nvPr/>
        </p:nvSpPr>
        <p:spPr>
          <a:xfrm>
            <a:off x="6319174" y="3112798"/>
            <a:ext cx="8424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No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10" name="Google Shape;910;p46"/>
          <p:cNvCxnSpPr>
            <a:stCxn id="905" idx="2"/>
          </p:cNvCxnSpPr>
          <p:nvPr/>
        </p:nvCxnSpPr>
        <p:spPr>
          <a:xfrm flipH="1">
            <a:off x="6013032" y="2724634"/>
            <a:ext cx="300" cy="588600"/>
          </a:xfrm>
          <a:prstGeom prst="straightConnector1">
            <a:avLst/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8" name="Google Shape;908;p46"/>
          <p:cNvSpPr/>
          <p:nvPr/>
        </p:nvSpPr>
        <p:spPr>
          <a:xfrm>
            <a:off x="7285630" y="2892570"/>
            <a:ext cx="1113600" cy="30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4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Send Email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1" name="Google Shape;911;p46"/>
          <p:cNvSpPr/>
          <p:nvPr/>
        </p:nvSpPr>
        <p:spPr>
          <a:xfrm>
            <a:off x="7285630" y="4569136"/>
            <a:ext cx="1113600" cy="30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4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latin typeface="Wix Madefor Display"/>
                <a:ea typeface="Wix Madefor Display"/>
                <a:cs typeface="Wix Madefor Display"/>
                <a:sym typeface="Wix Madefor Display"/>
              </a:rPr>
              <a:t>Push to Duck Creek</a:t>
            </a:r>
            <a:endParaRPr b="1" sz="807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12" name="Google Shape;912;p46"/>
          <p:cNvCxnSpPr>
            <a:stCxn id="887" idx="4"/>
            <a:endCxn id="911" idx="1"/>
          </p:cNvCxnSpPr>
          <p:nvPr/>
        </p:nvCxnSpPr>
        <p:spPr>
          <a:xfrm flipH="1" rot="-5400000">
            <a:off x="6433177" y="3870240"/>
            <a:ext cx="463200" cy="1241700"/>
          </a:xfrm>
          <a:prstGeom prst="bentConnector2">
            <a:avLst/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3" name="Google Shape;913;p46"/>
          <p:cNvSpPr/>
          <p:nvPr/>
        </p:nvSpPr>
        <p:spPr>
          <a:xfrm>
            <a:off x="2003071" y="4513662"/>
            <a:ext cx="1113600" cy="3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Check For Clearance</a:t>
            </a:r>
            <a:endParaRPr b="1" sz="807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4" name="Google Shape;914;p46"/>
          <p:cNvSpPr/>
          <p:nvPr/>
        </p:nvSpPr>
        <p:spPr>
          <a:xfrm>
            <a:off x="809625" y="3522526"/>
            <a:ext cx="903600" cy="9036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Intake</a:t>
            </a:r>
            <a:b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</a:t>
            </a:r>
            <a:endParaRPr b="1" sz="80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15" name="Google Shape;915;p46"/>
          <p:cNvSpPr/>
          <p:nvPr/>
        </p:nvSpPr>
        <p:spPr>
          <a:xfrm>
            <a:off x="7313772" y="3432427"/>
            <a:ext cx="903600" cy="9036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Risk</a:t>
            </a:r>
            <a:endParaRPr b="1" sz="80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</a:t>
            </a:r>
            <a:endParaRPr b="1" sz="80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893" name="Google Shape;893;p46"/>
          <p:cNvSpPr/>
          <p:nvPr/>
        </p:nvSpPr>
        <p:spPr>
          <a:xfrm>
            <a:off x="1527602" y="1820876"/>
            <a:ext cx="903600" cy="9036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92175" lIns="92175" spcFirstLastPara="1" rIns="92175" wrap="square" tIns="92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Inbox</a:t>
            </a:r>
            <a:b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b="1" lang="en-US" sz="807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</a:t>
            </a:r>
            <a:endParaRPr b="1" sz="807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16" name="Google Shape;916;p46"/>
          <p:cNvCxnSpPr/>
          <p:nvPr/>
        </p:nvCxnSpPr>
        <p:spPr>
          <a:xfrm>
            <a:off x="1713235" y="3999795"/>
            <a:ext cx="385200" cy="900"/>
          </a:xfrm>
          <a:prstGeom prst="straightConnector1">
            <a:avLst/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7" name="Google Shape;917;p46"/>
          <p:cNvCxnSpPr>
            <a:endCxn id="895" idx="1"/>
          </p:cNvCxnSpPr>
          <p:nvPr/>
        </p:nvCxnSpPr>
        <p:spPr>
          <a:xfrm>
            <a:off x="3491487" y="3761169"/>
            <a:ext cx="505200" cy="300"/>
          </a:xfrm>
          <a:prstGeom prst="straightConnector1">
            <a:avLst/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8" name="Google Shape;918;p46"/>
          <p:cNvCxnSpPr/>
          <p:nvPr/>
        </p:nvCxnSpPr>
        <p:spPr>
          <a:xfrm flipH="1" rot="10800000">
            <a:off x="5119902" y="3757959"/>
            <a:ext cx="470400" cy="3300"/>
          </a:xfrm>
          <a:prstGeom prst="straightConnector1">
            <a:avLst/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9" name="Google Shape;919;p46"/>
          <p:cNvCxnSpPr/>
          <p:nvPr/>
        </p:nvCxnSpPr>
        <p:spPr>
          <a:xfrm flipH="1" rot="10800000">
            <a:off x="6845643" y="3803337"/>
            <a:ext cx="470400" cy="3300"/>
          </a:xfrm>
          <a:prstGeom prst="straightConnector1">
            <a:avLst/>
          </a:prstGeom>
          <a:noFill/>
          <a:ln cap="flat" cmpd="sng" w="4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0" name="Google Shape;920;p46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21" name="Google Shape;921;p46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47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47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47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566300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930" name="Google Shape;930;p47"/>
          <p:cNvSpPr txBox="1"/>
          <p:nvPr/>
        </p:nvSpPr>
        <p:spPr>
          <a:xfrm>
            <a:off x="392325" y="643225"/>
            <a:ext cx="281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Risk</a:t>
            </a: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 Workflow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931" name="Google Shape;931;p47"/>
          <p:cNvSpPr txBox="1"/>
          <p:nvPr/>
        </p:nvSpPr>
        <p:spPr>
          <a:xfrm>
            <a:off x="382200" y="398525"/>
            <a:ext cx="8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00">
                <a:solidFill>
                  <a:srgbClr val="9E9E9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 #3</a:t>
            </a:r>
            <a:endParaRPr i="1" sz="100">
              <a:solidFill>
                <a:srgbClr val="9E9E9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2" name="Google Shape;932;p47"/>
          <p:cNvSpPr txBox="1"/>
          <p:nvPr/>
        </p:nvSpPr>
        <p:spPr>
          <a:xfrm>
            <a:off x="4158075" y="643225"/>
            <a:ext cx="470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7E6E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An agent that performs OFAC and legal compliance checks, triages flagged submissions, and screens against underwriting guidelines to qualify cases for the Rating Agent.</a:t>
            </a:r>
            <a:endParaRPr sz="100">
              <a:solidFill>
                <a:srgbClr val="E7E6E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933" name="Google Shape;933;p47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47"/>
          <p:cNvSpPr/>
          <p:nvPr/>
        </p:nvSpPr>
        <p:spPr>
          <a:xfrm>
            <a:off x="466725" y="3190900"/>
            <a:ext cx="896100" cy="8961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Risk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5" name="Google Shape;935;p47"/>
          <p:cNvSpPr/>
          <p:nvPr/>
        </p:nvSpPr>
        <p:spPr>
          <a:xfrm>
            <a:off x="7876475" y="3190850"/>
            <a:ext cx="896100" cy="8961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Rating 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6" name="Google Shape;936;p47"/>
          <p:cNvSpPr/>
          <p:nvPr/>
        </p:nvSpPr>
        <p:spPr>
          <a:xfrm>
            <a:off x="2262763" y="3189850"/>
            <a:ext cx="898200" cy="898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Compliance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7" name="Google Shape;937;p47"/>
          <p:cNvSpPr/>
          <p:nvPr/>
        </p:nvSpPr>
        <p:spPr>
          <a:xfrm>
            <a:off x="4060900" y="3488050"/>
            <a:ext cx="1117500" cy="30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3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Triage Score</a:t>
            </a:r>
            <a:endParaRPr b="1"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38" name="Google Shape;938;p47"/>
          <p:cNvSpPr/>
          <p:nvPr/>
        </p:nvSpPr>
        <p:spPr>
          <a:xfrm>
            <a:off x="6078338" y="3189850"/>
            <a:ext cx="898200" cy="898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2B2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Guideline Check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39" name="Google Shape;939;p47"/>
          <p:cNvCxnSpPr/>
          <p:nvPr/>
        </p:nvCxnSpPr>
        <p:spPr>
          <a:xfrm>
            <a:off x="3160963" y="3638950"/>
            <a:ext cx="9000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47"/>
          <p:cNvCxnSpPr/>
          <p:nvPr/>
        </p:nvCxnSpPr>
        <p:spPr>
          <a:xfrm>
            <a:off x="1362825" y="3638950"/>
            <a:ext cx="9000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47"/>
          <p:cNvCxnSpPr/>
          <p:nvPr/>
        </p:nvCxnSpPr>
        <p:spPr>
          <a:xfrm>
            <a:off x="5178400" y="3638950"/>
            <a:ext cx="9000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47"/>
          <p:cNvCxnSpPr/>
          <p:nvPr/>
        </p:nvCxnSpPr>
        <p:spPr>
          <a:xfrm>
            <a:off x="6976475" y="3638950"/>
            <a:ext cx="9000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3" name="Google Shape;943;p47"/>
          <p:cNvSpPr/>
          <p:nvPr/>
        </p:nvSpPr>
        <p:spPr>
          <a:xfrm>
            <a:off x="4060900" y="2949844"/>
            <a:ext cx="1117500" cy="30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3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Send Email</a:t>
            </a:r>
            <a:endParaRPr b="1"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44" name="Google Shape;944;p47"/>
          <p:cNvCxnSpPr/>
          <p:nvPr/>
        </p:nvCxnSpPr>
        <p:spPr>
          <a:xfrm>
            <a:off x="3610625" y="3100750"/>
            <a:ext cx="4506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47"/>
          <p:cNvCxnSpPr/>
          <p:nvPr/>
        </p:nvCxnSpPr>
        <p:spPr>
          <a:xfrm rot="10800000">
            <a:off x="3610963" y="3098075"/>
            <a:ext cx="0" cy="546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47"/>
          <p:cNvSpPr txBox="1"/>
          <p:nvPr/>
        </p:nvSpPr>
        <p:spPr>
          <a:xfrm>
            <a:off x="3098583" y="3271081"/>
            <a:ext cx="51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No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47" name="Google Shape;947;p47"/>
          <p:cNvSpPr txBox="1"/>
          <p:nvPr/>
        </p:nvSpPr>
        <p:spPr>
          <a:xfrm>
            <a:off x="3098583" y="3839691"/>
            <a:ext cx="51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48" name="Google Shape;948;p47"/>
          <p:cNvSpPr txBox="1"/>
          <p:nvPr/>
        </p:nvSpPr>
        <p:spPr>
          <a:xfrm>
            <a:off x="2153113" y="4232836"/>
            <a:ext cx="11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OFAC Check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Legal Check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49" name="Google Shape;949;p47"/>
          <p:cNvSpPr/>
          <p:nvPr/>
        </p:nvSpPr>
        <p:spPr>
          <a:xfrm>
            <a:off x="1581671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Inbox 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50" name="Google Shape;950;p47"/>
          <p:cNvCxnSpPr/>
          <p:nvPr/>
        </p:nvCxnSpPr>
        <p:spPr>
          <a:xfrm flipH="1">
            <a:off x="2711863" y="2748850"/>
            <a:ext cx="1200" cy="44100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1" name="Google Shape;951;p47"/>
          <p:cNvSpPr/>
          <p:nvPr/>
        </p:nvSpPr>
        <p:spPr>
          <a:xfrm>
            <a:off x="2746786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Email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52" name="Google Shape;952;p47"/>
          <p:cNvCxnSpPr/>
          <p:nvPr/>
        </p:nvCxnSpPr>
        <p:spPr>
          <a:xfrm>
            <a:off x="962375" y="2753825"/>
            <a:ext cx="3492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47"/>
          <p:cNvCxnSpPr/>
          <p:nvPr/>
        </p:nvCxnSpPr>
        <p:spPr>
          <a:xfrm>
            <a:off x="2129321" y="249012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47"/>
          <p:cNvCxnSpPr/>
          <p:nvPr/>
        </p:nvCxnSpPr>
        <p:spPr>
          <a:xfrm>
            <a:off x="3294433" y="248917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5" name="Google Shape;955;p47"/>
          <p:cNvSpPr/>
          <p:nvPr/>
        </p:nvSpPr>
        <p:spPr>
          <a:xfrm>
            <a:off x="3911886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Appetite Rules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56" name="Google Shape;956;p47"/>
          <p:cNvSpPr/>
          <p:nvPr/>
        </p:nvSpPr>
        <p:spPr>
          <a:xfrm>
            <a:off x="416571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Intake 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57" name="Google Shape;957;p47"/>
          <p:cNvCxnSpPr/>
          <p:nvPr/>
        </p:nvCxnSpPr>
        <p:spPr>
          <a:xfrm rot="10800000">
            <a:off x="7426463" y="2840075"/>
            <a:ext cx="0" cy="8043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47"/>
          <p:cNvCxnSpPr/>
          <p:nvPr/>
        </p:nvCxnSpPr>
        <p:spPr>
          <a:xfrm>
            <a:off x="7426475" y="2839575"/>
            <a:ext cx="4506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9" name="Google Shape;959;p47"/>
          <p:cNvSpPr txBox="1"/>
          <p:nvPr/>
        </p:nvSpPr>
        <p:spPr>
          <a:xfrm>
            <a:off x="6940540" y="3271081"/>
            <a:ext cx="51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No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60" name="Google Shape;960;p47"/>
          <p:cNvSpPr txBox="1"/>
          <p:nvPr/>
        </p:nvSpPr>
        <p:spPr>
          <a:xfrm>
            <a:off x="6940540" y="3839691"/>
            <a:ext cx="51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Yes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61" name="Google Shape;961;p47"/>
          <p:cNvSpPr/>
          <p:nvPr/>
        </p:nvSpPr>
        <p:spPr>
          <a:xfrm>
            <a:off x="5979811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Guidelines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62" name="Google Shape;962;p47"/>
          <p:cNvCxnSpPr>
            <a:stCxn id="961" idx="2"/>
          </p:cNvCxnSpPr>
          <p:nvPr/>
        </p:nvCxnSpPr>
        <p:spPr>
          <a:xfrm flipH="1">
            <a:off x="6526261" y="2489178"/>
            <a:ext cx="1200" cy="70080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3" name="Google Shape;963;p47"/>
          <p:cNvCxnSpPr/>
          <p:nvPr/>
        </p:nvCxnSpPr>
        <p:spPr>
          <a:xfrm>
            <a:off x="4459533" y="248917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47"/>
          <p:cNvCxnSpPr/>
          <p:nvPr/>
        </p:nvCxnSpPr>
        <p:spPr>
          <a:xfrm>
            <a:off x="964221" y="249012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5" name="Google Shape;965;p47"/>
          <p:cNvSpPr/>
          <p:nvPr/>
        </p:nvSpPr>
        <p:spPr>
          <a:xfrm>
            <a:off x="7876475" y="2688675"/>
            <a:ext cx="896100" cy="30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3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Update summary</a:t>
            </a:r>
            <a:endParaRPr b="1"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66" name="Google Shape;966;p47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67" name="Google Shape;967;p47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48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195521" y="152400"/>
            <a:ext cx="664428" cy="18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48" title="Green FAI (Transparent).png"/>
          <p:cNvPicPr preferRelativeResize="0"/>
          <p:nvPr/>
        </p:nvPicPr>
        <p:blipFill rotWithShape="1">
          <a:blip r:embed="rId4">
            <a:alphaModFix/>
          </a:blip>
          <a:srcRect b="30995" l="0" r="0" t="28222"/>
          <a:stretch/>
        </p:blipFill>
        <p:spPr>
          <a:xfrm>
            <a:off x="8323000" y="137711"/>
            <a:ext cx="664424" cy="15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48" title="Slides dump - merge to decks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1566300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976" name="Google Shape;976;p48"/>
          <p:cNvSpPr txBox="1"/>
          <p:nvPr/>
        </p:nvSpPr>
        <p:spPr>
          <a:xfrm>
            <a:off x="392325" y="643225"/>
            <a:ext cx="281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Rating Workflow</a:t>
            </a:r>
            <a:endParaRPr sz="9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977" name="Google Shape;977;p48"/>
          <p:cNvSpPr txBox="1"/>
          <p:nvPr/>
        </p:nvSpPr>
        <p:spPr>
          <a:xfrm>
            <a:off x="382200" y="398525"/>
            <a:ext cx="84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900">
                <a:solidFill>
                  <a:srgbClr val="9E9E9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 #4</a:t>
            </a:r>
            <a:endParaRPr i="1" sz="100">
              <a:solidFill>
                <a:srgbClr val="9E9E9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78" name="Google Shape;978;p48"/>
          <p:cNvSpPr txBox="1"/>
          <p:nvPr/>
        </p:nvSpPr>
        <p:spPr>
          <a:xfrm>
            <a:off x="4158075" y="643225"/>
            <a:ext cx="470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E7E6E0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An agent that identifies the appropriate rating path — API-based or Excel-based — fills in the required inputs from prior agents, and produces a final quote.</a:t>
            </a:r>
            <a:endParaRPr sz="100">
              <a:solidFill>
                <a:srgbClr val="E7E6E0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979" name="Google Shape;979;p48" title="FAI png (1).png"/>
          <p:cNvPicPr preferRelativeResize="0"/>
          <p:nvPr/>
        </p:nvPicPr>
        <p:blipFill rotWithShape="1">
          <a:blip r:embed="rId3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48"/>
          <p:cNvSpPr/>
          <p:nvPr/>
        </p:nvSpPr>
        <p:spPr>
          <a:xfrm>
            <a:off x="504825" y="3190900"/>
            <a:ext cx="896100" cy="8961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Risk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1" name="Google Shape;981;p48"/>
          <p:cNvSpPr/>
          <p:nvPr/>
        </p:nvSpPr>
        <p:spPr>
          <a:xfrm>
            <a:off x="7693175" y="3488050"/>
            <a:ext cx="1117500" cy="30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3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Generate Quote</a:t>
            </a:r>
            <a:endParaRPr b="1"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2" name="Google Shape;982;p48"/>
          <p:cNvSpPr/>
          <p:nvPr/>
        </p:nvSpPr>
        <p:spPr>
          <a:xfrm>
            <a:off x="2826442" y="3189850"/>
            <a:ext cx="898200" cy="898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rgbClr val="256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Excel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2B2D3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Rater?</a:t>
            </a:r>
            <a:endParaRPr b="1" sz="800">
              <a:solidFill>
                <a:srgbClr val="2B2D3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3" name="Google Shape;983;p48"/>
          <p:cNvSpPr/>
          <p:nvPr/>
        </p:nvSpPr>
        <p:spPr>
          <a:xfrm>
            <a:off x="5150173" y="3002700"/>
            <a:ext cx="1117500" cy="40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3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Call APIs</a:t>
            </a:r>
            <a:endParaRPr b="1"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984" name="Google Shape;984;p48"/>
          <p:cNvSpPr/>
          <p:nvPr/>
        </p:nvSpPr>
        <p:spPr>
          <a:xfrm>
            <a:off x="5150173" y="3875000"/>
            <a:ext cx="1117500" cy="400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3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Fill Excel</a:t>
            </a:r>
            <a:endParaRPr b="1" sz="800">
              <a:solidFill>
                <a:schemeClr val="dk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85" name="Google Shape;985;p48"/>
          <p:cNvCxnSpPr>
            <a:endCxn id="982" idx="2"/>
          </p:cNvCxnSpPr>
          <p:nvPr/>
        </p:nvCxnSpPr>
        <p:spPr>
          <a:xfrm>
            <a:off x="1400842" y="3638950"/>
            <a:ext cx="14256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6" name="Google Shape;986;p48"/>
          <p:cNvCxnSpPr/>
          <p:nvPr/>
        </p:nvCxnSpPr>
        <p:spPr>
          <a:xfrm>
            <a:off x="4445600" y="3202800"/>
            <a:ext cx="7047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48"/>
          <p:cNvCxnSpPr/>
          <p:nvPr/>
        </p:nvCxnSpPr>
        <p:spPr>
          <a:xfrm>
            <a:off x="3724642" y="3638950"/>
            <a:ext cx="720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48"/>
          <p:cNvCxnSpPr/>
          <p:nvPr/>
        </p:nvCxnSpPr>
        <p:spPr>
          <a:xfrm>
            <a:off x="4445600" y="3206650"/>
            <a:ext cx="600" cy="436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48"/>
          <p:cNvCxnSpPr/>
          <p:nvPr/>
        </p:nvCxnSpPr>
        <p:spPr>
          <a:xfrm>
            <a:off x="4445600" y="4075100"/>
            <a:ext cx="7047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0" name="Google Shape;990;p48"/>
          <p:cNvCxnSpPr/>
          <p:nvPr/>
        </p:nvCxnSpPr>
        <p:spPr>
          <a:xfrm>
            <a:off x="4445600" y="3641660"/>
            <a:ext cx="600" cy="436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48"/>
          <p:cNvCxnSpPr/>
          <p:nvPr/>
        </p:nvCxnSpPr>
        <p:spPr>
          <a:xfrm>
            <a:off x="6988475" y="3638950"/>
            <a:ext cx="704700" cy="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2" name="Google Shape;992;p48"/>
          <p:cNvCxnSpPr/>
          <p:nvPr/>
        </p:nvCxnSpPr>
        <p:spPr>
          <a:xfrm>
            <a:off x="6980125" y="3206650"/>
            <a:ext cx="600" cy="436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48"/>
          <p:cNvCxnSpPr/>
          <p:nvPr/>
        </p:nvCxnSpPr>
        <p:spPr>
          <a:xfrm>
            <a:off x="6980125" y="3641650"/>
            <a:ext cx="600" cy="436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48"/>
          <p:cNvCxnSpPr/>
          <p:nvPr/>
        </p:nvCxnSpPr>
        <p:spPr>
          <a:xfrm>
            <a:off x="6267667" y="3209675"/>
            <a:ext cx="720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48"/>
          <p:cNvCxnSpPr/>
          <p:nvPr/>
        </p:nvCxnSpPr>
        <p:spPr>
          <a:xfrm>
            <a:off x="6267667" y="4075100"/>
            <a:ext cx="7206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48"/>
          <p:cNvSpPr/>
          <p:nvPr/>
        </p:nvSpPr>
        <p:spPr>
          <a:xfrm>
            <a:off x="1619771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Intake 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97" name="Google Shape;997;p48"/>
          <p:cNvCxnSpPr/>
          <p:nvPr/>
        </p:nvCxnSpPr>
        <p:spPr>
          <a:xfrm flipH="1">
            <a:off x="3274938" y="2748850"/>
            <a:ext cx="1200" cy="441000"/>
          </a:xfrm>
          <a:prstGeom prst="straightConnector1">
            <a:avLst/>
          </a:prstGeom>
          <a:noFill/>
          <a:ln cap="flat" cmpd="sng" w="7375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48"/>
          <p:cNvSpPr/>
          <p:nvPr/>
        </p:nvSpPr>
        <p:spPr>
          <a:xfrm>
            <a:off x="2784886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Inbox 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999" name="Google Shape;999;p48"/>
          <p:cNvCxnSpPr/>
          <p:nvPr/>
        </p:nvCxnSpPr>
        <p:spPr>
          <a:xfrm>
            <a:off x="1000475" y="2753825"/>
            <a:ext cx="5833500" cy="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48"/>
          <p:cNvCxnSpPr/>
          <p:nvPr/>
        </p:nvCxnSpPr>
        <p:spPr>
          <a:xfrm>
            <a:off x="2167421" y="249012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48"/>
          <p:cNvCxnSpPr/>
          <p:nvPr/>
        </p:nvCxnSpPr>
        <p:spPr>
          <a:xfrm>
            <a:off x="3275558" y="248917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2" name="Google Shape;1002;p48"/>
          <p:cNvSpPr/>
          <p:nvPr/>
        </p:nvSpPr>
        <p:spPr>
          <a:xfrm>
            <a:off x="3949986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Email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03" name="Google Shape;1003;p48"/>
          <p:cNvSpPr/>
          <p:nvPr/>
        </p:nvSpPr>
        <p:spPr>
          <a:xfrm>
            <a:off x="454671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074B40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Risk Agent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004" name="Google Shape;1004;p48"/>
          <p:cNvCxnSpPr/>
          <p:nvPr/>
        </p:nvCxnSpPr>
        <p:spPr>
          <a:xfrm>
            <a:off x="4497633" y="248917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48"/>
          <p:cNvCxnSpPr/>
          <p:nvPr/>
        </p:nvCxnSpPr>
        <p:spPr>
          <a:xfrm>
            <a:off x="1002321" y="249012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6" name="Google Shape;1006;p48"/>
          <p:cNvSpPr/>
          <p:nvPr/>
        </p:nvSpPr>
        <p:spPr>
          <a:xfrm>
            <a:off x="5115086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Appetite Rules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07" name="Google Shape;1007;p48"/>
          <p:cNvSpPr/>
          <p:nvPr/>
        </p:nvSpPr>
        <p:spPr>
          <a:xfrm>
            <a:off x="6280186" y="2184978"/>
            <a:ext cx="1095300" cy="304200"/>
          </a:xfrm>
          <a:prstGeom prst="roundRect">
            <a:avLst>
              <a:gd fmla="val 16667" name="adj"/>
            </a:avLst>
          </a:prstGeom>
          <a:solidFill>
            <a:srgbClr val="2B2D31"/>
          </a:solidFill>
          <a:ln>
            <a:noFill/>
          </a:ln>
        </p:spPr>
        <p:txBody>
          <a:bodyPr anchorCtr="0" anchor="ctr" bIns="70725" lIns="70725" spcFirstLastPara="1" rIns="70725" wrap="square" tIns="7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Guidelines</a:t>
            </a:r>
            <a:endParaRPr b="1" sz="8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008" name="Google Shape;1008;p48"/>
          <p:cNvCxnSpPr/>
          <p:nvPr/>
        </p:nvCxnSpPr>
        <p:spPr>
          <a:xfrm>
            <a:off x="5662733" y="248917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9" name="Google Shape;1009;p48"/>
          <p:cNvCxnSpPr/>
          <p:nvPr/>
        </p:nvCxnSpPr>
        <p:spPr>
          <a:xfrm>
            <a:off x="6827833" y="2489178"/>
            <a:ext cx="0" cy="2682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0" name="Google Shape;1010;p48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59595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595959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11" name="Google Shape;1011;p48"/>
          <p:cNvSpPr txBox="1"/>
          <p:nvPr>
            <p:ph idx="4294967295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Google Shape;1017;p49" title="Slides dump - merge to decks (2).png"/>
          <p:cNvPicPr preferRelativeResize="0"/>
          <p:nvPr/>
        </p:nvPicPr>
        <p:blipFill rotWithShape="1">
          <a:blip r:embed="rId3">
            <a:alphaModFix/>
          </a:blip>
          <a:srcRect b="0" l="0" r="37166" t="0"/>
          <a:stretch/>
        </p:blipFill>
        <p:spPr>
          <a:xfrm rot="10800000">
            <a:off x="0" y="-15876"/>
            <a:ext cx="2811600" cy="51593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8" name="Google Shape;1018;p49"/>
          <p:cNvGraphicFramePr/>
          <p:nvPr/>
        </p:nvGraphicFramePr>
        <p:xfrm>
          <a:off x="610494" y="452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{FE2FBB0D-22F3-43D4-9186-071B2D20831D}</a:tableStyleId>
              </a:tblPr>
              <a:tblGrid>
                <a:gridCol w="1432500"/>
              </a:tblGrid>
              <a:tr h="111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45725" marB="45725" marR="45725" marL="45725">
                    <a:lnL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45725" marB="45725" marR="45725" marL="45725">
                    <a:lnL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9E9E9E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19" name="Google Shape;1019;p49" title="Frame 214722796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650" y="622975"/>
            <a:ext cx="681800" cy="6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49" title="Frame 2147227963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856" y="1819831"/>
            <a:ext cx="721400" cy="72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49"/>
          <p:cNvSpPr txBox="1"/>
          <p:nvPr/>
        </p:nvSpPr>
        <p:spPr>
          <a:xfrm>
            <a:off x="601850" y="1333513"/>
            <a:ext cx="469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SOC2</a:t>
            </a:r>
            <a:endParaRPr b="1" sz="850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2" name="Google Shape;1022;p49"/>
          <p:cNvSpPr txBox="1"/>
          <p:nvPr/>
        </p:nvSpPr>
        <p:spPr>
          <a:xfrm>
            <a:off x="603013" y="2496638"/>
            <a:ext cx="469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GDPR</a:t>
            </a:r>
            <a:endParaRPr b="1" sz="850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23" name="Google Shape;1023;p49" title="Frame 214722796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647" y="2956750"/>
            <a:ext cx="681800" cy="6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49" title="Frame 2147227964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5850" y="4009237"/>
            <a:ext cx="681800" cy="6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49"/>
          <p:cNvSpPr txBox="1"/>
          <p:nvPr/>
        </p:nvSpPr>
        <p:spPr>
          <a:xfrm>
            <a:off x="603012" y="3710213"/>
            <a:ext cx="7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ISO 27001</a:t>
            </a:r>
            <a:endParaRPr b="1" sz="850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6" name="Google Shape;1026;p49"/>
          <p:cNvSpPr txBox="1"/>
          <p:nvPr/>
        </p:nvSpPr>
        <p:spPr>
          <a:xfrm>
            <a:off x="3198771" y="336850"/>
            <a:ext cx="5341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B2D31"/>
                </a:solidFill>
                <a:latin typeface="Fraunces"/>
                <a:ea typeface="Fraunces"/>
                <a:cs typeface="Fraunces"/>
                <a:sym typeface="Fraunces"/>
              </a:rPr>
              <a:t>Your data, models, and knowledge</a:t>
            </a:r>
            <a:endParaRPr sz="2200">
              <a:solidFill>
                <a:srgbClr val="2B2D31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2B2D31"/>
                </a:solidFill>
                <a:latin typeface="Fraunces"/>
                <a:ea typeface="Fraunces"/>
                <a:cs typeface="Fraunces"/>
                <a:sym typeface="Fraunces"/>
              </a:rPr>
              <a:t>stay secure. Always.</a:t>
            </a:r>
            <a:endParaRPr sz="500">
              <a:solidFill>
                <a:srgbClr val="2B2D3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27" name="Google Shape;1027;p49"/>
          <p:cNvSpPr/>
          <p:nvPr/>
        </p:nvSpPr>
        <p:spPr>
          <a:xfrm>
            <a:off x="3293575" y="1435100"/>
            <a:ext cx="5456700" cy="739800"/>
          </a:xfrm>
          <a:prstGeom prst="roundRect">
            <a:avLst>
              <a:gd fmla="val 16667" name="adj"/>
            </a:avLst>
          </a:prstGeom>
          <a:solidFill>
            <a:srgbClr val="F8F7F5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9"/>
          <p:cNvSpPr txBox="1"/>
          <p:nvPr/>
        </p:nvSpPr>
        <p:spPr>
          <a:xfrm>
            <a:off x="603012" y="4729138"/>
            <a:ext cx="75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D0CEC3"/>
                </a:solidFill>
                <a:latin typeface="Courier New"/>
                <a:ea typeface="Courier New"/>
                <a:cs typeface="Courier New"/>
                <a:sym typeface="Courier New"/>
              </a:rPr>
              <a:t>HIPAA</a:t>
            </a:r>
            <a:endParaRPr b="1" sz="850">
              <a:solidFill>
                <a:srgbClr val="D0CEC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9" name="Google Shape;1029;p49"/>
          <p:cNvSpPr/>
          <p:nvPr/>
        </p:nvSpPr>
        <p:spPr>
          <a:xfrm>
            <a:off x="3293575" y="2263438"/>
            <a:ext cx="5456700" cy="739800"/>
          </a:xfrm>
          <a:prstGeom prst="roundRect">
            <a:avLst>
              <a:gd fmla="val 16667" name="adj"/>
            </a:avLst>
          </a:prstGeom>
          <a:solidFill>
            <a:srgbClr val="F8F7F5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9"/>
          <p:cNvSpPr/>
          <p:nvPr/>
        </p:nvSpPr>
        <p:spPr>
          <a:xfrm>
            <a:off x="3293575" y="3091775"/>
            <a:ext cx="5456700" cy="739800"/>
          </a:xfrm>
          <a:prstGeom prst="roundRect">
            <a:avLst>
              <a:gd fmla="val 16667" name="adj"/>
            </a:avLst>
          </a:prstGeom>
          <a:solidFill>
            <a:srgbClr val="F8F7F5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9"/>
          <p:cNvSpPr/>
          <p:nvPr/>
        </p:nvSpPr>
        <p:spPr>
          <a:xfrm>
            <a:off x="3293575" y="3920100"/>
            <a:ext cx="5456700" cy="739800"/>
          </a:xfrm>
          <a:prstGeom prst="roundRect">
            <a:avLst>
              <a:gd fmla="val 16667" name="adj"/>
            </a:avLst>
          </a:prstGeom>
          <a:solidFill>
            <a:srgbClr val="F8F7F5"/>
          </a:solidFill>
          <a:ln cap="flat" cmpd="sng" w="9525">
            <a:solidFill>
              <a:srgbClr val="D0CE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49"/>
          <p:cNvSpPr txBox="1"/>
          <p:nvPr/>
        </p:nvSpPr>
        <p:spPr>
          <a:xfrm>
            <a:off x="3398099" y="1475313"/>
            <a:ext cx="36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Industry Leading Certifications</a:t>
            </a:r>
            <a:endParaRPr sz="100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33" name="Google Shape;1033;p49"/>
          <p:cNvSpPr txBox="1"/>
          <p:nvPr/>
        </p:nvSpPr>
        <p:spPr>
          <a:xfrm>
            <a:off x="3390325" y="1803788"/>
            <a:ext cx="5263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We adhere to the highest security standards - SOC2, GDPR, ISO 27001, </a:t>
            </a:r>
            <a:r>
              <a:rPr lang="en-US" sz="950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HIPAA</a:t>
            </a:r>
            <a:r>
              <a:rPr lang="en-US" sz="950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, CCPA, etc.</a:t>
            </a:r>
            <a:endParaRPr sz="1300">
              <a:solidFill>
                <a:srgbClr val="444339"/>
              </a:solidFill>
            </a:endParaRPr>
          </a:p>
        </p:txBody>
      </p:sp>
      <p:sp>
        <p:nvSpPr>
          <p:cNvPr id="1034" name="Google Shape;1034;p49"/>
          <p:cNvSpPr txBox="1"/>
          <p:nvPr/>
        </p:nvSpPr>
        <p:spPr>
          <a:xfrm>
            <a:off x="3398099" y="2313513"/>
            <a:ext cx="36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Zero Data Training Policy</a:t>
            </a:r>
            <a:endParaRPr sz="100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35" name="Google Shape;1035;p49"/>
          <p:cNvSpPr txBox="1"/>
          <p:nvPr/>
        </p:nvSpPr>
        <p:spPr>
          <a:xfrm>
            <a:off x="3390325" y="2641988"/>
            <a:ext cx="5263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Your data and prompts are never used to train our models. What’s yours stays yours.</a:t>
            </a:r>
            <a:endParaRPr sz="1300">
              <a:solidFill>
                <a:srgbClr val="444339"/>
              </a:solidFill>
            </a:endParaRPr>
          </a:p>
        </p:txBody>
      </p:sp>
      <p:sp>
        <p:nvSpPr>
          <p:cNvPr id="1036" name="Google Shape;1036;p49"/>
          <p:cNvSpPr txBox="1"/>
          <p:nvPr/>
        </p:nvSpPr>
        <p:spPr>
          <a:xfrm>
            <a:off x="3398099" y="3131975"/>
            <a:ext cx="36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End-to-End Encryption</a:t>
            </a:r>
            <a:endParaRPr sz="100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37" name="Google Shape;1037;p49"/>
          <p:cNvSpPr txBox="1"/>
          <p:nvPr/>
        </p:nvSpPr>
        <p:spPr>
          <a:xfrm>
            <a:off x="3390325" y="3460450"/>
            <a:ext cx="5263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All data is fully encrypted - both in transit and in rest - using enterprise-grade protocols.</a:t>
            </a:r>
            <a:endParaRPr sz="1300">
              <a:solidFill>
                <a:srgbClr val="444339"/>
              </a:solidFill>
            </a:endParaRPr>
          </a:p>
        </p:txBody>
      </p:sp>
      <p:sp>
        <p:nvSpPr>
          <p:cNvPr id="1038" name="Google Shape;1038;p49"/>
          <p:cNvSpPr txBox="1"/>
          <p:nvPr/>
        </p:nvSpPr>
        <p:spPr>
          <a:xfrm>
            <a:off x="3398099" y="3950438"/>
            <a:ext cx="36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444339"/>
                </a:solidFill>
                <a:latin typeface="Fraunces"/>
                <a:ea typeface="Fraunces"/>
                <a:cs typeface="Fraunces"/>
                <a:sym typeface="Fraunces"/>
              </a:rPr>
              <a:t>Single Tenant Architecture</a:t>
            </a:r>
            <a:endParaRPr sz="100">
              <a:solidFill>
                <a:srgbClr val="444339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1039" name="Google Shape;1039;p49"/>
          <p:cNvSpPr txBox="1"/>
          <p:nvPr/>
        </p:nvSpPr>
        <p:spPr>
          <a:xfrm>
            <a:off x="3390325" y="4278913"/>
            <a:ext cx="5263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339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Dedicated infrastructure per customer. No shared data, no shared risk.</a:t>
            </a:r>
            <a:endParaRPr sz="1300">
              <a:solidFill>
                <a:srgbClr val="444339"/>
              </a:solidFill>
            </a:endParaRPr>
          </a:p>
        </p:txBody>
      </p:sp>
      <p:sp>
        <p:nvSpPr>
          <p:cNvPr id="1040" name="Google Shape;1040;p49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50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50" title="Slides dump - merge to decks (3).png"/>
          <p:cNvPicPr preferRelativeResize="0"/>
          <p:nvPr/>
        </p:nvPicPr>
        <p:blipFill rotWithShape="1">
          <a:blip r:embed="rId4">
            <a:alphaModFix amt="28000"/>
          </a:blip>
          <a:srcRect b="0" l="29474" r="1854" t="0"/>
          <a:stretch/>
        </p:blipFill>
        <p:spPr>
          <a:xfrm>
            <a:off x="-2571152" y="0"/>
            <a:ext cx="6142997" cy="51435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00">
                <a:alpha val="50000"/>
              </a:srgbClr>
            </a:outerShdw>
          </a:effectLst>
        </p:spPr>
      </p:pic>
      <p:pic>
        <p:nvPicPr>
          <p:cNvPr descr="preencoded.png" id="1048" name="Google Shape;104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0" y="400050"/>
            <a:ext cx="4962525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50"/>
          <p:cNvSpPr txBox="1"/>
          <p:nvPr/>
        </p:nvSpPr>
        <p:spPr>
          <a:xfrm>
            <a:off x="189017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50" name="Google Shape;1050;p50"/>
          <p:cNvSpPr txBox="1"/>
          <p:nvPr/>
        </p:nvSpPr>
        <p:spPr>
          <a:xfrm>
            <a:off x="485775" y="476250"/>
            <a:ext cx="4191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77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Why FurtherAI?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1" name="Google Shape;1051;p50"/>
          <p:cNvSpPr/>
          <p:nvPr/>
        </p:nvSpPr>
        <p:spPr>
          <a:xfrm>
            <a:off x="4476750" y="985847"/>
            <a:ext cx="1423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44339"/>
              </a:buClr>
              <a:buSzPts val="900"/>
              <a:buFont typeface="Wix Madefor Text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Insurance-Native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0"/>
          <p:cNvSpPr/>
          <p:nvPr/>
        </p:nvSpPr>
        <p:spPr>
          <a:xfrm>
            <a:off x="4476750" y="1190072"/>
            <a:ext cx="141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44339"/>
              </a:buClr>
              <a:buSzPts val="900"/>
              <a:buFont typeface="Wix Madefor Text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AI trained on insurance data &amp; workflows—it knows industry terminology, documents, &amp; processes.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50"/>
          <p:cNvSpPr/>
          <p:nvPr/>
        </p:nvSpPr>
        <p:spPr>
          <a:xfrm>
            <a:off x="5372100" y="3577293"/>
            <a:ext cx="2209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44339"/>
              </a:buClr>
              <a:buSzPts val="900"/>
              <a:buFont typeface="Wix Madefor Text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Enterprise-Ready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50"/>
          <p:cNvSpPr/>
          <p:nvPr/>
        </p:nvSpPr>
        <p:spPr>
          <a:xfrm>
            <a:off x="5372100" y="3781519"/>
            <a:ext cx="2205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44339"/>
              </a:buClr>
              <a:buSzPts val="900"/>
              <a:buFont typeface="Wix Madefor Text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Further AI was built from the ground up with the stringent security requirements and on-prem deployment options via Azure Managed App or Amazon VPC.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50"/>
          <p:cNvSpPr/>
          <p:nvPr/>
        </p:nvSpPr>
        <p:spPr>
          <a:xfrm>
            <a:off x="7215188" y="985847"/>
            <a:ext cx="1423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44339"/>
              </a:buClr>
              <a:buSzPts val="900"/>
              <a:buFont typeface="Wix Madefor Text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Holistic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50"/>
          <p:cNvSpPr/>
          <p:nvPr/>
        </p:nvSpPr>
        <p:spPr>
          <a:xfrm>
            <a:off x="7215188" y="1190072"/>
            <a:ext cx="141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Clr>
                <a:srgbClr val="444339"/>
              </a:buClr>
              <a:buSzPts val="900"/>
              <a:buFont typeface="Wix Madefor Text"/>
              <a:buNone/>
            </a:pPr>
            <a:r>
              <a:rPr lang="en-US" sz="900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AI Assistant </a:t>
            </a:r>
            <a:r>
              <a:rPr b="0" i="0" lang="en-US" sz="900" u="none" cap="none" strike="noStrike">
                <a:solidFill>
                  <a:schemeClr val="lt1"/>
                </a:solidFill>
                <a:latin typeface="Wix Madefor Text"/>
                <a:ea typeface="Wix Madefor Text"/>
                <a:cs typeface="Wix Madefor Text"/>
                <a:sym typeface="Wix Madefor Text"/>
              </a:rPr>
              <a:t>works directly within existing tools like email and policy administration systems, eliminating the need to switch between platforms. 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0"/>
          <p:cNvSpPr/>
          <p:nvPr/>
        </p:nvSpPr>
        <p:spPr>
          <a:xfrm>
            <a:off x="760638" y="1655538"/>
            <a:ext cx="2209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44339"/>
              </a:buClr>
              <a:buSzPts val="1200"/>
              <a:buFont typeface="Wix Madefor Text"/>
              <a:buNone/>
            </a:pPr>
            <a:r>
              <a:rPr lang="en-US" sz="120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Unlike general-purpose AI tools that fall short on insurance workflows, FurtherAI is built from the ground up for insurance. Its AI models are purpose-built for the industry, work seamlessly with insurance systems, and follow the highest standards of security and compliance.</a:t>
            </a:r>
            <a:endParaRPr i="0" sz="1200" u="none" cap="none" strike="noStrike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058" name="Google Shape;1058;p50" title="FAI png (1).png"/>
          <p:cNvPicPr preferRelativeResize="0"/>
          <p:nvPr/>
        </p:nvPicPr>
        <p:blipFill rotWithShape="1">
          <a:blip r:embed="rId6">
            <a:alphaModFix/>
          </a:blip>
          <a:srcRect b="40392" l="0" r="0" t="8947"/>
          <a:stretch/>
        </p:blipFill>
        <p:spPr>
          <a:xfrm>
            <a:off x="8397975" y="186000"/>
            <a:ext cx="589501" cy="167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9" name="Google Shape;1059;p50"/>
          <p:cNvCxnSpPr/>
          <p:nvPr/>
        </p:nvCxnSpPr>
        <p:spPr>
          <a:xfrm flipH="1">
            <a:off x="533525" y="1699250"/>
            <a:ext cx="7500" cy="222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50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EEEEEE"/>
                </a:solidFill>
              </a:rPr>
              <a:t>‹#›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Google Shape;1066;p51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 cap="flat" cmpd="sng" w="47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1067" name="Google Shape;1067;p51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8195521" y="235750"/>
            <a:ext cx="664428" cy="18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51"/>
          <p:cNvSpPr txBox="1"/>
          <p:nvPr/>
        </p:nvSpPr>
        <p:spPr>
          <a:xfrm>
            <a:off x="402600" y="425100"/>
            <a:ext cx="5961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5">
                <a:solidFill>
                  <a:schemeClr val="lt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Implementation Process</a:t>
            </a:r>
            <a:endParaRPr sz="5100">
              <a:solidFill>
                <a:schemeClr val="lt1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  <p:sp>
        <p:nvSpPr>
          <p:cNvPr id="1069" name="Google Shape;1069;p51"/>
          <p:cNvSpPr txBox="1"/>
          <p:nvPr/>
        </p:nvSpPr>
        <p:spPr>
          <a:xfrm>
            <a:off x="869500" y="1106219"/>
            <a:ext cx="15465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5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Weeks 1-2</a:t>
            </a:r>
            <a:endParaRPr sz="44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70" name="Google Shape;1070;p51"/>
          <p:cNvSpPr txBox="1"/>
          <p:nvPr/>
        </p:nvSpPr>
        <p:spPr>
          <a:xfrm>
            <a:off x="3378950" y="1091394"/>
            <a:ext cx="15465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5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Weeks 3-8</a:t>
            </a:r>
            <a:endParaRPr sz="44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71" name="Google Shape;1071;p51"/>
          <p:cNvSpPr txBox="1"/>
          <p:nvPr/>
        </p:nvSpPr>
        <p:spPr>
          <a:xfrm>
            <a:off x="5888400" y="1091394"/>
            <a:ext cx="15465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5">
                <a:solidFill>
                  <a:schemeClr val="lt1"/>
                </a:solidFill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Weeks 9-12</a:t>
            </a:r>
            <a:endParaRPr sz="4400">
              <a:solidFill>
                <a:schemeClr val="lt1"/>
              </a:solidFill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1072" name="Google Shape;1072;p51"/>
          <p:cNvSpPr txBox="1"/>
          <p:nvPr/>
        </p:nvSpPr>
        <p:spPr>
          <a:xfrm>
            <a:off x="869500" y="1556269"/>
            <a:ext cx="20691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Onboarding and Implementation</a:t>
            </a:r>
            <a:endParaRPr sz="95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73" name="Google Shape;1073;p51"/>
          <p:cNvSpPr txBox="1"/>
          <p:nvPr/>
        </p:nvSpPr>
        <p:spPr>
          <a:xfrm>
            <a:off x="3378950" y="1541444"/>
            <a:ext cx="20691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Activation and Iteration</a:t>
            </a:r>
            <a:endParaRPr sz="95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74" name="Google Shape;1074;p51"/>
          <p:cNvSpPr txBox="1"/>
          <p:nvPr/>
        </p:nvSpPr>
        <p:spPr>
          <a:xfrm>
            <a:off x="5888400" y="1541444"/>
            <a:ext cx="20691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Understanding and Scaling</a:t>
            </a:r>
            <a:endParaRPr sz="95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graphicFrame>
        <p:nvGraphicFramePr>
          <p:cNvPr id="1075" name="Google Shape;1075;p51"/>
          <p:cNvGraphicFramePr/>
          <p:nvPr/>
        </p:nvGraphicFramePr>
        <p:xfrm>
          <a:off x="869500" y="180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{FE2FBB0D-22F3-43D4-9186-071B2D20831D}</a:tableStyleId>
              </a:tblPr>
              <a:tblGrid>
                <a:gridCol w="2511050"/>
                <a:gridCol w="2511050"/>
                <a:gridCol w="2511050"/>
              </a:tblGrid>
              <a:tr h="133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4F3F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lnL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6" name="Google Shape;1076;p51"/>
          <p:cNvSpPr txBox="1"/>
          <p:nvPr/>
        </p:nvSpPr>
        <p:spPr>
          <a:xfrm rot="-5400000">
            <a:off x="108988" y="3812788"/>
            <a:ext cx="10707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Customer</a:t>
            </a:r>
            <a:endParaRPr sz="95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77" name="Google Shape;1077;p51"/>
          <p:cNvSpPr txBox="1"/>
          <p:nvPr/>
        </p:nvSpPr>
        <p:spPr>
          <a:xfrm rot="-5400000">
            <a:off x="108988" y="2530275"/>
            <a:ext cx="10707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lt1"/>
                </a:solidFill>
                <a:latin typeface="Wix Madefor Display Medium"/>
                <a:ea typeface="Wix Madefor Display Medium"/>
                <a:cs typeface="Wix Madefor Display Medium"/>
                <a:sym typeface="Wix Madefor Display Medium"/>
              </a:rPr>
              <a:t>FurtherAI</a:t>
            </a:r>
            <a:endParaRPr sz="950">
              <a:solidFill>
                <a:schemeClr val="lt1"/>
              </a:solidFill>
              <a:latin typeface="Wix Madefor Display Medium"/>
              <a:ea typeface="Wix Madefor Display Medium"/>
              <a:cs typeface="Wix Madefor Display Medium"/>
              <a:sym typeface="Wix Madefor Display Medium"/>
            </a:endParaRPr>
          </a:p>
        </p:txBody>
      </p:sp>
      <p:sp>
        <p:nvSpPr>
          <p:cNvPr id="1078" name="Google Shape;1078;p51"/>
          <p:cNvSpPr txBox="1"/>
          <p:nvPr/>
        </p:nvSpPr>
        <p:spPr>
          <a:xfrm>
            <a:off x="202624" y="4805900"/>
            <a:ext cx="223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EEEEEE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650">
              <a:solidFill>
                <a:srgbClr val="EEEEEE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79" name="Google Shape;1079;p51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EEEEEE"/>
                </a:solidFill>
              </a:rPr>
              <a:t>‹#›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52" title="Slides dump - merge to deck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52" title="FAI png (1).png"/>
          <p:cNvPicPr preferRelativeResize="0"/>
          <p:nvPr/>
        </p:nvPicPr>
        <p:blipFill rotWithShape="1">
          <a:blip r:embed="rId4">
            <a:alphaModFix/>
          </a:blip>
          <a:srcRect b="40392" l="0" r="0" t="8947"/>
          <a:stretch/>
        </p:blipFill>
        <p:spPr>
          <a:xfrm>
            <a:off x="1490012" y="2159575"/>
            <a:ext cx="2190700" cy="624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52"/>
          <p:cNvSpPr txBox="1"/>
          <p:nvPr/>
        </p:nvSpPr>
        <p:spPr>
          <a:xfrm>
            <a:off x="401288" y="4729700"/>
            <a:ext cx="223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D0CEC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AI Workspace for Insurance</a:t>
            </a:r>
            <a:endParaRPr sz="75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1088" name="Google Shape;1088;p52"/>
          <p:cNvSpPr txBox="1"/>
          <p:nvPr/>
        </p:nvSpPr>
        <p:spPr>
          <a:xfrm>
            <a:off x="7951875" y="4729700"/>
            <a:ext cx="84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D0CEC3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furtherai.com</a:t>
            </a:r>
            <a:endParaRPr sz="750">
              <a:solidFill>
                <a:srgbClr val="D0CEC3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cxnSp>
        <p:nvCxnSpPr>
          <p:cNvPr id="1089" name="Google Shape;1089;p52"/>
          <p:cNvCxnSpPr/>
          <p:nvPr/>
        </p:nvCxnSpPr>
        <p:spPr>
          <a:xfrm>
            <a:off x="443813" y="4686725"/>
            <a:ext cx="8298900" cy="0"/>
          </a:xfrm>
          <a:prstGeom prst="straightConnector1">
            <a:avLst/>
          </a:prstGeom>
          <a:noFill/>
          <a:ln cap="flat" cmpd="sng" w="477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52"/>
          <p:cNvCxnSpPr/>
          <p:nvPr/>
        </p:nvCxnSpPr>
        <p:spPr>
          <a:xfrm>
            <a:off x="4330738" y="2049788"/>
            <a:ext cx="0" cy="8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1" name="Google Shape;1091;p52"/>
          <p:cNvSpPr txBox="1"/>
          <p:nvPr/>
        </p:nvSpPr>
        <p:spPr>
          <a:xfrm>
            <a:off x="4883151" y="2059614"/>
            <a:ext cx="2515500" cy="4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</a:rPr>
              <a:t>ADD LOGO</a:t>
            </a:r>
            <a:br>
              <a:rPr lang="en-US" sz="2700">
                <a:solidFill>
                  <a:schemeClr val="lt1"/>
                </a:solidFill>
              </a:rPr>
            </a:br>
            <a:r>
              <a:rPr lang="en-US" sz="2700">
                <a:solidFill>
                  <a:schemeClr val="lt1"/>
                </a:solidFill>
              </a:rPr>
              <a:t>HERE</a:t>
            </a:r>
            <a:endParaRPr sz="2700">
              <a:solidFill>
                <a:schemeClr val="lt1"/>
              </a:solidFill>
            </a:endParaRPr>
          </a:p>
        </p:txBody>
      </p:sp>
      <p:sp>
        <p:nvSpPr>
          <p:cNvPr id="1092" name="Google Shape;1092;p52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EEEEEE"/>
                </a:solidFill>
              </a:rPr>
              <a:t>‹#›</a:t>
            </a:fld>
            <a:endParaRPr>
              <a:solidFill>
                <a:srgbClr val="EEEEEE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9"/>
        </a:solidFill>
      </p:bgPr>
    </p:bg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8" name="Google Shape;109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75" y="296724"/>
            <a:ext cx="1037200" cy="2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53"/>
          <p:cNvSpPr txBox="1"/>
          <p:nvPr/>
        </p:nvSpPr>
        <p:spPr>
          <a:xfrm>
            <a:off x="796499" y="587463"/>
            <a:ext cx="7551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Data Extraction Accuracy </a:t>
            </a:r>
            <a:r>
              <a:rPr lang="en-US" sz="2900">
                <a:solidFill>
                  <a:srgbClr val="25654F"/>
                </a:solidFill>
                <a:latin typeface="Fraunces"/>
                <a:ea typeface="Fraunces"/>
                <a:cs typeface="Fraunces"/>
                <a:sym typeface="Fraunces"/>
              </a:rPr>
              <a:t>&gt;95%</a:t>
            </a:r>
            <a:endParaRPr sz="1200">
              <a:solidFill>
                <a:srgbClr val="25654F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aphicFrame>
        <p:nvGraphicFramePr>
          <p:cNvPr id="1100" name="Google Shape;1100;p53"/>
          <p:cNvGraphicFramePr/>
          <p:nvPr/>
        </p:nvGraphicFramePr>
        <p:xfrm>
          <a:off x="666100" y="1286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{6E053623-5FF1-424E-A5D6-9E1842736AEC}</a:tableStyleId>
              </a:tblPr>
              <a:tblGrid>
                <a:gridCol w="2775150"/>
                <a:gridCol w="2623325"/>
                <a:gridCol w="2623325"/>
              </a:tblGrid>
              <a:tr h="36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chemeClr val="lt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Fields</a:t>
                      </a:r>
                      <a:endParaRPr b="1" sz="1350">
                        <a:solidFill>
                          <a:schemeClr val="lt1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chemeClr val="lt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AI Accuracy</a:t>
                      </a:r>
                      <a:endParaRPr b="1" sz="1350">
                        <a:solidFill>
                          <a:schemeClr val="lt1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44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chemeClr val="lt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AI + Human Accuracy</a:t>
                      </a:r>
                      <a:endParaRPr b="1" sz="1350">
                        <a:solidFill>
                          <a:schemeClr val="lt1"/>
                        </a:solidFill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ctr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4438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broker_first_name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95.50%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broker_last_name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95.50%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broker_email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96.40%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broker_phone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96.40%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broker_mobile_phone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96.60%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insured_name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99.00%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insured_address_formatted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98.70%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insured_address_street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99.50%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insured_address_city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98.70%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insured_address_state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98.40%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insured_address_postal_code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98.70%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effective_date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98.60%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policy_number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98.20%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24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requested_by_date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98.20%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Wix Madefor Display"/>
                          <a:ea typeface="Wix Madefor Display"/>
                          <a:cs typeface="Wix Madefor Display"/>
                          <a:sym typeface="Wix Madefor Display"/>
                        </a:rPr>
                        <a:t>&gt;99%</a:t>
                      </a:r>
                      <a:endParaRPr sz="1100">
                        <a:latin typeface="Wix Madefor Display"/>
                        <a:ea typeface="Wix Madefor Display"/>
                        <a:cs typeface="Wix Madefor Display"/>
                        <a:sym typeface="Wix Madefor Display"/>
                      </a:endParaRPr>
                    </a:p>
                  </a:txBody>
                  <a:tcPr marT="19050" marB="19050" marR="28575" marL="28575" anchor="b">
                    <a:lnL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101" name="Google Shape;1101;p53"/>
          <p:cNvSpPr txBox="1"/>
          <p:nvPr>
            <p:ph idx="12" type="sldNum"/>
          </p:nvPr>
        </p:nvSpPr>
        <p:spPr>
          <a:xfrm>
            <a:off x="8110788" y="4798325"/>
            <a:ext cx="841200" cy="1920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