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0"/>
  </p:notesMasterIdLst>
  <p:sldIdLst>
    <p:sldId id="270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7" r:id="rId10"/>
    <p:sldId id="269" r:id="rId11"/>
    <p:sldId id="292" r:id="rId12"/>
    <p:sldId id="293" r:id="rId13"/>
    <p:sldId id="271" r:id="rId14"/>
    <p:sldId id="274" r:id="rId15"/>
    <p:sldId id="283" r:id="rId16"/>
    <p:sldId id="288" r:id="rId17"/>
    <p:sldId id="289" r:id="rId18"/>
    <p:sldId id="291" r:id="rId19"/>
  </p:sldIdLst>
  <p:sldSz cx="12192000" cy="6858000"/>
  <p:notesSz cx="6858000" cy="12192000"/>
  <p:embeddedFontLst>
    <p:embeddedFont>
      <p:font typeface="Fraunces" pitchFamily="2" charset="77"/>
      <p:regular r:id="rId21"/>
      <p:bold r:id="rId22"/>
      <p:italic r:id="rId23"/>
      <p:boldItalic r:id="rId24"/>
    </p:embeddedFont>
    <p:embeddedFont>
      <p:font typeface="Fraunces 9pt" pitchFamily="2" charset="77"/>
      <p:regular r:id="rId25"/>
      <p:bold r:id="rId26"/>
      <p:italic r:id="rId27"/>
      <p:boldItalic r:id="rId28"/>
    </p:embeddedFont>
    <p:embeddedFont>
      <p:font typeface="Fraunces Light" panose="020F0502020204030204" pitchFamily="34" charset="0"/>
      <p:regular r:id="rId29"/>
      <p:bold r:id="rId30"/>
      <p:italic r:id="rId31"/>
      <p:boldItalic r:id="rId32"/>
    </p:embeddedFont>
    <p:embeddedFont>
      <p:font typeface="Georgia" panose="02040502050405020303" pitchFamily="18" charset="0"/>
      <p:regular r:id="rId33"/>
      <p:bold r:id="rId34"/>
      <p:italic r:id="rId35"/>
      <p:boldItalic r:id="rId36"/>
    </p:embeddedFont>
    <p:embeddedFont>
      <p:font typeface="Quattrocento" panose="02020502030000000404" pitchFamily="18" charset="0"/>
      <p:regular r:id="rId37"/>
      <p:bold r:id="rId38"/>
    </p:embeddedFont>
    <p:embeddedFont>
      <p:font typeface="Wix Madefor Display" panose="020B0503020203020203" pitchFamily="34" charset="77"/>
      <p:regular r:id="rId39"/>
      <p:bold r:id="rId40"/>
    </p:embeddedFont>
    <p:embeddedFont>
      <p:font typeface="Wix Madefor Text" panose="020F0502020204030204" pitchFamily="34" charset="0"/>
      <p:regular r:id="rId41"/>
      <p:bold r:id="rId42"/>
      <p:italic r:id="rId43"/>
      <p:boldItalic r:id="rId4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5" roundtripDataSignature="AMtx7mi5C5RUdV1G6E53WkGEbOE78ZLE9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521"/>
  </p:normalViewPr>
  <p:slideViewPr>
    <p:cSldViewPr snapToGrid="0">
      <p:cViewPr varScale="1">
        <p:scale>
          <a:sx n="120" d="100"/>
          <a:sy n="120" d="100"/>
        </p:scale>
        <p:origin x="28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9" Type="http://schemas.openxmlformats.org/officeDocument/2006/relationships/font" Target="fonts/font19.fntdata"/><Relationship Id="rId21" Type="http://schemas.openxmlformats.org/officeDocument/2006/relationships/font" Target="fonts/font1.fntdata"/><Relationship Id="rId34" Type="http://schemas.openxmlformats.org/officeDocument/2006/relationships/font" Target="fonts/font14.fntdata"/><Relationship Id="rId42" Type="http://schemas.openxmlformats.org/officeDocument/2006/relationships/font" Target="fonts/font22.fntdata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9.fntdata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37" Type="http://schemas.openxmlformats.org/officeDocument/2006/relationships/font" Target="fonts/font17.fntdata"/><Relationship Id="rId40" Type="http://schemas.openxmlformats.org/officeDocument/2006/relationships/font" Target="fonts/font20.fntdata"/><Relationship Id="rId45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font" Target="fonts/font16.fntdata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1.fntdata"/><Relationship Id="rId44" Type="http://schemas.openxmlformats.org/officeDocument/2006/relationships/font" Target="fonts/font2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font" Target="fonts/font15.fntdata"/><Relationship Id="rId43" Type="http://schemas.openxmlformats.org/officeDocument/2006/relationships/font" Target="fonts/font23.fntdata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font" Target="fonts/font13.fntdata"/><Relationship Id="rId38" Type="http://schemas.openxmlformats.org/officeDocument/2006/relationships/font" Target="fonts/font18.fntdata"/><Relationship Id="rId46" Type="http://schemas.openxmlformats.org/officeDocument/2006/relationships/presProps" Target="presProps.xml"/><Relationship Id="rId20" Type="http://schemas.openxmlformats.org/officeDocument/2006/relationships/notesMaster" Target="notesMasters/notesMaster1.xml"/><Relationship Id="rId41" Type="http://schemas.openxmlformats.org/officeDocument/2006/relationships/font" Target="fonts/font2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c87d3bf915_0_2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c87d3bf915_0_2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g3c87d3bf915_0_2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g3e1d4df51d0_0_2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32" name="Google Shape;32;g3e1d4df51d0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" name="Google Shape;48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9" name="Google Shape;49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" name="Google Shape;68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9" name="Google Shape;69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" name="Google Shape;106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7" name="Google Shape;107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8" name="Google Shape;15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9" name="Google Shape;159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7" name="Google Shape;207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8" name="Google Shape;208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4" name="Google Shape;53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g3e1d4df51d0_0_16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03" name="Google Shape;603;g3e1d4df51d0_0_1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2" name="Google Shape;642;p12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ea1fa871f8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g3ea1fa871f8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eabc8c7085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g3eabc8c7085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d1dddffea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952500" y="137160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3d1dddffeae_0_0:notes"/>
          <p:cNvSpPr txBox="1">
            <a:spLocks noGrp="1"/>
          </p:cNvSpPr>
          <p:nvPr>
            <p:ph type="body" idx="1"/>
          </p:nvPr>
        </p:nvSpPr>
        <p:spPr>
          <a:xfrm>
            <a:off x="1028700" y="8686800"/>
            <a:ext cx="8229600" cy="8229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3cc4afb33f9_1_1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342900" y="2286000"/>
            <a:ext cx="10972800" cy="6172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0" name="Google Shape;590;g3cc4afb33f9_1_173:notes"/>
          <p:cNvSpPr txBox="1">
            <a:spLocks noGrp="1"/>
          </p:cNvSpPr>
          <p:nvPr>
            <p:ph type="body" idx="1"/>
          </p:nvPr>
        </p:nvSpPr>
        <p:spPr>
          <a:xfrm>
            <a:off x="1028700" y="8801100"/>
            <a:ext cx="8229600" cy="72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375" tIns="152375" rIns="152375" bIns="15237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 b="1">
                <a:latin typeface="Arial"/>
                <a:ea typeface="Arial"/>
                <a:cs typeface="Arial"/>
                <a:sym typeface="Arial"/>
              </a:rPr>
              <a:t>We’re not just solving one task — we’re automating end-to-end insurance workflows, from submission intake to policy checking, audits, and claims validation.</a:t>
            </a:r>
            <a:endParaRPr sz="1100"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b="1"/>
              <a:t>Some people don’t agree with this kind of holistic approach but Our customers love it. </a:t>
            </a:r>
            <a:endParaRPr b="1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endParaRPr b="1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endParaRPr b="1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endParaRPr b="1"/>
          </a:p>
        </p:txBody>
      </p:sp>
      <p:sp>
        <p:nvSpPr>
          <p:cNvPr id="591" name="Google Shape;591;g3cc4afb33f9_1_173:notes"/>
          <p:cNvSpPr txBox="1">
            <a:spLocks noGrp="1"/>
          </p:cNvSpPr>
          <p:nvPr>
            <p:ph type="sldNum" idx="12"/>
          </p:nvPr>
        </p:nvSpPr>
        <p:spPr>
          <a:xfrm>
            <a:off x="5826920" y="17370426"/>
            <a:ext cx="4457700" cy="9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375" tIns="152375" rIns="152375" bIns="1523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fld id="{00000000-1234-1234-1234-123412341234}" type="slidenum">
              <a:rPr lang="en-US" sz="2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2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g386d2a9a2cd_2_6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342900" y="2286000"/>
            <a:ext cx="10972800" cy="6172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64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15" name="Google Shape;815;g386d2a9a2cd_2_690:notes"/>
          <p:cNvSpPr txBox="1">
            <a:spLocks noGrp="1"/>
          </p:cNvSpPr>
          <p:nvPr>
            <p:ph type="body" idx="1"/>
          </p:nvPr>
        </p:nvSpPr>
        <p:spPr>
          <a:xfrm>
            <a:off x="1028700" y="8801100"/>
            <a:ext cx="8229600" cy="72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8075" tIns="158075" rIns="158075" bIns="158075" anchor="t" anchorCtr="0">
            <a:noAutofit/>
          </a:bodyPr>
          <a:lstStyle/>
          <a:p>
            <a:pPr marL="800100" lvl="0" indent="-508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Add team to this</a:t>
            </a:r>
            <a:endParaRPr/>
          </a:p>
        </p:txBody>
      </p:sp>
      <p:sp>
        <p:nvSpPr>
          <p:cNvPr id="816" name="Google Shape;816;g386d2a9a2cd_2_690:notes"/>
          <p:cNvSpPr txBox="1">
            <a:spLocks noGrp="1"/>
          </p:cNvSpPr>
          <p:nvPr>
            <p:ph type="sldNum" idx="12"/>
          </p:nvPr>
        </p:nvSpPr>
        <p:spPr>
          <a:xfrm>
            <a:off x="5826920" y="17370426"/>
            <a:ext cx="4457700" cy="9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8075" tIns="158075" rIns="158075" bIns="1580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fld id="{00000000-1234-1234-1234-123412341234}" type="slidenum">
              <a:rPr lang="en-US" sz="2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2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g3959a017110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8" name="Google Shape;1018;g3959a017110_1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9" name="Google Shape;1019;g3959a017110_1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Google Shape;1046;g386d2a9a2cd_2_10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7" name="Google Shape;1047;g386d2a9a2cd_2_10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100" i="1">
                <a:latin typeface="Arial"/>
                <a:ea typeface="Arial"/>
                <a:cs typeface="Arial"/>
                <a:sym typeface="Arial"/>
              </a:rPr>
              <a:t>There’s been a lot of hype around AI in insurance — but most tools today don’t fit how the industry really works.</a:t>
            </a:r>
            <a:endParaRPr sz="1100" i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100" i="1">
                <a:latin typeface="Arial"/>
                <a:ea typeface="Arial"/>
                <a:cs typeface="Arial"/>
                <a:sym typeface="Arial"/>
              </a:rPr>
              <a:t>So we built FurtherAI to be insurance-native — wired into your tools, and enterprise ready. </a:t>
            </a:r>
            <a:endParaRPr sz="1100" i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100" i="1">
                <a:latin typeface="Arial"/>
                <a:ea typeface="Arial"/>
                <a:cs typeface="Arial"/>
                <a:sym typeface="Arial"/>
              </a:rPr>
              <a:t>We’re not reinventing the wheel here — just helping it turn a whole lot faster.</a:t>
            </a:r>
            <a:endParaRPr sz="1100" i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endParaRPr sz="1100" i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" name="Google Shape;1048;g386d2a9a2cd_2_10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Google Shape;1085;g3c87d3bf915_0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6" name="Google Shape;1086;g3c87d3bf915_0_25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7" name="Google Shape;1087;g3c87d3bf915_0_25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9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●"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●"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●"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9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457200" marR="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●"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●"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●"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3e1d4df51d0_0_9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g3e1d4df51d0_0_9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g3e1d4df51d0_0_9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2.png"/><Relationship Id="rId4" Type="http://schemas.openxmlformats.org/officeDocument/2006/relationships/image" Target="../media/image7.png"/><Relationship Id="rId9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furtherai.com/customers/submissions-processing-ai" TargetMode="External"/><Relationship Id="rId3" Type="http://schemas.openxmlformats.org/officeDocument/2006/relationships/image" Target="../media/image1.png"/><Relationship Id="rId7" Type="http://schemas.openxmlformats.org/officeDocument/2006/relationships/hyperlink" Target="https://www.furtherai.com/customers/how-brokers-use-furtherai-to-generate-client-proposals-in-minutes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11" Type="http://schemas.openxmlformats.org/officeDocument/2006/relationships/image" Target="../media/image15.png"/><Relationship Id="rId5" Type="http://schemas.openxmlformats.org/officeDocument/2006/relationships/image" Target="../media/image12.png"/><Relationship Id="rId10" Type="http://schemas.openxmlformats.org/officeDocument/2006/relationships/image" Target="../media/image14.png"/><Relationship Id="rId4" Type="http://schemas.openxmlformats.org/officeDocument/2006/relationships/image" Target="../media/image2.png"/><Relationship Id="rId9" Type="http://schemas.openxmlformats.org/officeDocument/2006/relationships/hyperlink" Target="https://www.furtherai.com/customers/policy-check-compare-ai-teammate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1.png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7.png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7" title="Slides dump - merge to decks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7"/>
          <p:cNvSpPr txBox="1"/>
          <p:nvPr/>
        </p:nvSpPr>
        <p:spPr>
          <a:xfrm>
            <a:off x="591751" y="2655400"/>
            <a:ext cx="6536400" cy="15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67" tIns="60967" rIns="60967" bIns="60967" anchor="ctr" anchorCtr="0">
            <a:noAutofit/>
          </a:bodyPr>
          <a:lstStyle/>
          <a:p>
            <a:pPr>
              <a:lnSpc>
                <a:spcPct val="80000"/>
              </a:lnSpc>
            </a:pPr>
            <a:r>
              <a:rPr lang="en-US" sz="4933">
                <a:solidFill>
                  <a:schemeClr val="lt1"/>
                </a:solidFill>
                <a:latin typeface="Fraunces Light"/>
                <a:ea typeface="Fraunces Light"/>
                <a:cs typeface="Fraunces Light"/>
                <a:sym typeface="Fraunces Light"/>
              </a:rPr>
              <a:t>Agentic Workspace for Insurance</a:t>
            </a:r>
            <a:endParaRPr sz="4933">
              <a:solidFill>
                <a:schemeClr val="lt1"/>
              </a:solidFill>
              <a:latin typeface="Fraunces Light"/>
              <a:ea typeface="Fraunces Light"/>
              <a:cs typeface="Fraunces Light"/>
              <a:sym typeface="Fraunces Light"/>
            </a:endParaRPr>
          </a:p>
        </p:txBody>
      </p:sp>
      <p:pic>
        <p:nvPicPr>
          <p:cNvPr id="69" name="Google Shape;69;p17" title="FAI png (1).png"/>
          <p:cNvPicPr preferRelativeResize="0"/>
          <p:nvPr/>
        </p:nvPicPr>
        <p:blipFill rotWithShape="1">
          <a:blip r:embed="rId4">
            <a:alphaModFix/>
          </a:blip>
          <a:srcRect t="8947" b="40392"/>
          <a:stretch/>
        </p:blipFill>
        <p:spPr>
          <a:xfrm>
            <a:off x="591751" y="570367"/>
            <a:ext cx="1773636" cy="505452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7"/>
          <p:cNvSpPr txBox="1"/>
          <p:nvPr/>
        </p:nvSpPr>
        <p:spPr>
          <a:xfrm>
            <a:off x="5533200" y="6397567"/>
            <a:ext cx="1125600" cy="2565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67" tIns="60967" rIns="60967" bIns="60967" anchor="t" anchorCtr="0">
            <a:spAutoFit/>
          </a:bodyPr>
          <a:lstStyle/>
          <a:p>
            <a:pPr algn="ctr"/>
            <a:r>
              <a:rPr lang="en-US" sz="867">
                <a:solidFill>
                  <a:srgbClr val="EEEEEE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furtherai.com</a:t>
            </a:r>
            <a:endParaRPr sz="867">
              <a:solidFill>
                <a:srgbClr val="D0CEC3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71" name="Google Shape;71;p17"/>
          <p:cNvSpPr txBox="1"/>
          <p:nvPr/>
        </p:nvSpPr>
        <p:spPr>
          <a:xfrm>
            <a:off x="10814384" y="6397767"/>
            <a:ext cx="1125600" cy="2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67" tIns="60967" rIns="60967" bIns="60967" anchor="t" anchorCtr="0">
            <a:noAutofit/>
          </a:bodyPr>
          <a:lstStyle/>
          <a:p>
            <a:pPr algn="r"/>
            <a:r>
              <a:rPr lang="en-US" sz="867">
                <a:solidFill>
                  <a:srgbClr val="EEEEEE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1</a:t>
            </a:r>
            <a:endParaRPr sz="867">
              <a:solidFill>
                <a:srgbClr val="D0CEC3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72" name="Google Shape;72;p17"/>
          <p:cNvSpPr txBox="1"/>
          <p:nvPr/>
        </p:nvSpPr>
        <p:spPr>
          <a:xfrm>
            <a:off x="252023" y="6397567"/>
            <a:ext cx="2977200" cy="2565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67" tIns="60967" rIns="60967" bIns="60967" anchor="t" anchorCtr="0">
            <a:spAutoFit/>
          </a:bodyPr>
          <a:lstStyle/>
          <a:p>
            <a:r>
              <a:rPr lang="en-US" sz="867">
                <a:solidFill>
                  <a:srgbClr val="EEEEEE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AI Workspace for Insurance</a:t>
            </a:r>
            <a:endParaRPr sz="867">
              <a:solidFill>
                <a:srgbClr val="EEEEEE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cxnSp>
        <p:nvCxnSpPr>
          <p:cNvPr id="73" name="Google Shape;73;p17"/>
          <p:cNvCxnSpPr/>
          <p:nvPr/>
        </p:nvCxnSpPr>
        <p:spPr>
          <a:xfrm>
            <a:off x="260000" y="6253233"/>
            <a:ext cx="11672000" cy="0"/>
          </a:xfrm>
          <a:prstGeom prst="straightConnector1">
            <a:avLst/>
          </a:prstGeom>
          <a:noFill/>
          <a:ln w="4775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4" name="Google Shape;74;p17" title="Slides dump - merge to decks (15).png"/>
          <p:cNvPicPr preferRelativeResize="0"/>
          <p:nvPr/>
        </p:nvPicPr>
        <p:blipFill rotWithShape="1">
          <a:blip r:embed="rId5">
            <a:alphaModFix/>
          </a:blip>
          <a:srcRect l="4851" t="15993" r="35848" b="14563"/>
          <a:stretch/>
        </p:blipFill>
        <p:spPr>
          <a:xfrm>
            <a:off x="591764" y="5036525"/>
            <a:ext cx="1329401" cy="8756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3e1d4df51d0_0_2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BFBF9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g3e1d4df51d0_0_2"/>
          <p:cNvSpPr/>
          <p:nvPr/>
        </p:nvSpPr>
        <p:spPr>
          <a:xfrm>
            <a:off x="0" y="0"/>
            <a:ext cx="4937700" cy="6858000"/>
          </a:xfrm>
          <a:prstGeom prst="rect">
            <a:avLst/>
          </a:prstGeom>
          <a:solidFill>
            <a:srgbClr val="051610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g3e1d4df51d0_0_2"/>
          <p:cNvSpPr txBox="1"/>
          <p:nvPr/>
        </p:nvSpPr>
        <p:spPr>
          <a:xfrm>
            <a:off x="502920" y="2804160"/>
            <a:ext cx="4297800" cy="778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 u="none" strike="noStrike" cap="none" dirty="0">
                <a:solidFill>
                  <a:srgbClr val="FFFFFF"/>
                </a:solidFill>
                <a:latin typeface="Fraunces 9pt" pitchFamily="2" charset="77"/>
                <a:ea typeface="Georgia"/>
                <a:cs typeface="Georgia"/>
                <a:sym typeface="Georgia"/>
              </a:rPr>
              <a:t>Agenda</a:t>
            </a:r>
            <a:endParaRPr sz="1400" u="none" strike="noStrike" cap="none" dirty="0">
              <a:solidFill>
                <a:srgbClr val="000000"/>
              </a:solidFill>
              <a:latin typeface="Fraunces 9pt" pitchFamily="2" charset="77"/>
              <a:sym typeface="Arial"/>
            </a:endParaRPr>
          </a:p>
        </p:txBody>
      </p:sp>
      <p:pic>
        <p:nvPicPr>
          <p:cNvPr id="37" name="Google Shape;37;g3e1d4df51d0_0_2" descr="furtherai-log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82501" y="347475"/>
            <a:ext cx="1206274" cy="26160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g3e1d4df51d0_0_2"/>
          <p:cNvSpPr txBox="1"/>
          <p:nvPr/>
        </p:nvSpPr>
        <p:spPr>
          <a:xfrm>
            <a:off x="5934623" y="2019475"/>
            <a:ext cx="4937700" cy="3008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>
                <a:solidFill>
                  <a:srgbClr val="14161C"/>
                </a:solidFill>
                <a:latin typeface="Wix Madefor Display" panose="020B0503020203020203" pitchFamily="34" charset="77"/>
                <a:ea typeface="Georgia"/>
                <a:cs typeface="Wix Madefor Display" panose="020B0503020203020203" pitchFamily="34" charset="77"/>
                <a:sym typeface="Georgia"/>
              </a:rPr>
              <a:t>Discuss overall approach of our effort</a:t>
            </a:r>
            <a:endParaRPr sz="1500" u="none" strike="noStrike" cap="none">
              <a:solidFill>
                <a:srgbClr val="000000"/>
              </a:solidFill>
              <a:latin typeface="Wix Madefor Display" panose="020B0503020203020203" pitchFamily="34" charset="77"/>
              <a:cs typeface="Wix Madefor Display" panose="020B0503020203020203" pitchFamily="34" charset="77"/>
              <a:sym typeface="Arial"/>
            </a:endParaRPr>
          </a:p>
        </p:txBody>
      </p:sp>
      <p:sp>
        <p:nvSpPr>
          <p:cNvPr id="39" name="Google Shape;39;g3e1d4df51d0_0_2"/>
          <p:cNvSpPr txBox="1"/>
          <p:nvPr/>
        </p:nvSpPr>
        <p:spPr>
          <a:xfrm>
            <a:off x="5934623" y="2793113"/>
            <a:ext cx="4937700" cy="601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>
                <a:solidFill>
                  <a:srgbClr val="14161C"/>
                </a:solidFill>
                <a:latin typeface="Wix Madefor Display" panose="020B0503020203020203" pitchFamily="34" charset="77"/>
                <a:ea typeface="Georgia"/>
                <a:cs typeface="Wix Madefor Display" panose="020B0503020203020203" pitchFamily="34" charset="77"/>
                <a:sym typeface="Georgia"/>
              </a:rPr>
              <a:t>Outline methodology for process mapping and evaluation</a:t>
            </a:r>
            <a:endParaRPr sz="1700" u="none" strike="noStrike" cap="none">
              <a:solidFill>
                <a:srgbClr val="14161C"/>
              </a:solidFill>
              <a:latin typeface="Wix Madefor Display" panose="020B0503020203020203" pitchFamily="34" charset="77"/>
              <a:ea typeface="Georgia"/>
              <a:cs typeface="Wix Madefor Display" panose="020B0503020203020203" pitchFamily="34" charset="77"/>
              <a:sym typeface="Georgia"/>
            </a:endParaRPr>
          </a:p>
        </p:txBody>
      </p:sp>
      <p:sp>
        <p:nvSpPr>
          <p:cNvPr id="40" name="Google Shape;40;g3e1d4df51d0_0_2"/>
          <p:cNvSpPr txBox="1"/>
          <p:nvPr/>
        </p:nvSpPr>
        <p:spPr>
          <a:xfrm>
            <a:off x="5934615" y="3858259"/>
            <a:ext cx="5882400" cy="3008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>
                <a:solidFill>
                  <a:srgbClr val="14161C"/>
                </a:solidFill>
                <a:latin typeface="Wix Madefor Display" panose="020B0503020203020203" pitchFamily="34" charset="77"/>
                <a:ea typeface="Georgia"/>
                <a:cs typeface="Wix Madefor Display" panose="020B0503020203020203" pitchFamily="34" charset="77"/>
                <a:sym typeface="Georgia"/>
              </a:rPr>
              <a:t>Initial findings for Zurich New Business MM</a:t>
            </a:r>
            <a:endParaRPr sz="1500" u="none" strike="noStrike" cap="none">
              <a:solidFill>
                <a:srgbClr val="000000"/>
              </a:solidFill>
              <a:latin typeface="Wix Madefor Display" panose="020B0503020203020203" pitchFamily="34" charset="77"/>
              <a:cs typeface="Wix Madefor Display" panose="020B0503020203020203" pitchFamily="34" charset="77"/>
              <a:sym typeface="Arial"/>
            </a:endParaRPr>
          </a:p>
        </p:txBody>
      </p:sp>
      <p:sp>
        <p:nvSpPr>
          <p:cNvPr id="41" name="Google Shape;41;g3e1d4df51d0_0_2"/>
          <p:cNvSpPr txBox="1"/>
          <p:nvPr/>
        </p:nvSpPr>
        <p:spPr>
          <a:xfrm>
            <a:off x="5934615" y="4696846"/>
            <a:ext cx="5882400" cy="3008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>
                <a:solidFill>
                  <a:srgbClr val="14161C"/>
                </a:solidFill>
                <a:latin typeface="Wix Madefor Display" panose="020B0503020203020203" pitchFamily="34" charset="77"/>
                <a:ea typeface="Georgia"/>
                <a:cs typeface="Wix Madefor Display" panose="020B0503020203020203" pitchFamily="34" charset="77"/>
                <a:sym typeface="Georgia"/>
              </a:rPr>
              <a:t>Align on what success looks like &amp; next steps</a:t>
            </a:r>
            <a:endParaRPr sz="1500" u="none" strike="noStrike" cap="none">
              <a:solidFill>
                <a:srgbClr val="000000"/>
              </a:solidFill>
              <a:latin typeface="Wix Madefor Display" panose="020B0503020203020203" pitchFamily="34" charset="77"/>
              <a:cs typeface="Wix Madefor Display" panose="020B0503020203020203" pitchFamily="34" charset="77"/>
              <a:sym typeface="Arial"/>
            </a:endParaRPr>
          </a:p>
        </p:txBody>
      </p:sp>
      <p:sp>
        <p:nvSpPr>
          <p:cNvPr id="42" name="Google Shape;42;g3e1d4df51d0_0_2"/>
          <p:cNvSpPr/>
          <p:nvPr/>
        </p:nvSpPr>
        <p:spPr>
          <a:xfrm>
            <a:off x="5359387" y="1932325"/>
            <a:ext cx="448500" cy="435900"/>
          </a:xfrm>
          <a:prstGeom prst="ellipse">
            <a:avLst/>
          </a:prstGeom>
          <a:solidFill>
            <a:srgbClr val="274E1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lt1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1</a:t>
            </a:r>
            <a:endParaRPr sz="1900">
              <a:solidFill>
                <a:schemeClr val="lt1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43" name="Google Shape;43;g3e1d4df51d0_0_2"/>
          <p:cNvSpPr/>
          <p:nvPr/>
        </p:nvSpPr>
        <p:spPr>
          <a:xfrm>
            <a:off x="5359387" y="2804406"/>
            <a:ext cx="448500" cy="435900"/>
          </a:xfrm>
          <a:prstGeom prst="ellipse">
            <a:avLst/>
          </a:prstGeom>
          <a:solidFill>
            <a:srgbClr val="274E1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lt1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2</a:t>
            </a:r>
            <a:endParaRPr sz="1900">
              <a:solidFill>
                <a:schemeClr val="lt1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44" name="Google Shape;44;g3e1d4df51d0_0_2"/>
          <p:cNvSpPr/>
          <p:nvPr/>
        </p:nvSpPr>
        <p:spPr>
          <a:xfrm>
            <a:off x="5359387" y="3771106"/>
            <a:ext cx="448500" cy="435900"/>
          </a:xfrm>
          <a:prstGeom prst="ellipse">
            <a:avLst/>
          </a:prstGeom>
          <a:solidFill>
            <a:srgbClr val="274E1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lt1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3</a:t>
            </a:r>
            <a:endParaRPr sz="1900">
              <a:solidFill>
                <a:schemeClr val="lt1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45" name="Google Shape;45;g3e1d4df51d0_0_2"/>
          <p:cNvSpPr/>
          <p:nvPr/>
        </p:nvSpPr>
        <p:spPr>
          <a:xfrm>
            <a:off x="5359387" y="4622512"/>
            <a:ext cx="448500" cy="435900"/>
          </a:xfrm>
          <a:prstGeom prst="ellipse">
            <a:avLst/>
          </a:prstGeom>
          <a:solidFill>
            <a:srgbClr val="274E1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lt1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4</a:t>
            </a:r>
            <a:endParaRPr sz="1900">
              <a:solidFill>
                <a:schemeClr val="lt1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2" descr="logo_dark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5760" y="274320"/>
            <a:ext cx="12801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2"/>
          <p:cNvSpPr/>
          <p:nvPr/>
        </p:nvSpPr>
        <p:spPr>
          <a:xfrm>
            <a:off x="365760" y="1143000"/>
            <a:ext cx="114300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dirty="0">
                <a:solidFill>
                  <a:srgbClr val="111111"/>
                </a:solidFill>
                <a:latin typeface="Fraunces 9pt" pitchFamily="2" charset="77"/>
                <a:ea typeface="Georgia"/>
                <a:cs typeface="Georgia"/>
                <a:sym typeface="Georgia"/>
              </a:rPr>
              <a:t>1. </a:t>
            </a:r>
            <a:r>
              <a:rPr lang="en-US" sz="2600" u="none" strike="noStrike" cap="none" dirty="0">
                <a:solidFill>
                  <a:srgbClr val="111111"/>
                </a:solidFill>
                <a:latin typeface="Fraunces 9pt" pitchFamily="2" charset="77"/>
                <a:ea typeface="Georgia"/>
                <a:cs typeface="Georgia"/>
                <a:sym typeface="Georgia"/>
              </a:rPr>
              <a:t>From solution-first to foundation-first</a:t>
            </a:r>
            <a:endParaRPr sz="2600" u="none" strike="noStrike" cap="none" dirty="0">
              <a:solidFill>
                <a:schemeClr val="dk1"/>
              </a:solidFill>
              <a:latin typeface="Fraunces 9pt" pitchFamily="2" charset="77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365750" y="2377449"/>
            <a:ext cx="4937700" cy="3441600"/>
          </a:xfrm>
          <a:prstGeom prst="rect">
            <a:avLst/>
          </a:prstGeom>
          <a:solidFill>
            <a:srgbClr val="F7F9F8"/>
          </a:solidFill>
          <a:ln w="9525" cap="flat" cmpd="sng">
            <a:solidFill>
              <a:srgbClr val="DDDD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u="none" strike="noStrike" cap="none">
              <a:solidFill>
                <a:srgbClr val="000000"/>
              </a:solidFill>
              <a:latin typeface="Wix Madefor Display" panose="020B0503020203020203" pitchFamily="34" charset="77"/>
              <a:cs typeface="Wix Madefor Display" panose="020B0503020203020203" pitchFamily="34" charset="77"/>
              <a:sym typeface="Arial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365750" y="2377452"/>
            <a:ext cx="4937700" cy="731400"/>
          </a:xfrm>
          <a:prstGeom prst="rect">
            <a:avLst/>
          </a:prstGeom>
          <a:solidFill>
            <a:schemeClr val="accent3"/>
          </a:solidFill>
          <a:ln w="12700" cap="flat" cmpd="sng">
            <a:solidFill>
              <a:srgbClr val="8A989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u="none" strike="noStrike" cap="none">
              <a:solidFill>
                <a:srgbClr val="000000"/>
              </a:solidFill>
              <a:latin typeface="Wix Madefor Display" panose="020B0503020203020203" pitchFamily="34" charset="77"/>
              <a:cs typeface="Wix Madefor Display" panose="020B0503020203020203" pitchFamily="34" charset="77"/>
              <a:sym typeface="Arial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594360" y="2441448"/>
            <a:ext cx="44805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200" u="none" strike="noStrike" cap="none">
                <a:solidFill>
                  <a:srgbClr val="FFFFFF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FROM</a:t>
            </a:r>
            <a:endParaRPr sz="1200" u="none" strike="noStrike" cap="none">
              <a:solidFill>
                <a:schemeClr val="dk1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594360" y="2651760"/>
            <a:ext cx="44805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lang="en-US" sz="1800" u="none" strike="noStrike" cap="none">
                <a:solidFill>
                  <a:srgbClr val="FFFFFF"/>
                </a:solidFill>
                <a:latin typeface="Wix Madefor Display" panose="020B0503020203020203" pitchFamily="34" charset="77"/>
                <a:ea typeface="Georgia"/>
                <a:cs typeface="Wix Madefor Display" panose="020B0503020203020203" pitchFamily="34" charset="77"/>
                <a:sym typeface="Georgia"/>
              </a:rPr>
              <a:t>Solution-first</a:t>
            </a:r>
            <a:endParaRPr sz="1800" u="none" strike="noStrike" cap="none">
              <a:solidFill>
                <a:schemeClr val="dk1"/>
              </a:solidFill>
              <a:latin typeface="Wix Madefor Display" panose="020B0503020203020203" pitchFamily="34" charset="77"/>
              <a:ea typeface="Calibri"/>
              <a:cs typeface="Wix Madefor Display" panose="020B0503020203020203" pitchFamily="34" charset="77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594350" y="3315725"/>
            <a:ext cx="4480500" cy="22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50"/>
              <a:buFont typeface="Quattrocento"/>
              <a:buChar char="●"/>
            </a:pPr>
            <a:r>
              <a:rPr lang="en-US" sz="1450" u="none" strike="noStrike" cap="none">
                <a:solidFill>
                  <a:srgbClr val="111111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Identifying specific agentic use cases per process</a:t>
            </a:r>
            <a:endParaRPr sz="1450" u="none" strike="noStrike" cap="none">
              <a:solidFill>
                <a:schemeClr val="dk1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111111"/>
              </a:buClr>
              <a:buSzPts val="1450"/>
              <a:buFont typeface="Quattrocento"/>
              <a:buChar char="●"/>
            </a:pPr>
            <a:r>
              <a:rPr lang="en-US" sz="1450" u="none" strike="noStrike" cap="none">
                <a:solidFill>
                  <a:srgbClr val="111111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Designing automation workflows for individual pain points</a:t>
            </a:r>
            <a:endParaRPr sz="1450" u="none" strike="noStrike" cap="none">
              <a:solidFill>
                <a:schemeClr val="dk1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111111"/>
              </a:buClr>
              <a:buSzPts val="1450"/>
              <a:buFont typeface="Quattrocento"/>
              <a:buChar char="●"/>
            </a:pPr>
            <a:r>
              <a:rPr lang="en-US" sz="1450" u="none" strike="noStrike" cap="none">
                <a:solidFill>
                  <a:srgbClr val="111111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Pitching solutions before the underlying processes were fully understood</a:t>
            </a:r>
            <a:endParaRPr sz="1450" u="none" strike="noStrike" cap="none">
              <a:solidFill>
                <a:schemeClr val="dk1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>
                <a:srgbClr val="111111"/>
              </a:buClr>
              <a:buSzPts val="1450"/>
              <a:buFont typeface="Quattrocento"/>
              <a:buChar char="●"/>
            </a:pPr>
            <a:r>
              <a:rPr lang="en-US" sz="1450" u="none" strike="noStrike" cap="none">
                <a:solidFill>
                  <a:srgbClr val="111111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Risk: point solutions that don't compound; rework when process knowledge surfaces later</a:t>
            </a:r>
            <a:endParaRPr sz="1450" u="none" strike="noStrike" cap="none">
              <a:solidFill>
                <a:schemeClr val="dk1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5486400" y="3931920"/>
            <a:ext cx="9144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7A4B"/>
              </a:buClr>
              <a:buSzPts val="5600"/>
              <a:buFont typeface="Georgia"/>
              <a:buNone/>
            </a:pPr>
            <a:r>
              <a:rPr lang="en-US" sz="5600" u="none" strike="noStrike" cap="none">
                <a:solidFill>
                  <a:srgbClr val="2C7A4B"/>
                </a:solidFill>
                <a:latin typeface="Wix Madefor Display" panose="020B0503020203020203" pitchFamily="34" charset="77"/>
                <a:ea typeface="Georgia"/>
                <a:cs typeface="Wix Madefor Display" panose="020B0503020203020203" pitchFamily="34" charset="77"/>
                <a:sym typeface="Georgia"/>
              </a:rPr>
              <a:t>→</a:t>
            </a:r>
            <a:endParaRPr sz="5600" u="none" strike="noStrike" cap="none">
              <a:solidFill>
                <a:schemeClr val="dk1"/>
              </a:solidFill>
              <a:latin typeface="Wix Madefor Display" panose="020B0503020203020203" pitchFamily="34" charset="77"/>
              <a:ea typeface="Calibri"/>
              <a:cs typeface="Wix Madefor Display" panose="020B0503020203020203" pitchFamily="34" charset="77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6583750" y="2377449"/>
            <a:ext cx="4937700" cy="34416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2C7A4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u="none" strike="noStrike" cap="none">
              <a:solidFill>
                <a:srgbClr val="000000"/>
              </a:solidFill>
              <a:latin typeface="Wix Madefor Display" panose="020B0503020203020203" pitchFamily="34" charset="77"/>
              <a:cs typeface="Wix Madefor Display" panose="020B0503020203020203" pitchFamily="34" charset="77"/>
              <a:sym typeface="Arial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6583675" y="2377453"/>
            <a:ext cx="4937700" cy="731400"/>
          </a:xfrm>
          <a:prstGeom prst="rect">
            <a:avLst/>
          </a:prstGeom>
          <a:solidFill>
            <a:srgbClr val="143524"/>
          </a:solidFill>
          <a:ln w="12700" cap="flat" cmpd="sng">
            <a:solidFill>
              <a:srgbClr val="14352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u="none" strike="noStrike" cap="none">
              <a:solidFill>
                <a:srgbClr val="000000"/>
              </a:solidFill>
              <a:latin typeface="Wix Madefor Display" panose="020B0503020203020203" pitchFamily="34" charset="77"/>
              <a:cs typeface="Wix Madefor Display" panose="020B0503020203020203" pitchFamily="34" charset="77"/>
              <a:sym typeface="Arial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6812270" y="2441448"/>
            <a:ext cx="4480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D9C5"/>
              </a:buClr>
              <a:buSzPts val="1000"/>
              <a:buFont typeface="Calibri"/>
              <a:buNone/>
            </a:pPr>
            <a:r>
              <a:rPr lang="en-US" sz="1200" u="none" strike="noStrike" cap="none">
                <a:solidFill>
                  <a:srgbClr val="B7D9C5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TO</a:t>
            </a:r>
            <a:endParaRPr sz="1200" u="none" strike="noStrike" cap="none">
              <a:solidFill>
                <a:schemeClr val="dk1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6812270" y="2651760"/>
            <a:ext cx="44805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lang="en-US" sz="1800" u="none" strike="noStrike" cap="none">
                <a:solidFill>
                  <a:srgbClr val="FFFFFF"/>
                </a:solidFill>
                <a:latin typeface="Wix Madefor Display" panose="020B0503020203020203" pitchFamily="34" charset="77"/>
                <a:ea typeface="Georgia"/>
                <a:cs typeface="Wix Madefor Display" panose="020B0503020203020203" pitchFamily="34" charset="77"/>
                <a:sym typeface="Georgia"/>
              </a:rPr>
              <a:t>Foundation-first</a:t>
            </a:r>
            <a:endParaRPr sz="1800" u="none" strike="noStrike" cap="none">
              <a:solidFill>
                <a:schemeClr val="dk1"/>
              </a:solidFill>
              <a:latin typeface="Wix Madefor Display" panose="020B0503020203020203" pitchFamily="34" charset="77"/>
              <a:ea typeface="Calibri"/>
              <a:cs typeface="Wix Madefor Display" panose="020B0503020203020203" pitchFamily="34" charset="77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6812275" y="3315725"/>
            <a:ext cx="4480500" cy="22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50"/>
              <a:buFont typeface="Quattrocento"/>
              <a:buChar char="●"/>
            </a:pPr>
            <a:r>
              <a:rPr lang="en-US" sz="1450">
                <a:solidFill>
                  <a:srgbClr val="111111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P</a:t>
            </a:r>
            <a:r>
              <a:rPr lang="en-US" sz="1450" u="none" strike="noStrike" cap="none">
                <a:solidFill>
                  <a:srgbClr val="111111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rocess discovery &amp; readiness capability</a:t>
            </a:r>
            <a:endParaRPr sz="1450" u="none" strike="noStrike" cap="none">
              <a:solidFill>
                <a:schemeClr val="dk1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111111"/>
              </a:buClr>
              <a:buSzPts val="1450"/>
              <a:buFont typeface="Quattrocento"/>
              <a:buChar char="●"/>
            </a:pPr>
            <a:r>
              <a:rPr lang="en-US" sz="1450" u="none" strike="noStrike" cap="none">
                <a:solidFill>
                  <a:srgbClr val="111111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Capturing SME knowledge in structured, reusable artifacts</a:t>
            </a:r>
            <a:endParaRPr sz="1450" u="none" strike="noStrike" cap="none">
              <a:solidFill>
                <a:schemeClr val="dk1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111111"/>
              </a:buClr>
              <a:buSzPts val="1450"/>
              <a:buFont typeface="Quattrocento"/>
              <a:buChar char="●"/>
            </a:pPr>
            <a:r>
              <a:rPr lang="en-US" sz="1450" u="none" strike="noStrike" cap="none">
                <a:solidFill>
                  <a:srgbClr val="111111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Scoring many processes for agentic fit before choosing what to build</a:t>
            </a:r>
            <a:endParaRPr sz="1450" u="none" strike="noStrike" cap="none">
              <a:solidFill>
                <a:schemeClr val="dk1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>
                <a:srgbClr val="111111"/>
              </a:buClr>
              <a:buSzPts val="1450"/>
              <a:buFont typeface="Quattrocento"/>
              <a:buChar char="●"/>
            </a:pPr>
            <a:r>
              <a:rPr lang="en-US" sz="1450" u="none" strike="noStrike" cap="none">
                <a:solidFill>
                  <a:srgbClr val="111111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Outcome: informed prioritization at leadership level — then build with conviction</a:t>
            </a:r>
            <a:endParaRPr sz="1450" u="none" strike="noStrike" cap="none">
              <a:solidFill>
                <a:schemeClr val="dk1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365760" y="653796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770"/>
              </a:buClr>
              <a:buSzPts val="900"/>
              <a:buFont typeface="Calibri"/>
              <a:buNone/>
            </a:pPr>
            <a:r>
              <a:rPr lang="en-US" sz="900" u="none" strike="noStrike" cap="none">
                <a:solidFill>
                  <a:srgbClr val="5B6770"/>
                </a:solidFill>
                <a:latin typeface="Wix Madefor Display" panose="020B0503020203020203" pitchFamily="34" charset="77"/>
                <a:ea typeface="Calibri"/>
                <a:cs typeface="Wix Madefor Display" panose="020B0503020203020203" pitchFamily="34" charset="77"/>
                <a:sym typeface="Calibri"/>
              </a:rPr>
              <a:t>AI Workspace for Insurance</a:t>
            </a:r>
            <a:endParaRPr sz="900" u="none" strike="noStrike" cap="none">
              <a:solidFill>
                <a:schemeClr val="dk1"/>
              </a:solidFill>
              <a:latin typeface="Wix Madefor Display" panose="020B0503020203020203" pitchFamily="34" charset="77"/>
              <a:ea typeface="Calibri"/>
              <a:cs typeface="Wix Madefor Display" panose="020B0503020203020203" pitchFamily="34" charset="77"/>
              <a:sym typeface="Calibri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4572000" y="6537960"/>
            <a:ext cx="30175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770"/>
              </a:buClr>
              <a:buSzPts val="900"/>
              <a:buFont typeface="Calibri"/>
              <a:buNone/>
            </a:pPr>
            <a:r>
              <a:rPr lang="en-US" sz="900" u="none" strike="noStrike" cap="none">
                <a:solidFill>
                  <a:srgbClr val="5B6770"/>
                </a:solidFill>
                <a:latin typeface="Wix Madefor Display" panose="020B0503020203020203" pitchFamily="34" charset="77"/>
                <a:ea typeface="Calibri"/>
                <a:cs typeface="Wix Madefor Display" panose="020B0503020203020203" pitchFamily="34" charset="77"/>
                <a:sym typeface="Calibri"/>
              </a:rPr>
              <a:t>furtherai.com</a:t>
            </a:r>
            <a:endParaRPr sz="900" u="none" strike="noStrike" cap="none">
              <a:solidFill>
                <a:schemeClr val="dk1"/>
              </a:solidFill>
              <a:latin typeface="Wix Madefor Display" panose="020B0503020203020203" pitchFamily="34" charset="77"/>
              <a:ea typeface="Calibri"/>
              <a:cs typeface="Wix Madefor Display" panose="020B0503020203020203" pitchFamily="34" charset="77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3" descr="logo_dark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5760" y="274320"/>
            <a:ext cx="12801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3"/>
          <p:cNvSpPr/>
          <p:nvPr/>
        </p:nvSpPr>
        <p:spPr>
          <a:xfrm>
            <a:off x="365760" y="1143000"/>
            <a:ext cx="114300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600"/>
              <a:buFont typeface="Georgia"/>
              <a:buNone/>
            </a:pPr>
            <a:r>
              <a:rPr lang="en-US" sz="2600">
                <a:solidFill>
                  <a:srgbClr val="111111"/>
                </a:solidFill>
                <a:latin typeface="Fraunces 9pt" pitchFamily="2" charset="77"/>
                <a:ea typeface="Georgia"/>
                <a:cs typeface="Georgia"/>
                <a:sym typeface="Georgia"/>
              </a:rPr>
              <a:t>1. </a:t>
            </a:r>
            <a:r>
              <a:rPr lang="en-US" sz="2600" u="none" strike="noStrike" cap="none">
                <a:solidFill>
                  <a:srgbClr val="111111"/>
                </a:solidFill>
                <a:latin typeface="Fraunces 9pt" pitchFamily="2" charset="77"/>
                <a:ea typeface="Georgia"/>
                <a:cs typeface="Georgia"/>
                <a:sym typeface="Georgia"/>
              </a:rPr>
              <a:t>Two foundational pillars</a:t>
            </a:r>
            <a:endParaRPr sz="2600" u="none" strike="noStrike" cap="none">
              <a:solidFill>
                <a:schemeClr val="dk1"/>
              </a:solidFill>
              <a:latin typeface="Fraunces 9pt" pitchFamily="2" charset="77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365760" y="173736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770"/>
              </a:buClr>
              <a:buSzPts val="1200"/>
              <a:buFont typeface="Calibri"/>
              <a:buNone/>
            </a:pPr>
            <a:r>
              <a:rPr lang="en-US" sz="1400" u="none" strike="noStrike" cap="none">
                <a:solidFill>
                  <a:srgbClr val="5B6770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Both required to unlock durable, scalable agentic execution. Neither sufficient alone.</a:t>
            </a:r>
            <a:endParaRPr sz="1400" u="none" strike="noStrike" cap="none">
              <a:solidFill>
                <a:schemeClr val="dk1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365760" y="2377440"/>
            <a:ext cx="5623560" cy="4023360"/>
          </a:xfrm>
          <a:prstGeom prst="rect">
            <a:avLst/>
          </a:prstGeom>
          <a:solidFill>
            <a:srgbClr val="E1EFD8"/>
          </a:solidFill>
          <a:ln w="15225" cap="flat" cmpd="sng">
            <a:solidFill>
              <a:srgbClr val="2C7A4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u="none" strike="noStrike" cap="none">
              <a:solidFill>
                <a:srgbClr val="000000"/>
              </a:solidFill>
              <a:latin typeface="Wix Madefor Display" panose="020B0503020203020203" pitchFamily="34" charset="77"/>
              <a:cs typeface="Wix Madefor Display" panose="020B0503020203020203" pitchFamily="34" charset="77"/>
              <a:sym typeface="Arial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365760" y="2377440"/>
            <a:ext cx="5623560" cy="868680"/>
          </a:xfrm>
          <a:prstGeom prst="rect">
            <a:avLst/>
          </a:prstGeom>
          <a:solidFill>
            <a:srgbClr val="143524"/>
          </a:solidFill>
          <a:ln w="12700" cap="flat" cmpd="sng">
            <a:solidFill>
              <a:srgbClr val="14352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u="none" strike="noStrike" cap="none">
              <a:solidFill>
                <a:srgbClr val="000000"/>
              </a:solidFill>
              <a:latin typeface="Wix Madefor Display" panose="020B0503020203020203" pitchFamily="34" charset="77"/>
              <a:cs typeface="Wix Madefor Display" panose="020B0503020203020203" pitchFamily="34" charset="77"/>
              <a:sym typeface="Arial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594360" y="2468880"/>
            <a:ext cx="51663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D9C5"/>
              </a:buClr>
              <a:buSzPts val="1000"/>
              <a:buFont typeface="Calibri"/>
              <a:buNone/>
            </a:pPr>
            <a:r>
              <a:rPr lang="en-US" sz="1200" u="none" strike="noStrike" cap="none">
                <a:solidFill>
                  <a:srgbClr val="B7D9C5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PILLAR 01</a:t>
            </a:r>
            <a:endParaRPr sz="1200" u="none" strike="noStrike" cap="none">
              <a:solidFill>
                <a:schemeClr val="dk1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594360" y="2697480"/>
            <a:ext cx="51663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Georgia"/>
              <a:buNone/>
            </a:pPr>
            <a:r>
              <a:rPr lang="en-US" sz="1700" u="none" strike="noStrike" cap="none">
                <a:solidFill>
                  <a:srgbClr val="FFFFFF"/>
                </a:solidFill>
                <a:latin typeface="Wix Madefor Display" panose="020B0503020203020203" pitchFamily="34" charset="77"/>
                <a:ea typeface="Georgia"/>
                <a:cs typeface="Wix Madefor Display" panose="020B0503020203020203" pitchFamily="34" charset="77"/>
                <a:sym typeface="Georgia"/>
              </a:rPr>
              <a:t>Process Discovery &amp; Optimization Capability</a:t>
            </a:r>
            <a:endParaRPr sz="1700" u="none" strike="noStrike" cap="none">
              <a:solidFill>
                <a:schemeClr val="dk1"/>
              </a:solidFill>
              <a:latin typeface="Wix Madefor Display" panose="020B0503020203020203" pitchFamily="34" charset="77"/>
              <a:ea typeface="Calibri"/>
              <a:cs typeface="Wix Madefor Display" panose="020B0503020203020203" pitchFamily="34" charset="77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594360" y="3383280"/>
            <a:ext cx="51663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524"/>
              </a:buClr>
              <a:buSzPts val="1200"/>
              <a:buFont typeface="Calibri"/>
              <a:buNone/>
            </a:pPr>
            <a:r>
              <a:rPr lang="en-US" sz="1200" u="none" strike="noStrike" cap="none" dirty="0">
                <a:solidFill>
                  <a:srgbClr val="143524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Discovery, mapping, and readiness scoring across Construction's processes.</a:t>
            </a:r>
            <a:endParaRPr sz="1200" u="none" strike="noStrike" cap="none" dirty="0">
              <a:solidFill>
                <a:schemeClr val="dk1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594360" y="3977640"/>
            <a:ext cx="5166360" cy="868680"/>
          </a:xfrm>
          <a:prstGeom prst="rect">
            <a:avLst/>
          </a:prstGeom>
          <a:solidFill>
            <a:srgbClr val="EDF3EF"/>
          </a:solidFill>
          <a:ln w="12700" cap="flat" cmpd="sng">
            <a:solidFill>
              <a:srgbClr val="EDF3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u="none" strike="noStrike" cap="none">
              <a:solidFill>
                <a:srgbClr val="000000"/>
              </a:solidFill>
              <a:latin typeface="Wix Madefor Display" panose="020B0503020203020203" pitchFamily="34" charset="77"/>
              <a:cs typeface="Wix Madefor Display" panose="020B0503020203020203" pitchFamily="34" charset="77"/>
              <a:sym typeface="Arial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731520" y="4069080"/>
            <a:ext cx="4892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524"/>
              </a:buClr>
              <a:buSzPts val="1200"/>
              <a:buFont typeface="Georgia"/>
              <a:buNone/>
            </a:pPr>
            <a:r>
              <a:rPr lang="en-US">
                <a:solidFill>
                  <a:srgbClr val="143524"/>
                </a:solidFill>
                <a:latin typeface="Wix Madefor Display" panose="020B0503020203020203" pitchFamily="34" charset="77"/>
                <a:ea typeface="Georgia"/>
                <a:cs typeface="Wix Madefor Display" panose="020B0503020203020203" pitchFamily="34" charset="77"/>
                <a:sym typeface="Georgia"/>
              </a:rPr>
              <a:t>i</a:t>
            </a:r>
            <a:r>
              <a:rPr lang="en-US" sz="1400" u="none" strike="noStrike" cap="none">
                <a:solidFill>
                  <a:srgbClr val="143524"/>
                </a:solidFill>
                <a:latin typeface="Wix Madefor Display" panose="020B0503020203020203" pitchFamily="34" charset="77"/>
                <a:ea typeface="Georgia"/>
                <a:cs typeface="Wix Madefor Display" panose="020B0503020203020203" pitchFamily="34" charset="77"/>
                <a:sym typeface="Georgia"/>
              </a:rPr>
              <a:t> · Discovery &amp; Mapping</a:t>
            </a:r>
            <a:endParaRPr sz="1400" u="none" strike="noStrike" cap="none">
              <a:solidFill>
                <a:schemeClr val="dk1"/>
              </a:solidFill>
              <a:latin typeface="Wix Madefor Display" panose="020B0503020203020203" pitchFamily="34" charset="77"/>
              <a:ea typeface="Calibri"/>
              <a:cs typeface="Wix Madefor Display" panose="020B0503020203020203" pitchFamily="34" charset="77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731520" y="4361688"/>
            <a:ext cx="48920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Calibri"/>
              <a:buNone/>
            </a:pPr>
            <a:r>
              <a:rPr lang="en-US" sz="1200" u="none" strike="noStrike" cap="none">
                <a:solidFill>
                  <a:srgbClr val="111111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Engage SMEs through structured interviews; aggregate input; produce validated current-state representation of each process.</a:t>
            </a:r>
            <a:endParaRPr sz="1200" u="none" strike="noStrike" cap="none">
              <a:solidFill>
                <a:schemeClr val="dk1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594360" y="4928616"/>
            <a:ext cx="5166360" cy="832104"/>
          </a:xfrm>
          <a:prstGeom prst="rect">
            <a:avLst/>
          </a:prstGeom>
          <a:solidFill>
            <a:srgbClr val="EDF3EF"/>
          </a:solidFill>
          <a:ln w="12700" cap="flat" cmpd="sng">
            <a:solidFill>
              <a:srgbClr val="EDF3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u="none" strike="noStrike" cap="none">
              <a:solidFill>
                <a:srgbClr val="000000"/>
              </a:solidFill>
              <a:latin typeface="Wix Madefor Display" panose="020B0503020203020203" pitchFamily="34" charset="77"/>
              <a:cs typeface="Wix Madefor Display" panose="020B0503020203020203" pitchFamily="34" charset="77"/>
              <a:sym typeface="Arial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731520" y="5020056"/>
            <a:ext cx="4892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524"/>
              </a:buClr>
              <a:buSzPts val="1200"/>
              <a:buFont typeface="Georgia"/>
              <a:buNone/>
            </a:pPr>
            <a:r>
              <a:rPr lang="en-US">
                <a:solidFill>
                  <a:srgbClr val="143524"/>
                </a:solidFill>
                <a:latin typeface="Wix Madefor Display" panose="020B0503020203020203" pitchFamily="34" charset="77"/>
                <a:ea typeface="Georgia"/>
                <a:cs typeface="Wix Madefor Display" panose="020B0503020203020203" pitchFamily="34" charset="77"/>
                <a:sym typeface="Georgia"/>
              </a:rPr>
              <a:t>ii </a:t>
            </a:r>
            <a:r>
              <a:rPr lang="en-US" sz="1400" u="none" strike="noStrike" cap="none">
                <a:solidFill>
                  <a:srgbClr val="143524"/>
                </a:solidFill>
                <a:latin typeface="Wix Madefor Display" panose="020B0503020203020203" pitchFamily="34" charset="77"/>
                <a:ea typeface="Georgia"/>
                <a:cs typeface="Wix Madefor Display" panose="020B0503020203020203" pitchFamily="34" charset="77"/>
                <a:sym typeface="Georgia"/>
              </a:rPr>
              <a:t>· Readiness &amp; Optimization Layer</a:t>
            </a:r>
            <a:endParaRPr sz="1400" u="none" strike="noStrike" cap="none">
              <a:solidFill>
                <a:schemeClr val="dk1"/>
              </a:solidFill>
              <a:latin typeface="Wix Madefor Display" panose="020B0503020203020203" pitchFamily="34" charset="77"/>
              <a:ea typeface="Calibri"/>
              <a:cs typeface="Wix Madefor Display" panose="020B0503020203020203" pitchFamily="34" charset="77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731520" y="5312664"/>
            <a:ext cx="48920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Calibri"/>
              <a:buNone/>
            </a:pPr>
            <a:r>
              <a:rPr lang="en-US" sz="1200" u="none" strike="noStrike" cap="none">
                <a:solidFill>
                  <a:srgbClr val="111111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Score each captured process for automation potential, complexity, effort, time-to-implement, and directional ROI.</a:t>
            </a:r>
            <a:endParaRPr sz="1200" u="none" strike="noStrike" cap="none">
              <a:solidFill>
                <a:schemeClr val="dk1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365760" y="5897880"/>
            <a:ext cx="5623560" cy="502920"/>
          </a:xfrm>
          <a:prstGeom prst="rect">
            <a:avLst/>
          </a:prstGeom>
          <a:solidFill>
            <a:srgbClr val="143524"/>
          </a:solidFill>
          <a:ln w="12700" cap="flat" cmpd="sng">
            <a:solidFill>
              <a:srgbClr val="14352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u="none" strike="noStrike" cap="none">
              <a:solidFill>
                <a:srgbClr val="000000"/>
              </a:solidFill>
              <a:latin typeface="Wix Madefor Display" panose="020B0503020203020203" pitchFamily="34" charset="77"/>
              <a:cs typeface="Wix Madefor Display" panose="020B0503020203020203" pitchFamily="34" charset="77"/>
              <a:sym typeface="Arial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594350" y="5897875"/>
            <a:ext cx="52650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D9C5"/>
              </a:buClr>
              <a:buSzPts val="900"/>
              <a:buFont typeface="Calibri"/>
              <a:buNone/>
            </a:pPr>
            <a:r>
              <a:rPr lang="en-US" sz="1000" u="none" strike="noStrike" cap="none">
                <a:solidFill>
                  <a:srgbClr val="B7D9C5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OUTPUT  </a:t>
            </a:r>
            <a:r>
              <a:rPr lang="en-US" sz="1200">
                <a:solidFill>
                  <a:schemeClr val="lt1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(a) </a:t>
            </a:r>
            <a:r>
              <a:rPr lang="en-US" sz="1200" u="none" strike="noStrike" cap="none">
                <a:solidFill>
                  <a:srgbClr val="FFFFFF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Validated process catalog and (b) </a:t>
            </a:r>
            <a:r>
              <a:rPr lang="en-US" sz="1200">
                <a:solidFill>
                  <a:srgbClr val="FFFFFF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prioritization for implementation</a:t>
            </a:r>
            <a:endParaRPr sz="1000" u="none" strike="noStrike" cap="none">
              <a:solidFill>
                <a:schemeClr val="dk1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6217920" y="2377440"/>
            <a:ext cx="5623560" cy="4023360"/>
          </a:xfrm>
          <a:prstGeom prst="rect">
            <a:avLst/>
          </a:prstGeom>
          <a:solidFill>
            <a:srgbClr val="FFFFFF"/>
          </a:solidFill>
          <a:ln w="15225" cap="flat" cmpd="sng">
            <a:solidFill>
              <a:srgbClr val="2C7A4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u="none" strike="noStrike" cap="none">
              <a:solidFill>
                <a:srgbClr val="000000"/>
              </a:solidFill>
              <a:latin typeface="Wix Madefor Display" panose="020B0503020203020203" pitchFamily="34" charset="77"/>
              <a:cs typeface="Wix Madefor Display" panose="020B0503020203020203" pitchFamily="34" charset="77"/>
              <a:sym typeface="Arial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6217920" y="2377440"/>
            <a:ext cx="5623560" cy="868680"/>
          </a:xfrm>
          <a:prstGeom prst="rect">
            <a:avLst/>
          </a:prstGeom>
          <a:solidFill>
            <a:srgbClr val="143524"/>
          </a:solidFill>
          <a:ln w="12700" cap="flat" cmpd="sng">
            <a:solidFill>
              <a:srgbClr val="14352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u="none" strike="noStrike" cap="none">
              <a:solidFill>
                <a:srgbClr val="000000"/>
              </a:solidFill>
              <a:latin typeface="Wix Madefor Display" panose="020B0503020203020203" pitchFamily="34" charset="77"/>
              <a:cs typeface="Wix Madefor Display" panose="020B0503020203020203" pitchFamily="34" charset="77"/>
              <a:sym typeface="Arial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6446520" y="2468880"/>
            <a:ext cx="51663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D9C5"/>
              </a:buClr>
              <a:buSzPts val="1000"/>
              <a:buFont typeface="Calibri"/>
              <a:buNone/>
            </a:pPr>
            <a:r>
              <a:rPr lang="en-US" sz="1200" u="none" strike="noStrike" cap="none">
                <a:solidFill>
                  <a:srgbClr val="B7D9C5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PILLAR 02</a:t>
            </a:r>
            <a:endParaRPr sz="1200" u="none" strike="noStrike" cap="none">
              <a:solidFill>
                <a:schemeClr val="dk1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6446520" y="2697480"/>
            <a:ext cx="51663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Georgia"/>
              <a:buNone/>
            </a:pPr>
            <a:r>
              <a:rPr lang="en-US" sz="1700" u="none" strike="noStrike" cap="none">
                <a:solidFill>
                  <a:srgbClr val="FFFFFF"/>
                </a:solidFill>
                <a:latin typeface="Wix Madefor Display" panose="020B0503020203020203" pitchFamily="34" charset="77"/>
                <a:ea typeface="Georgia"/>
                <a:cs typeface="Wix Madefor Display" panose="020B0503020203020203" pitchFamily="34" charset="77"/>
                <a:sym typeface="Georgia"/>
              </a:rPr>
              <a:t>Knowledge Repository Optimization</a:t>
            </a:r>
            <a:endParaRPr sz="1700" u="none" strike="noStrike" cap="none">
              <a:solidFill>
                <a:schemeClr val="dk1"/>
              </a:solidFill>
              <a:latin typeface="Wix Madefor Display" panose="020B0503020203020203" pitchFamily="34" charset="77"/>
              <a:ea typeface="Calibri"/>
              <a:cs typeface="Wix Madefor Display" panose="020B0503020203020203" pitchFamily="34" charset="77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6446520" y="3383280"/>
            <a:ext cx="51663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524"/>
              </a:buClr>
              <a:buSzPts val="1200"/>
              <a:buFont typeface="Calibri"/>
              <a:buNone/>
            </a:pPr>
            <a:r>
              <a:rPr lang="en-US" sz="1200" u="none" strike="noStrike" cap="none">
                <a:solidFill>
                  <a:srgbClr val="143524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Make the knowledge ecosystem AI-ready — foundational for any future agent family, regardless of use case.</a:t>
            </a:r>
            <a:endParaRPr sz="1200" u="none" strike="noStrike" cap="none">
              <a:solidFill>
                <a:schemeClr val="dk1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6446520" y="3977640"/>
            <a:ext cx="5166360" cy="868680"/>
          </a:xfrm>
          <a:prstGeom prst="rect">
            <a:avLst/>
          </a:prstGeom>
          <a:solidFill>
            <a:srgbClr val="EDF3EF"/>
          </a:solidFill>
          <a:ln w="12700" cap="flat" cmpd="sng">
            <a:solidFill>
              <a:srgbClr val="EDF3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u="none" strike="noStrike" cap="none">
              <a:solidFill>
                <a:srgbClr val="000000"/>
              </a:solidFill>
              <a:latin typeface="Wix Madefor Display" panose="020B0503020203020203" pitchFamily="34" charset="77"/>
              <a:cs typeface="Wix Madefor Display" panose="020B0503020203020203" pitchFamily="34" charset="77"/>
              <a:sym typeface="Arial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6583680" y="4069080"/>
            <a:ext cx="4892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524"/>
              </a:buClr>
              <a:buSzPts val="1200"/>
              <a:buFont typeface="Georgia"/>
              <a:buNone/>
            </a:pPr>
            <a:r>
              <a:rPr lang="en-US" sz="1400" u="none" strike="noStrike" cap="none">
                <a:solidFill>
                  <a:srgbClr val="143524"/>
                </a:solidFill>
                <a:latin typeface="Wix Madefor Display" panose="020B0503020203020203" pitchFamily="34" charset="77"/>
                <a:ea typeface="Georgia"/>
                <a:cs typeface="Wix Madefor Display" panose="020B0503020203020203" pitchFamily="34" charset="77"/>
                <a:sym typeface="Georgia"/>
              </a:rPr>
              <a:t>Inventory</a:t>
            </a:r>
            <a:endParaRPr sz="1400" u="none" strike="noStrike" cap="none">
              <a:solidFill>
                <a:schemeClr val="dk1"/>
              </a:solidFill>
              <a:latin typeface="Wix Madefor Display" panose="020B0503020203020203" pitchFamily="34" charset="77"/>
              <a:ea typeface="Calibri"/>
              <a:cs typeface="Wix Madefor Display" panose="020B0503020203020203" pitchFamily="34" charset="77"/>
              <a:sym typeface="Calibri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6583680" y="4361688"/>
            <a:ext cx="48920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Calibri"/>
              <a:buNone/>
            </a:pPr>
            <a:r>
              <a:rPr lang="en-US" sz="1200" u="none" strike="noStrike" cap="none">
                <a:solidFill>
                  <a:srgbClr val="111111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Identify where knowledge lives today — SharePoint, job aids, guides, tribal knowledge — and how it's accessed.</a:t>
            </a:r>
            <a:endParaRPr sz="1200" u="none" strike="noStrike" cap="none">
              <a:solidFill>
                <a:schemeClr val="dk1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6446520" y="4928616"/>
            <a:ext cx="5166360" cy="832104"/>
          </a:xfrm>
          <a:prstGeom prst="rect">
            <a:avLst/>
          </a:prstGeom>
          <a:solidFill>
            <a:srgbClr val="EDF3EF"/>
          </a:solidFill>
          <a:ln w="12700" cap="flat" cmpd="sng">
            <a:solidFill>
              <a:srgbClr val="EDF3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u="none" strike="noStrike" cap="none">
              <a:solidFill>
                <a:srgbClr val="000000"/>
              </a:solidFill>
              <a:latin typeface="Wix Madefor Display" panose="020B0503020203020203" pitchFamily="34" charset="77"/>
              <a:cs typeface="Wix Madefor Display" panose="020B0503020203020203" pitchFamily="34" charset="77"/>
              <a:sym typeface="Arial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6583680" y="5020056"/>
            <a:ext cx="4892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524"/>
              </a:buClr>
              <a:buSzPts val="1200"/>
              <a:buFont typeface="Georgia"/>
              <a:buNone/>
            </a:pPr>
            <a:r>
              <a:rPr lang="en-US" sz="1400" u="none" strike="noStrike" cap="none">
                <a:solidFill>
                  <a:srgbClr val="143524"/>
                </a:solidFill>
                <a:latin typeface="Wix Madefor Display" panose="020B0503020203020203" pitchFamily="34" charset="77"/>
                <a:ea typeface="Georgia"/>
                <a:cs typeface="Wix Madefor Display" panose="020B0503020203020203" pitchFamily="34" charset="77"/>
                <a:sym typeface="Georgia"/>
              </a:rPr>
              <a:t>Audit &amp; restructure</a:t>
            </a:r>
            <a:endParaRPr sz="1400" u="none" strike="noStrike" cap="none">
              <a:solidFill>
                <a:schemeClr val="dk1"/>
              </a:solidFill>
              <a:latin typeface="Wix Madefor Display" panose="020B0503020203020203" pitchFamily="34" charset="77"/>
              <a:ea typeface="Calibri"/>
              <a:cs typeface="Wix Madefor Display" panose="020B0503020203020203" pitchFamily="34" charset="77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6583680" y="5312664"/>
            <a:ext cx="48920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Calibri"/>
              <a:buNone/>
            </a:pPr>
            <a:r>
              <a:rPr lang="en-US" sz="1200" u="none" strike="noStrike" cap="none">
                <a:solidFill>
                  <a:srgbClr val="111111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Surface duplication, gaps, inconsistencies; restructure content for reliable agent retrieval and consistent responses.</a:t>
            </a:r>
            <a:endParaRPr sz="1200" u="none" strike="noStrike" cap="none">
              <a:solidFill>
                <a:schemeClr val="dk1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6217920" y="5897880"/>
            <a:ext cx="5623560" cy="502920"/>
          </a:xfrm>
          <a:prstGeom prst="rect">
            <a:avLst/>
          </a:prstGeom>
          <a:solidFill>
            <a:srgbClr val="143524"/>
          </a:solidFill>
          <a:ln w="12700" cap="flat" cmpd="sng">
            <a:solidFill>
              <a:srgbClr val="14352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u="none" strike="noStrike" cap="none">
              <a:solidFill>
                <a:srgbClr val="000000"/>
              </a:solidFill>
              <a:latin typeface="Wix Madefor Display" panose="020B0503020203020203" pitchFamily="34" charset="77"/>
              <a:cs typeface="Wix Madefor Display" panose="020B0503020203020203" pitchFamily="34" charset="77"/>
              <a:sym typeface="Arial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6446520" y="5897880"/>
            <a:ext cx="51663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D9C5"/>
              </a:buClr>
              <a:buSzPts val="900"/>
              <a:buFont typeface="Calibri"/>
              <a:buNone/>
            </a:pPr>
            <a:r>
              <a:rPr lang="en-US" sz="1000" u="none" strike="noStrike" cap="none">
                <a:solidFill>
                  <a:srgbClr val="B7D9C5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OUTPUT  </a:t>
            </a:r>
            <a:r>
              <a:rPr lang="en-US" sz="1200" u="none" strike="noStrike" cap="none">
                <a:solidFill>
                  <a:srgbClr val="FFFFFF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AI-ready knowledge ecosystem supporting human + agent workflows</a:t>
            </a:r>
            <a:endParaRPr sz="1000" u="none" strike="noStrike" cap="none">
              <a:solidFill>
                <a:schemeClr val="dk1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365760" y="653796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770"/>
              </a:buClr>
              <a:buSzPts val="900"/>
              <a:buFont typeface="Calibri"/>
              <a:buNone/>
            </a:pPr>
            <a:r>
              <a:rPr lang="en-US" sz="900" u="none" strike="noStrike" cap="none">
                <a:solidFill>
                  <a:srgbClr val="5B6770"/>
                </a:solidFill>
                <a:latin typeface="Wix Madefor Display" panose="020B0503020203020203" pitchFamily="34" charset="77"/>
                <a:ea typeface="Calibri"/>
                <a:cs typeface="Wix Madefor Display" panose="020B0503020203020203" pitchFamily="34" charset="77"/>
                <a:sym typeface="Calibri"/>
              </a:rPr>
              <a:t>AI Workspace for Insurance</a:t>
            </a:r>
            <a:endParaRPr sz="900" u="none" strike="noStrike" cap="none">
              <a:solidFill>
                <a:schemeClr val="dk1"/>
              </a:solidFill>
              <a:latin typeface="Wix Madefor Display" panose="020B0503020203020203" pitchFamily="34" charset="77"/>
              <a:ea typeface="Calibri"/>
              <a:cs typeface="Wix Madefor Display" panose="020B0503020203020203" pitchFamily="34" charset="77"/>
              <a:sym typeface="Calibri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4572000" y="6537960"/>
            <a:ext cx="30175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770"/>
              </a:buClr>
              <a:buSzPts val="900"/>
              <a:buFont typeface="Calibri"/>
              <a:buNone/>
            </a:pPr>
            <a:r>
              <a:rPr lang="en-US" sz="900" u="none" strike="noStrike" cap="none">
                <a:solidFill>
                  <a:srgbClr val="5B6770"/>
                </a:solidFill>
                <a:latin typeface="Wix Madefor Display" panose="020B0503020203020203" pitchFamily="34" charset="77"/>
                <a:ea typeface="Calibri"/>
                <a:cs typeface="Wix Madefor Display" panose="020B0503020203020203" pitchFamily="34" charset="77"/>
                <a:sym typeface="Calibri"/>
              </a:rPr>
              <a:t>furtherai.com</a:t>
            </a:r>
            <a:endParaRPr sz="900" u="none" strike="noStrike" cap="none">
              <a:solidFill>
                <a:schemeClr val="dk1"/>
              </a:solidFill>
              <a:latin typeface="Wix Madefor Display" panose="020B0503020203020203" pitchFamily="34" charset="77"/>
              <a:ea typeface="Calibri"/>
              <a:cs typeface="Wix Madefor Display" panose="020B0503020203020203" pitchFamily="34" charset="77"/>
              <a:sym typeface="Calibri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10373689" y="1797626"/>
            <a:ext cx="225631" cy="205740"/>
          </a:xfrm>
          <a:prstGeom prst="rect">
            <a:avLst/>
          </a:prstGeom>
          <a:solidFill>
            <a:srgbClr val="E1EFD8"/>
          </a:solidFill>
          <a:ln w="15225" cap="flat" cmpd="sng">
            <a:solidFill>
              <a:srgbClr val="2C7A4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u="none" strike="noStrike" cap="none">
              <a:solidFill>
                <a:srgbClr val="000000"/>
              </a:solidFill>
              <a:latin typeface="Wix Madefor Display" panose="020B0503020203020203" pitchFamily="34" charset="77"/>
              <a:cs typeface="Wix Madefor Display" panose="020B0503020203020203" pitchFamily="34" charset="77"/>
              <a:sym typeface="Arial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10689969" y="1747651"/>
            <a:ext cx="112776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770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dk1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Current focus</a:t>
            </a:r>
            <a:endParaRPr sz="1200" u="none" strike="noStrike" cap="none">
              <a:solidFill>
                <a:schemeClr val="dk1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"/>
          <p:cNvSpPr/>
          <p:nvPr/>
        </p:nvSpPr>
        <p:spPr>
          <a:xfrm>
            <a:off x="7132321" y="3440821"/>
            <a:ext cx="4815900" cy="25812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u="none" strike="noStrike" cap="none">
              <a:solidFill>
                <a:srgbClr val="000000"/>
              </a:solidFill>
              <a:latin typeface="Wix Madefor Display" panose="020B0503020203020203" pitchFamily="34" charset="77"/>
              <a:cs typeface="Wix Madefor Display" panose="020B0503020203020203" pitchFamily="34" charset="77"/>
              <a:sym typeface="Arial"/>
            </a:endParaRPr>
          </a:p>
        </p:txBody>
      </p:sp>
      <p:pic>
        <p:nvPicPr>
          <p:cNvPr id="110" name="Google Shape;110;p4" descr="logo_dark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5760" y="274320"/>
            <a:ext cx="12801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4"/>
          <p:cNvSpPr/>
          <p:nvPr/>
        </p:nvSpPr>
        <p:spPr>
          <a:xfrm>
            <a:off x="365760" y="1143000"/>
            <a:ext cx="114300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600"/>
              <a:buFont typeface="Georgia"/>
              <a:buNone/>
            </a:pPr>
            <a:r>
              <a:rPr lang="en-US" sz="2600" dirty="0">
                <a:solidFill>
                  <a:srgbClr val="111111"/>
                </a:solidFill>
                <a:latin typeface="Fraunces 9pt" pitchFamily="2" charset="77"/>
                <a:ea typeface="Georgia"/>
                <a:cs typeface="Georgia"/>
                <a:sym typeface="Georgia"/>
              </a:rPr>
              <a:t>2.</a:t>
            </a:r>
            <a:r>
              <a:rPr lang="en-US" sz="2600" u="none" strike="noStrike" cap="none" dirty="0">
                <a:solidFill>
                  <a:srgbClr val="111111"/>
                </a:solidFill>
                <a:latin typeface="Fraunces 9pt" pitchFamily="2" charset="77"/>
                <a:ea typeface="Georgia"/>
                <a:cs typeface="Georgia"/>
                <a:sym typeface="Georgia"/>
              </a:rPr>
              <a:t>A. Discovery &amp; Mapping: Core process</a:t>
            </a:r>
            <a:endParaRPr sz="2600" u="none" strike="noStrike" cap="none" dirty="0">
              <a:solidFill>
                <a:schemeClr val="dk1"/>
              </a:solidFill>
              <a:latin typeface="Fraunces 9pt" pitchFamily="2" charset="77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365759" y="2331720"/>
            <a:ext cx="6583681" cy="42519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DDD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u="none" strike="noStrike" cap="none">
              <a:solidFill>
                <a:srgbClr val="000000"/>
              </a:solidFill>
              <a:latin typeface="Wix Madefor Display" panose="020B0503020203020203" pitchFamily="34" charset="77"/>
              <a:cs typeface="Wix Madefor Display" panose="020B0503020203020203" pitchFamily="34" charset="77"/>
              <a:sym typeface="Arial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365760" y="1863886"/>
            <a:ext cx="6583680" cy="502920"/>
          </a:xfrm>
          <a:prstGeom prst="rect">
            <a:avLst/>
          </a:prstGeom>
          <a:solidFill>
            <a:srgbClr val="143524"/>
          </a:solidFill>
          <a:ln w="12700" cap="flat" cmpd="sng">
            <a:solidFill>
              <a:srgbClr val="14352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u="none" strike="noStrike" cap="none">
              <a:solidFill>
                <a:srgbClr val="000000"/>
              </a:solidFill>
              <a:latin typeface="Wix Madefor Display" panose="020B0503020203020203" pitchFamily="34" charset="77"/>
              <a:cs typeface="Wix Madefor Display" panose="020B0503020203020203" pitchFamily="34" charset="77"/>
              <a:sym typeface="Arial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548640" y="1896787"/>
            <a:ext cx="53034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D9C5"/>
              </a:buClr>
              <a:buSzPts val="900"/>
              <a:buFont typeface="Calibri"/>
              <a:buNone/>
            </a:pPr>
            <a:r>
              <a:rPr lang="en-US" sz="1100">
                <a:solidFill>
                  <a:srgbClr val="B7D9C5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i.</a:t>
            </a:r>
            <a:r>
              <a:rPr lang="en-US" sz="1100" u="none" strike="noStrike" cap="none">
                <a:solidFill>
                  <a:srgbClr val="B7D9C5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 DISCOVERY &amp; MAPPING</a:t>
            </a:r>
            <a:endParaRPr sz="1100" u="none" strike="noStrike" cap="none">
              <a:solidFill>
                <a:schemeClr val="dk1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548640" y="2083342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lang="en-US" sz="1500" u="none" strike="noStrike" cap="none">
                <a:solidFill>
                  <a:srgbClr val="FFFFFF"/>
                </a:solidFill>
                <a:latin typeface="Wix Madefor Display" panose="020B0503020203020203" pitchFamily="34" charset="77"/>
                <a:ea typeface="Georgia"/>
                <a:cs typeface="Wix Madefor Display" panose="020B0503020203020203" pitchFamily="34" charset="77"/>
                <a:sym typeface="Georgia"/>
              </a:rPr>
              <a:t>Process capture approach</a:t>
            </a:r>
            <a:endParaRPr sz="1500" u="none" strike="noStrike" cap="none">
              <a:solidFill>
                <a:schemeClr val="dk1"/>
              </a:solidFill>
              <a:latin typeface="Wix Madefor Display" panose="020B0503020203020203" pitchFamily="34" charset="77"/>
              <a:ea typeface="Calibri"/>
              <a:cs typeface="Wix Madefor Display" panose="020B0503020203020203" pitchFamily="34" charset="77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530352" y="2514264"/>
            <a:ext cx="292608" cy="292608"/>
          </a:xfrm>
          <a:prstGeom prst="ellipse">
            <a:avLst/>
          </a:prstGeom>
          <a:solidFill>
            <a:srgbClr val="2C7A4B"/>
          </a:solidFill>
          <a:ln w="12700" cap="flat" cmpd="sng">
            <a:solidFill>
              <a:srgbClr val="2C7A4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u="none" strike="noStrike" cap="none">
              <a:solidFill>
                <a:srgbClr val="000000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530352" y="2514264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eorgia"/>
              <a:buNone/>
            </a:pPr>
            <a:r>
              <a:rPr lang="en-US" sz="1400" u="none" strike="noStrike" cap="none">
                <a:solidFill>
                  <a:srgbClr val="FFFFFF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1</a:t>
            </a:r>
            <a:endParaRPr sz="1400" u="none" strike="noStrike" cap="none">
              <a:solidFill>
                <a:schemeClr val="dk1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914400" y="2464625"/>
            <a:ext cx="5029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Calibri"/>
              <a:buNone/>
            </a:pPr>
            <a:r>
              <a:rPr lang="en-US" sz="1400" u="none" strike="noStrike" cap="none">
                <a:solidFill>
                  <a:srgbClr val="111111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Pointed at a target process</a:t>
            </a:r>
            <a:endParaRPr sz="1400" u="none" strike="noStrike" cap="none">
              <a:solidFill>
                <a:schemeClr val="dk1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914400" y="2693225"/>
            <a:ext cx="5029200" cy="1907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770"/>
              </a:buClr>
              <a:buSzPts val="950"/>
              <a:buFont typeface="Calibri"/>
              <a:buNone/>
            </a:pPr>
            <a:r>
              <a:rPr lang="en-US" sz="1400" u="none" strike="noStrike" cap="none">
                <a:solidFill>
                  <a:srgbClr val="5B6770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Owner identifies a process to explore.</a:t>
            </a:r>
            <a:endParaRPr sz="1400" u="none" strike="noStrike" cap="none">
              <a:solidFill>
                <a:schemeClr val="dk1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530352" y="3093282"/>
            <a:ext cx="292608" cy="292608"/>
          </a:xfrm>
          <a:prstGeom prst="ellipse">
            <a:avLst/>
          </a:prstGeom>
          <a:solidFill>
            <a:srgbClr val="2C7A4B"/>
          </a:solidFill>
          <a:ln w="12700" cap="flat" cmpd="sng">
            <a:solidFill>
              <a:srgbClr val="2C7A4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u="none" strike="noStrike" cap="none">
              <a:solidFill>
                <a:srgbClr val="000000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530352" y="3093282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eorgia"/>
              <a:buNone/>
            </a:pPr>
            <a:r>
              <a:rPr lang="en-US" sz="1400" u="none" strike="noStrike" cap="none">
                <a:solidFill>
                  <a:srgbClr val="FFFFFF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2</a:t>
            </a:r>
            <a:endParaRPr sz="1400" u="none" strike="noStrike" cap="none">
              <a:solidFill>
                <a:schemeClr val="dk1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914400" y="3043643"/>
            <a:ext cx="5029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Calibri"/>
              <a:buNone/>
            </a:pPr>
            <a:r>
              <a:rPr lang="en-US" sz="1400" u="none" strike="noStrike" cap="none">
                <a:solidFill>
                  <a:srgbClr val="111111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Engage relevant SMEs</a:t>
            </a:r>
            <a:endParaRPr sz="1400" u="none" strike="noStrike" cap="none">
              <a:solidFill>
                <a:schemeClr val="dk1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914400" y="3272243"/>
            <a:ext cx="5029200" cy="1907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770"/>
              </a:buClr>
              <a:buSzPts val="950"/>
              <a:buFont typeface="Calibri"/>
              <a:buNone/>
            </a:pPr>
            <a:r>
              <a:rPr lang="en-US" sz="1400" u="none" strike="noStrike" cap="none">
                <a:solidFill>
                  <a:srgbClr val="5B6770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Identifies and invites the right subject-matter experts.</a:t>
            </a:r>
            <a:endParaRPr sz="1400" u="none" strike="noStrike" cap="none">
              <a:solidFill>
                <a:schemeClr val="dk1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530352" y="3672302"/>
            <a:ext cx="292608" cy="292608"/>
          </a:xfrm>
          <a:prstGeom prst="ellipse">
            <a:avLst/>
          </a:prstGeom>
          <a:solidFill>
            <a:srgbClr val="2C7A4B"/>
          </a:solidFill>
          <a:ln w="12700" cap="flat" cmpd="sng">
            <a:solidFill>
              <a:srgbClr val="2C7A4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u="none" strike="noStrike" cap="none">
              <a:solidFill>
                <a:srgbClr val="000000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530352" y="3672302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eorgia"/>
              <a:buNone/>
            </a:pPr>
            <a:r>
              <a:rPr lang="en-US" sz="1400" u="none" strike="noStrike" cap="none">
                <a:solidFill>
                  <a:srgbClr val="FFFFFF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3</a:t>
            </a:r>
            <a:endParaRPr sz="1400" u="none" strike="noStrike" cap="none">
              <a:solidFill>
                <a:schemeClr val="dk1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914400" y="3622663"/>
            <a:ext cx="5029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Calibri"/>
              <a:buNone/>
            </a:pPr>
            <a:r>
              <a:rPr lang="en-US" sz="1400" u="none" strike="noStrike" cap="none">
                <a:solidFill>
                  <a:srgbClr val="111111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Structured 30-60 min interviews</a:t>
            </a:r>
            <a:endParaRPr sz="1400" u="none" strike="noStrike" cap="none">
              <a:solidFill>
                <a:schemeClr val="dk1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914400" y="3851263"/>
            <a:ext cx="5029200" cy="1907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770"/>
              </a:buClr>
              <a:buSzPts val="950"/>
              <a:buFont typeface="Calibri"/>
              <a:buNone/>
            </a:pPr>
            <a:r>
              <a:rPr lang="en-US" sz="1400" u="none" strike="noStrike" cap="none">
                <a:solidFill>
                  <a:srgbClr val="5B6770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Conversational format, consistent across SMEs.</a:t>
            </a:r>
            <a:endParaRPr sz="1400" u="none" strike="noStrike" cap="none">
              <a:solidFill>
                <a:schemeClr val="dk1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530352" y="4293849"/>
            <a:ext cx="292608" cy="292608"/>
          </a:xfrm>
          <a:prstGeom prst="ellipse">
            <a:avLst/>
          </a:prstGeom>
          <a:solidFill>
            <a:srgbClr val="2C7A4B"/>
          </a:solidFill>
          <a:ln w="12700" cap="flat" cmpd="sng">
            <a:solidFill>
              <a:srgbClr val="2C7A4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u="none" strike="noStrike" cap="none">
              <a:solidFill>
                <a:srgbClr val="000000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530352" y="4293849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eorgia"/>
              <a:buNone/>
            </a:pPr>
            <a:r>
              <a:rPr lang="en-US" sz="1400" u="none" strike="noStrike" cap="none">
                <a:solidFill>
                  <a:srgbClr val="FFFFFF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4</a:t>
            </a:r>
            <a:endParaRPr sz="1400" u="none" strike="noStrike" cap="none">
              <a:solidFill>
                <a:schemeClr val="dk1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914400" y="4244210"/>
            <a:ext cx="628384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Calibri"/>
              <a:buNone/>
            </a:pPr>
            <a:r>
              <a:rPr lang="en-US" sz="1400" u="none" strike="noStrike" cap="none">
                <a:solidFill>
                  <a:srgbClr val="111111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Probe for what's not documented</a:t>
            </a:r>
            <a:endParaRPr sz="1400" u="none" strike="noStrike" cap="none">
              <a:solidFill>
                <a:schemeClr val="dk1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914400" y="4472810"/>
            <a:ext cx="6283842" cy="1907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770"/>
              </a:buClr>
              <a:buSzPts val="950"/>
              <a:buFont typeface="Calibri"/>
              <a:buNone/>
            </a:pPr>
            <a:r>
              <a:rPr lang="en-US" sz="1400" u="none" strike="noStrike" cap="none">
                <a:solidFill>
                  <a:srgbClr val="5B6770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Variations, workarounds, exceptions, handoffs, hidden coordination.</a:t>
            </a:r>
            <a:endParaRPr sz="1400" u="none" strike="noStrike" cap="none">
              <a:solidFill>
                <a:schemeClr val="dk1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530352" y="4883501"/>
            <a:ext cx="292608" cy="292608"/>
          </a:xfrm>
          <a:prstGeom prst="ellipse">
            <a:avLst/>
          </a:prstGeom>
          <a:solidFill>
            <a:srgbClr val="2C7A4B"/>
          </a:solidFill>
          <a:ln w="12700" cap="flat" cmpd="sng">
            <a:solidFill>
              <a:srgbClr val="2C7A4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u="none" strike="noStrike" cap="none">
              <a:solidFill>
                <a:srgbClr val="000000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530352" y="4883501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eorgia"/>
              <a:buNone/>
            </a:pPr>
            <a:r>
              <a:rPr lang="en-US" sz="1400" u="none" strike="noStrike" cap="none">
                <a:solidFill>
                  <a:srgbClr val="FFFFFF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5</a:t>
            </a:r>
            <a:endParaRPr sz="1400" u="none" strike="noStrike" cap="none">
              <a:solidFill>
                <a:schemeClr val="dk1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914400" y="4833862"/>
            <a:ext cx="5029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Calibri"/>
              <a:buNone/>
            </a:pPr>
            <a:r>
              <a:rPr lang="en-US" sz="1400" u="none" strike="noStrike" cap="none">
                <a:solidFill>
                  <a:srgbClr val="111111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Aggregate input across SMEs</a:t>
            </a:r>
            <a:endParaRPr sz="1400" u="none" strike="noStrike" cap="none">
              <a:solidFill>
                <a:schemeClr val="dk1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914400" y="5062462"/>
            <a:ext cx="5943600" cy="1890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770"/>
              </a:buClr>
              <a:buSzPts val="950"/>
              <a:buFont typeface="Calibri"/>
              <a:buNone/>
            </a:pPr>
            <a:r>
              <a:rPr lang="en-US" sz="1400" u="none" strike="noStrike" cap="none">
                <a:solidFill>
                  <a:srgbClr val="5B6770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Reconciles overlapping perspectives into a single representation.</a:t>
            </a:r>
            <a:endParaRPr sz="1400" u="none" strike="noStrike" cap="none">
              <a:solidFill>
                <a:schemeClr val="dk1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530352" y="5494420"/>
            <a:ext cx="292608" cy="292608"/>
          </a:xfrm>
          <a:prstGeom prst="ellipse">
            <a:avLst/>
          </a:prstGeom>
          <a:solidFill>
            <a:srgbClr val="2C7A4B"/>
          </a:solidFill>
          <a:ln w="12700" cap="flat" cmpd="sng">
            <a:solidFill>
              <a:srgbClr val="2C7A4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u="none" strike="noStrike" cap="none">
              <a:solidFill>
                <a:srgbClr val="000000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530352" y="5494420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eorgia"/>
              <a:buNone/>
            </a:pPr>
            <a:r>
              <a:rPr lang="en-US" sz="1400" u="none" strike="noStrike" cap="none">
                <a:solidFill>
                  <a:srgbClr val="FFFFFF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6</a:t>
            </a:r>
            <a:endParaRPr sz="1400" u="none" strike="noStrike" cap="none">
              <a:solidFill>
                <a:schemeClr val="dk1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914400" y="5444782"/>
            <a:ext cx="5029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Calibri"/>
              <a:buNone/>
            </a:pPr>
            <a:r>
              <a:rPr lang="en-US" sz="1400" u="none" strike="noStrike" cap="none">
                <a:solidFill>
                  <a:srgbClr val="111111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Produce validated current-state</a:t>
            </a:r>
            <a:endParaRPr sz="1400" u="none" strike="noStrike" cap="none">
              <a:solidFill>
                <a:schemeClr val="dk1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914400" y="5673382"/>
            <a:ext cx="5029200" cy="1907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770"/>
              </a:buClr>
              <a:buSzPts val="950"/>
              <a:buFont typeface="Calibri"/>
              <a:buNone/>
            </a:pPr>
            <a:r>
              <a:rPr lang="en-US" sz="1400" u="none" strike="noStrike" cap="none">
                <a:solidFill>
                  <a:srgbClr val="5B6770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Process artifact reusable across automation projects.</a:t>
            </a:r>
            <a:endParaRPr sz="1400" u="none" strike="noStrike" cap="none">
              <a:solidFill>
                <a:schemeClr val="dk1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530352" y="6105340"/>
            <a:ext cx="292608" cy="292608"/>
          </a:xfrm>
          <a:prstGeom prst="ellipse">
            <a:avLst/>
          </a:prstGeom>
          <a:solidFill>
            <a:srgbClr val="2C7A4B"/>
          </a:solidFill>
          <a:ln w="12700" cap="flat" cmpd="sng">
            <a:solidFill>
              <a:srgbClr val="2C7A4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u="none" strike="noStrike" cap="none">
              <a:solidFill>
                <a:srgbClr val="000000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141" name="Google Shape;141;p4"/>
          <p:cNvSpPr/>
          <p:nvPr/>
        </p:nvSpPr>
        <p:spPr>
          <a:xfrm>
            <a:off x="530352" y="6105340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eorgia"/>
              <a:buNone/>
            </a:pPr>
            <a:r>
              <a:rPr lang="en-US" sz="1400" u="none" strike="noStrike" cap="none">
                <a:solidFill>
                  <a:srgbClr val="FFFFFF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7</a:t>
            </a:r>
            <a:endParaRPr sz="1400" u="none" strike="noStrike" cap="none">
              <a:solidFill>
                <a:schemeClr val="dk1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914400" y="6055701"/>
            <a:ext cx="5029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Calibri"/>
              <a:buNone/>
            </a:pPr>
            <a:r>
              <a:rPr lang="en-US" sz="1400" u="none" strike="noStrike" cap="none">
                <a:solidFill>
                  <a:srgbClr val="111111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Iterate with SMEs until alignment</a:t>
            </a:r>
            <a:endParaRPr sz="1400" u="none" strike="noStrike" cap="none">
              <a:solidFill>
                <a:schemeClr val="dk1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143" name="Google Shape;143;p4"/>
          <p:cNvSpPr/>
          <p:nvPr/>
        </p:nvSpPr>
        <p:spPr>
          <a:xfrm>
            <a:off x="914400" y="6284301"/>
            <a:ext cx="5029200" cy="1907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770"/>
              </a:buClr>
              <a:buSzPts val="950"/>
              <a:buFont typeface="Calibri"/>
              <a:buNone/>
            </a:pPr>
            <a:r>
              <a:rPr lang="en-US" sz="1400" u="none" strike="noStrike" cap="none">
                <a:solidFill>
                  <a:srgbClr val="5B6770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"Yes, this is how the process actually works."</a:t>
            </a:r>
            <a:endParaRPr sz="1400" u="none" strike="noStrike" cap="none">
              <a:solidFill>
                <a:schemeClr val="dk1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cxnSp>
        <p:nvCxnSpPr>
          <p:cNvPr id="144" name="Google Shape;144;p4"/>
          <p:cNvCxnSpPr/>
          <p:nvPr/>
        </p:nvCxnSpPr>
        <p:spPr>
          <a:xfrm>
            <a:off x="548640" y="2981479"/>
            <a:ext cx="6144768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45" name="Google Shape;145;p4"/>
          <p:cNvCxnSpPr/>
          <p:nvPr/>
        </p:nvCxnSpPr>
        <p:spPr>
          <a:xfrm>
            <a:off x="524256" y="3548305"/>
            <a:ext cx="6169152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46" name="Google Shape;146;p4"/>
          <p:cNvCxnSpPr/>
          <p:nvPr/>
        </p:nvCxnSpPr>
        <p:spPr>
          <a:xfrm>
            <a:off x="548640" y="4153203"/>
            <a:ext cx="6144768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47" name="Google Shape;147;p4"/>
          <p:cNvCxnSpPr/>
          <p:nvPr/>
        </p:nvCxnSpPr>
        <p:spPr>
          <a:xfrm>
            <a:off x="548640" y="4750345"/>
            <a:ext cx="6144768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48" name="Google Shape;148;p4"/>
          <p:cNvCxnSpPr/>
          <p:nvPr/>
        </p:nvCxnSpPr>
        <p:spPr>
          <a:xfrm>
            <a:off x="548640" y="5373191"/>
            <a:ext cx="6144768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49" name="Google Shape;149;p4"/>
          <p:cNvCxnSpPr/>
          <p:nvPr/>
        </p:nvCxnSpPr>
        <p:spPr>
          <a:xfrm>
            <a:off x="548640" y="5964503"/>
            <a:ext cx="6144768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50" name="Google Shape;150;p4"/>
          <p:cNvSpPr txBox="1"/>
          <p:nvPr/>
        </p:nvSpPr>
        <p:spPr>
          <a:xfrm>
            <a:off x="7229856" y="1773813"/>
            <a:ext cx="363321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u="none" strike="noStrike" cap="none">
                <a:solidFill>
                  <a:srgbClr val="385623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Option A: Agent-driven discovery</a:t>
            </a:r>
            <a:endParaRPr>
              <a:latin typeface="Wix Madefor Display" panose="020B0503020203020203" pitchFamily="34" charset="77"/>
              <a:cs typeface="Wix Madefor Display" panose="020B0503020203020203" pitchFamily="34" charset="77"/>
            </a:endParaRPr>
          </a:p>
        </p:txBody>
      </p:sp>
      <p:sp>
        <p:nvSpPr>
          <p:cNvPr id="151" name="Google Shape;151;p4"/>
          <p:cNvSpPr txBox="1"/>
          <p:nvPr/>
        </p:nvSpPr>
        <p:spPr>
          <a:xfrm>
            <a:off x="7229856" y="2110774"/>
            <a:ext cx="4596384" cy="1246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 u="none" strike="noStrike" cap="none">
                <a:solidFill>
                  <a:schemeClr val="dk1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Discovery &amp; Mapping Agent runs steps 1–7 automatically — interviews SMEs, aggregates input, produces the artifact</a:t>
            </a:r>
            <a:endParaRPr>
              <a:latin typeface="Wix Madefor Display" panose="020B0503020203020203" pitchFamily="34" charset="77"/>
              <a:cs typeface="Wix Madefor Display" panose="020B0503020203020203" pitchFamily="34" charset="77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 u="none" strike="noStrike" cap="none">
                <a:solidFill>
                  <a:schemeClr val="dk1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Future-state capability — automation feasibility still to be assessed </a:t>
            </a:r>
            <a:endParaRPr>
              <a:latin typeface="Wix Madefor Display" panose="020B0503020203020203" pitchFamily="34" charset="77"/>
              <a:cs typeface="Wix Madefor Display" panose="020B0503020203020203" pitchFamily="34" charset="77"/>
            </a:endParaRPr>
          </a:p>
        </p:txBody>
      </p:sp>
      <p:sp>
        <p:nvSpPr>
          <p:cNvPr id="152" name="Google Shape;152;p4"/>
          <p:cNvSpPr txBox="1"/>
          <p:nvPr/>
        </p:nvSpPr>
        <p:spPr>
          <a:xfrm>
            <a:off x="7229856" y="3521920"/>
            <a:ext cx="456590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u="none" strike="noStrike" cap="none">
                <a:solidFill>
                  <a:srgbClr val="385623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Option B: Manual execution (FurtherAI-led)</a:t>
            </a:r>
            <a:endParaRPr>
              <a:latin typeface="Wix Madefor Display" panose="020B0503020203020203" pitchFamily="34" charset="77"/>
              <a:cs typeface="Wix Madefor Display" panose="020B0503020203020203" pitchFamily="34" charset="77"/>
            </a:endParaRPr>
          </a:p>
        </p:txBody>
      </p:sp>
      <p:sp>
        <p:nvSpPr>
          <p:cNvPr id="153" name="Google Shape;153;p4"/>
          <p:cNvSpPr txBox="1"/>
          <p:nvPr/>
        </p:nvSpPr>
        <p:spPr>
          <a:xfrm>
            <a:off x="7229856" y="3895297"/>
            <a:ext cx="4596384" cy="15388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 u="none" strike="noStrike" cap="none">
                <a:solidFill>
                  <a:schemeClr val="dk1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FurtherAI team runs steps 1–7 live with Miles, Crystal’s team and other SMEs </a:t>
            </a:r>
            <a:endParaRPr>
              <a:latin typeface="Wix Madefor Display" panose="020B0503020203020203" pitchFamily="34" charset="77"/>
              <a:cs typeface="Wix Madefor Display" panose="020B0503020203020203" pitchFamily="34" charset="77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 u="none" strike="noStrike" cap="none">
                <a:solidFill>
                  <a:schemeClr val="dk1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Structured interview templates ensure consistency across processes </a:t>
            </a:r>
            <a:endParaRPr>
              <a:latin typeface="Wix Madefor Display" panose="020B0503020203020203" pitchFamily="34" charset="77"/>
              <a:cs typeface="Wix Madefor Display" panose="020B0503020203020203" pitchFamily="34" charset="77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 u="none" strike="noStrike" cap="none">
                <a:solidFill>
                  <a:schemeClr val="dk1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Ready to start now — grounds the capability in real discovery work before automating it</a:t>
            </a:r>
            <a:endParaRPr>
              <a:latin typeface="Wix Madefor Display" panose="020B0503020203020203" pitchFamily="34" charset="77"/>
              <a:cs typeface="Wix Madefor Display" panose="020B0503020203020203" pitchFamily="34" charset="77"/>
            </a:endParaRPr>
          </a:p>
        </p:txBody>
      </p:sp>
      <p:sp>
        <p:nvSpPr>
          <p:cNvPr id="154" name="Google Shape;154;p4"/>
          <p:cNvSpPr txBox="1"/>
          <p:nvPr/>
        </p:nvSpPr>
        <p:spPr>
          <a:xfrm>
            <a:off x="7235952" y="5636913"/>
            <a:ext cx="379700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none" strike="noStrike" cap="none">
                <a:solidFill>
                  <a:srgbClr val="385623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Effort kicked-off with New Business MM</a:t>
            </a:r>
            <a:endParaRPr>
              <a:latin typeface="Wix Madefor Display" panose="020B0503020203020203" pitchFamily="34" charset="77"/>
              <a:cs typeface="Wix Madefor Display" panose="020B0503020203020203" pitchFamily="34" charset="77"/>
            </a:endParaRPr>
          </a:p>
        </p:txBody>
      </p:sp>
      <p:sp>
        <p:nvSpPr>
          <p:cNvPr id="155" name="Google Shape;155;p4"/>
          <p:cNvSpPr txBox="1"/>
          <p:nvPr/>
        </p:nvSpPr>
        <p:spPr>
          <a:xfrm>
            <a:off x="7114033" y="6053092"/>
            <a:ext cx="4834200" cy="73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none" strike="noStrike" cap="none">
                <a:solidFill>
                  <a:srgbClr val="C00000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For each process with map, we plan to hold a working group session (Crystal’s team - 2h) with SMEs to validate</a:t>
            </a:r>
            <a:endParaRPr>
              <a:latin typeface="Wix Madefor Display" panose="020B0503020203020203" pitchFamily="34" charset="77"/>
              <a:cs typeface="Wix Madefor Display" panose="020B0503020203020203" pitchFamily="34" charset="77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5" descr="logo_dark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5760" y="274320"/>
            <a:ext cx="12801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5"/>
          <p:cNvSpPr/>
          <p:nvPr/>
        </p:nvSpPr>
        <p:spPr>
          <a:xfrm>
            <a:off x="365760" y="1143000"/>
            <a:ext cx="114300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111111"/>
                </a:solidFill>
                <a:latin typeface="Fraunces 9pt" pitchFamily="2" charset="77"/>
                <a:ea typeface="Georgia"/>
                <a:cs typeface="Georgia"/>
                <a:sym typeface="Georgia"/>
              </a:rPr>
              <a:t>2.</a:t>
            </a:r>
            <a:r>
              <a:rPr lang="en-US" sz="2600" u="none" strike="noStrike" cap="none">
                <a:solidFill>
                  <a:srgbClr val="111111"/>
                </a:solidFill>
                <a:latin typeface="Fraunces 9pt" pitchFamily="2" charset="77"/>
                <a:ea typeface="Georgia"/>
                <a:cs typeface="Georgia"/>
                <a:sym typeface="Georgia"/>
              </a:rPr>
              <a:t>B.</a:t>
            </a:r>
            <a:r>
              <a:rPr lang="en-US" sz="2600">
                <a:solidFill>
                  <a:srgbClr val="111111"/>
                </a:solidFill>
                <a:latin typeface="Fraunces 9pt" pitchFamily="2" charset="77"/>
                <a:ea typeface="Georgia"/>
                <a:cs typeface="Georgia"/>
                <a:sym typeface="Georgia"/>
              </a:rPr>
              <a:t> Readiness &amp; Optimization Layer</a:t>
            </a:r>
            <a:r>
              <a:rPr lang="en-US" sz="2600" u="none" strike="noStrike" cap="none">
                <a:solidFill>
                  <a:srgbClr val="111111"/>
                </a:solidFill>
                <a:latin typeface="Fraunces 9pt" pitchFamily="2" charset="77"/>
                <a:ea typeface="Georgia"/>
                <a:cs typeface="Georgia"/>
                <a:sym typeface="Georgia"/>
              </a:rPr>
              <a:t>: </a:t>
            </a:r>
            <a:r>
              <a:rPr lang="en-US" sz="2600">
                <a:solidFill>
                  <a:srgbClr val="111111"/>
                </a:solidFill>
                <a:latin typeface="Fraunces 9pt" pitchFamily="2" charset="77"/>
                <a:ea typeface="Georgia"/>
                <a:cs typeface="Georgia"/>
                <a:sym typeface="Georgia"/>
              </a:rPr>
              <a:t>P</a:t>
            </a:r>
            <a:r>
              <a:rPr lang="en-US" sz="2600" u="none" strike="noStrike" cap="none">
                <a:solidFill>
                  <a:srgbClr val="111111"/>
                </a:solidFill>
                <a:latin typeface="Fraunces 9pt" pitchFamily="2" charset="77"/>
                <a:ea typeface="Georgia"/>
                <a:cs typeface="Georgia"/>
                <a:sym typeface="Georgia"/>
              </a:rPr>
              <a:t>rioritization approach</a:t>
            </a:r>
            <a:endParaRPr sz="2600" u="none" strike="noStrike" cap="none">
              <a:solidFill>
                <a:schemeClr val="dk1"/>
              </a:solidFill>
              <a:latin typeface="Fraunces 9pt" pitchFamily="2" charset="77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5"/>
          <p:cNvSpPr/>
          <p:nvPr/>
        </p:nvSpPr>
        <p:spPr>
          <a:xfrm>
            <a:off x="5057116" y="2331720"/>
            <a:ext cx="6878211" cy="41148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DDD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u="none" strike="noStrike" cap="none">
              <a:solidFill>
                <a:srgbClr val="000000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5057116" y="1929384"/>
            <a:ext cx="6878211" cy="624840"/>
          </a:xfrm>
          <a:prstGeom prst="rect">
            <a:avLst/>
          </a:prstGeom>
          <a:solidFill>
            <a:srgbClr val="143524"/>
          </a:solidFill>
          <a:ln w="12700" cap="flat" cmpd="sng">
            <a:solidFill>
              <a:srgbClr val="14352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u="none" strike="noStrike" cap="none">
              <a:solidFill>
                <a:srgbClr val="000000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5239996" y="2036064"/>
            <a:ext cx="53035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D9C5"/>
              </a:buClr>
              <a:buSzPts val="900"/>
              <a:buFont typeface="Calibri"/>
              <a:buNone/>
            </a:pPr>
            <a:r>
              <a:rPr lang="en-US">
                <a:solidFill>
                  <a:srgbClr val="B7D9C5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ii. </a:t>
            </a:r>
            <a:r>
              <a:rPr lang="en-US" sz="1400" u="none" strike="noStrike" cap="none">
                <a:solidFill>
                  <a:srgbClr val="B7D9C5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READINESS &amp; OPTIMIZATION LAYER</a:t>
            </a:r>
            <a:endParaRPr sz="1400" u="none" strike="noStrike" cap="none">
              <a:solidFill>
                <a:schemeClr val="dk1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5239996" y="2270760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none" strike="noStrike" cap="none">
                <a:solidFill>
                  <a:srgbClr val="FFFFFF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Scorecard - how each process is scored</a:t>
            </a:r>
            <a:endParaRPr sz="1400" u="none" strike="noStrike" cap="none">
              <a:solidFill>
                <a:schemeClr val="dk1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5239996" y="2639568"/>
            <a:ext cx="53035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Calibri"/>
              <a:buNone/>
            </a:pPr>
            <a:r>
              <a:rPr lang="en-US">
                <a:solidFill>
                  <a:srgbClr val="385623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Technical feasibility</a:t>
            </a:r>
            <a:endParaRPr sz="1400" u="none" strike="noStrike" cap="none">
              <a:solidFill>
                <a:srgbClr val="385623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5239996" y="2919664"/>
            <a:ext cx="2084832" cy="329184"/>
          </a:xfrm>
          <a:prstGeom prst="roundRect">
            <a:avLst>
              <a:gd name="adj" fmla="val 13333"/>
            </a:avLst>
          </a:prstGeom>
          <a:solidFill>
            <a:srgbClr val="F7F9F8"/>
          </a:solidFill>
          <a:ln w="9525" cap="flat" cmpd="sng">
            <a:solidFill>
              <a:srgbClr val="DDDD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u="none" strike="noStrike" cap="none">
              <a:solidFill>
                <a:srgbClr val="000000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169" name="Google Shape;169;p5"/>
          <p:cNvSpPr/>
          <p:nvPr/>
        </p:nvSpPr>
        <p:spPr>
          <a:xfrm>
            <a:off x="5239996" y="2919664"/>
            <a:ext cx="208483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770"/>
              </a:buClr>
              <a:buSzPts val="900"/>
              <a:buFont typeface="Calibri"/>
              <a:buNone/>
            </a:pPr>
            <a:r>
              <a:rPr lang="en-US" sz="1400" u="none" strike="noStrike" cap="none">
                <a:solidFill>
                  <a:srgbClr val="5B6770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Data-constrained</a:t>
            </a:r>
            <a:endParaRPr sz="1400" u="none" strike="noStrike" cap="none">
              <a:solidFill>
                <a:schemeClr val="dk1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170" name="Google Shape;170;p5"/>
          <p:cNvSpPr/>
          <p:nvPr/>
        </p:nvSpPr>
        <p:spPr>
          <a:xfrm>
            <a:off x="7511396" y="2919664"/>
            <a:ext cx="2084832" cy="329184"/>
          </a:xfrm>
          <a:prstGeom prst="roundRect">
            <a:avLst>
              <a:gd name="adj" fmla="val 13333"/>
            </a:avLst>
          </a:prstGeom>
          <a:solidFill>
            <a:srgbClr val="F7F9F8"/>
          </a:solidFill>
          <a:ln w="9525" cap="flat" cmpd="sng">
            <a:solidFill>
              <a:srgbClr val="DDDD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u="none" strike="noStrike" cap="none">
              <a:solidFill>
                <a:srgbClr val="000000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171" name="Google Shape;171;p5"/>
          <p:cNvSpPr/>
          <p:nvPr/>
        </p:nvSpPr>
        <p:spPr>
          <a:xfrm>
            <a:off x="7511396" y="2919664"/>
            <a:ext cx="208483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524"/>
              </a:buClr>
              <a:buSzPts val="900"/>
              <a:buFont typeface="Calibri"/>
              <a:buNone/>
            </a:pPr>
            <a:r>
              <a:rPr lang="en-US" sz="1400" u="none" strike="noStrike" cap="none">
                <a:solidFill>
                  <a:srgbClr val="143524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Human-judgment</a:t>
            </a:r>
            <a:endParaRPr sz="1400" u="none" strike="noStrike" cap="none">
              <a:solidFill>
                <a:schemeClr val="dk1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9756327" y="2919664"/>
            <a:ext cx="2084832" cy="329184"/>
          </a:xfrm>
          <a:prstGeom prst="roundRect">
            <a:avLst>
              <a:gd name="adj" fmla="val 13333"/>
            </a:avLst>
          </a:prstGeom>
          <a:solidFill>
            <a:srgbClr val="F7F9F8"/>
          </a:solidFill>
          <a:ln w="9525" cap="flat" cmpd="sng">
            <a:solidFill>
              <a:srgbClr val="DDDD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u="none" strike="noStrike" cap="none">
              <a:solidFill>
                <a:srgbClr val="000000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9756327" y="2919664"/>
            <a:ext cx="208483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770"/>
              </a:buClr>
              <a:buSzPts val="900"/>
              <a:buFont typeface="Calibri"/>
              <a:buNone/>
            </a:pPr>
            <a:r>
              <a:rPr lang="en-US" sz="1400" u="none" strike="noStrike" cap="none">
                <a:solidFill>
                  <a:srgbClr val="5B6770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Highly automatable</a:t>
            </a:r>
            <a:endParaRPr sz="1400" u="none" strike="noStrike" cap="none">
              <a:solidFill>
                <a:schemeClr val="dk1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174" name="Google Shape;174;p5"/>
          <p:cNvSpPr/>
          <p:nvPr/>
        </p:nvSpPr>
        <p:spPr>
          <a:xfrm>
            <a:off x="5239996" y="3425952"/>
            <a:ext cx="53035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Calibri"/>
              <a:buNone/>
            </a:pPr>
            <a:r>
              <a:rPr lang="en-US" sz="1400" u="none" strike="noStrike" cap="none">
                <a:solidFill>
                  <a:srgbClr val="385623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Complexity</a:t>
            </a:r>
            <a:endParaRPr sz="1400" u="none" strike="noStrike" cap="none">
              <a:solidFill>
                <a:srgbClr val="385623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175" name="Google Shape;175;p5"/>
          <p:cNvSpPr/>
          <p:nvPr/>
        </p:nvSpPr>
        <p:spPr>
          <a:xfrm>
            <a:off x="5239996" y="3718080"/>
            <a:ext cx="2084832" cy="329184"/>
          </a:xfrm>
          <a:prstGeom prst="roundRect">
            <a:avLst>
              <a:gd name="adj" fmla="val 13333"/>
            </a:avLst>
          </a:prstGeom>
          <a:solidFill>
            <a:srgbClr val="F7F9F8"/>
          </a:solidFill>
          <a:ln w="9525" cap="flat" cmpd="sng">
            <a:solidFill>
              <a:srgbClr val="DDDD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u="none" strike="noStrike" cap="none">
              <a:solidFill>
                <a:srgbClr val="000000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176" name="Google Shape;176;p5"/>
          <p:cNvSpPr/>
          <p:nvPr/>
        </p:nvSpPr>
        <p:spPr>
          <a:xfrm>
            <a:off x="5239996" y="3718080"/>
            <a:ext cx="208483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770"/>
              </a:buClr>
              <a:buSzPts val="900"/>
              <a:buFont typeface="Calibri"/>
              <a:buNone/>
            </a:pPr>
            <a:r>
              <a:rPr lang="en-US" sz="1400" u="none" strike="noStrike" cap="none">
                <a:solidFill>
                  <a:srgbClr val="5B6770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Low</a:t>
            </a:r>
            <a:endParaRPr sz="1400" u="none" strike="noStrike" cap="none">
              <a:solidFill>
                <a:schemeClr val="dk1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177" name="Google Shape;177;p5"/>
          <p:cNvSpPr/>
          <p:nvPr/>
        </p:nvSpPr>
        <p:spPr>
          <a:xfrm>
            <a:off x="7511396" y="3718080"/>
            <a:ext cx="2084832" cy="329184"/>
          </a:xfrm>
          <a:prstGeom prst="roundRect">
            <a:avLst>
              <a:gd name="adj" fmla="val 13333"/>
            </a:avLst>
          </a:prstGeom>
          <a:solidFill>
            <a:srgbClr val="F7F9F8"/>
          </a:solidFill>
          <a:ln w="9525" cap="flat" cmpd="sng">
            <a:solidFill>
              <a:srgbClr val="DDDD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u="none" strike="noStrike" cap="none">
              <a:solidFill>
                <a:srgbClr val="000000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178" name="Google Shape;178;p5"/>
          <p:cNvSpPr/>
          <p:nvPr/>
        </p:nvSpPr>
        <p:spPr>
          <a:xfrm>
            <a:off x="7511396" y="3718080"/>
            <a:ext cx="208483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524"/>
              </a:buClr>
              <a:buSzPts val="900"/>
              <a:buFont typeface="Calibri"/>
              <a:buNone/>
            </a:pPr>
            <a:r>
              <a:rPr lang="en-US" sz="1400" u="none" strike="noStrike" cap="none">
                <a:solidFill>
                  <a:srgbClr val="143524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Medium</a:t>
            </a:r>
            <a:endParaRPr sz="1400" u="none" strike="noStrike" cap="none">
              <a:solidFill>
                <a:schemeClr val="dk1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179" name="Google Shape;179;p5"/>
          <p:cNvSpPr/>
          <p:nvPr/>
        </p:nvSpPr>
        <p:spPr>
          <a:xfrm>
            <a:off x="9756327" y="3718080"/>
            <a:ext cx="2084832" cy="329184"/>
          </a:xfrm>
          <a:prstGeom prst="roundRect">
            <a:avLst>
              <a:gd name="adj" fmla="val 13333"/>
            </a:avLst>
          </a:prstGeom>
          <a:solidFill>
            <a:srgbClr val="F7F9F8"/>
          </a:solidFill>
          <a:ln w="9525" cap="flat" cmpd="sng">
            <a:solidFill>
              <a:srgbClr val="DDDD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u="none" strike="noStrike" cap="none">
              <a:solidFill>
                <a:srgbClr val="000000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180" name="Google Shape;180;p5"/>
          <p:cNvSpPr/>
          <p:nvPr/>
        </p:nvSpPr>
        <p:spPr>
          <a:xfrm>
            <a:off x="9756327" y="3718080"/>
            <a:ext cx="208483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770"/>
              </a:buClr>
              <a:buSzPts val="900"/>
              <a:buFont typeface="Calibri"/>
              <a:buNone/>
            </a:pPr>
            <a:r>
              <a:rPr lang="en-US" sz="1400" u="none" strike="noStrike" cap="none">
                <a:solidFill>
                  <a:srgbClr val="5B6770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High</a:t>
            </a:r>
            <a:endParaRPr sz="1400" u="none" strike="noStrike" cap="none">
              <a:solidFill>
                <a:schemeClr val="dk1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181" name="Google Shape;181;p5"/>
          <p:cNvSpPr/>
          <p:nvPr/>
        </p:nvSpPr>
        <p:spPr>
          <a:xfrm>
            <a:off x="5239996" y="4163568"/>
            <a:ext cx="53035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Calibri"/>
              <a:buNone/>
            </a:pPr>
            <a:r>
              <a:rPr lang="en-US">
                <a:solidFill>
                  <a:srgbClr val="385623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Speed to value</a:t>
            </a:r>
            <a:endParaRPr sz="1400" u="none" strike="noStrike" cap="none">
              <a:solidFill>
                <a:srgbClr val="385623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182" name="Google Shape;182;p5"/>
          <p:cNvSpPr/>
          <p:nvPr/>
        </p:nvSpPr>
        <p:spPr>
          <a:xfrm>
            <a:off x="5239996" y="4455696"/>
            <a:ext cx="2084832" cy="329184"/>
          </a:xfrm>
          <a:prstGeom prst="roundRect">
            <a:avLst>
              <a:gd name="adj" fmla="val 13333"/>
            </a:avLst>
          </a:prstGeom>
          <a:solidFill>
            <a:srgbClr val="F7F9F8"/>
          </a:solidFill>
          <a:ln w="9525" cap="flat" cmpd="sng">
            <a:solidFill>
              <a:srgbClr val="DDDD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u="none" strike="noStrike" cap="none">
              <a:solidFill>
                <a:srgbClr val="000000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183" name="Google Shape;183;p5"/>
          <p:cNvSpPr/>
          <p:nvPr/>
        </p:nvSpPr>
        <p:spPr>
          <a:xfrm>
            <a:off x="5239996" y="4455696"/>
            <a:ext cx="208483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770"/>
              </a:buClr>
              <a:buSzPts val="900"/>
              <a:buFont typeface="Calibri"/>
              <a:buNone/>
            </a:pPr>
            <a:r>
              <a:rPr lang="en-US" sz="1400" u="none" strike="noStrike" cap="none">
                <a:solidFill>
                  <a:srgbClr val="5B6770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Short</a:t>
            </a:r>
            <a:endParaRPr sz="1400" u="none" strike="noStrike" cap="none">
              <a:solidFill>
                <a:schemeClr val="dk1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184" name="Google Shape;184;p5"/>
          <p:cNvSpPr/>
          <p:nvPr/>
        </p:nvSpPr>
        <p:spPr>
          <a:xfrm>
            <a:off x="7511396" y="4455696"/>
            <a:ext cx="2084832" cy="329184"/>
          </a:xfrm>
          <a:prstGeom prst="roundRect">
            <a:avLst>
              <a:gd name="adj" fmla="val 13333"/>
            </a:avLst>
          </a:prstGeom>
          <a:solidFill>
            <a:srgbClr val="F7F9F8"/>
          </a:solidFill>
          <a:ln w="9525" cap="flat" cmpd="sng">
            <a:solidFill>
              <a:srgbClr val="DDDD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u="none" strike="noStrike" cap="none">
              <a:solidFill>
                <a:srgbClr val="000000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185" name="Google Shape;185;p5"/>
          <p:cNvSpPr/>
          <p:nvPr/>
        </p:nvSpPr>
        <p:spPr>
          <a:xfrm>
            <a:off x="7511396" y="4455696"/>
            <a:ext cx="208483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524"/>
              </a:buClr>
              <a:buSzPts val="900"/>
              <a:buFont typeface="Calibri"/>
              <a:buNone/>
            </a:pPr>
            <a:r>
              <a:rPr lang="en-US" sz="1400" u="none" strike="noStrike" cap="none">
                <a:solidFill>
                  <a:srgbClr val="143524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Medium</a:t>
            </a:r>
            <a:endParaRPr sz="1400" u="none" strike="noStrike" cap="none">
              <a:solidFill>
                <a:schemeClr val="dk1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186" name="Google Shape;186;p5"/>
          <p:cNvSpPr/>
          <p:nvPr/>
        </p:nvSpPr>
        <p:spPr>
          <a:xfrm>
            <a:off x="9756327" y="4455696"/>
            <a:ext cx="2084832" cy="329184"/>
          </a:xfrm>
          <a:prstGeom prst="roundRect">
            <a:avLst>
              <a:gd name="adj" fmla="val 13333"/>
            </a:avLst>
          </a:prstGeom>
          <a:solidFill>
            <a:srgbClr val="F7F9F8"/>
          </a:solidFill>
          <a:ln w="9525" cap="flat" cmpd="sng">
            <a:solidFill>
              <a:srgbClr val="DDDD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u="none" strike="noStrike" cap="none">
              <a:solidFill>
                <a:srgbClr val="000000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187" name="Google Shape;187;p5"/>
          <p:cNvSpPr/>
          <p:nvPr/>
        </p:nvSpPr>
        <p:spPr>
          <a:xfrm>
            <a:off x="9756327" y="4455696"/>
            <a:ext cx="208483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770"/>
              </a:buClr>
              <a:buSzPts val="900"/>
              <a:buFont typeface="Calibri"/>
              <a:buNone/>
            </a:pPr>
            <a:r>
              <a:rPr lang="en-US" sz="1400" u="none" strike="noStrike" cap="none">
                <a:solidFill>
                  <a:srgbClr val="5B6770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Long</a:t>
            </a:r>
            <a:endParaRPr sz="1400" u="none" strike="noStrike" cap="none">
              <a:solidFill>
                <a:schemeClr val="dk1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188" name="Google Shape;188;p5"/>
          <p:cNvSpPr/>
          <p:nvPr/>
        </p:nvSpPr>
        <p:spPr>
          <a:xfrm>
            <a:off x="5239996" y="4876800"/>
            <a:ext cx="53035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Calibri"/>
              <a:buNone/>
            </a:pPr>
            <a:r>
              <a:rPr lang="en-US" sz="1400" u="none" strike="noStrike" cap="none">
                <a:solidFill>
                  <a:srgbClr val="385623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Relative effort (resou</a:t>
            </a:r>
            <a:r>
              <a:rPr lang="en-US">
                <a:solidFill>
                  <a:srgbClr val="385623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rce intensity)</a:t>
            </a:r>
            <a:endParaRPr sz="1400" u="none" strike="noStrike" cap="none">
              <a:solidFill>
                <a:srgbClr val="385623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189" name="Google Shape;189;p5"/>
          <p:cNvSpPr/>
          <p:nvPr/>
        </p:nvSpPr>
        <p:spPr>
          <a:xfrm>
            <a:off x="5239996" y="5180960"/>
            <a:ext cx="2084832" cy="329184"/>
          </a:xfrm>
          <a:prstGeom prst="roundRect">
            <a:avLst>
              <a:gd name="adj" fmla="val 13333"/>
            </a:avLst>
          </a:prstGeom>
          <a:solidFill>
            <a:srgbClr val="F7F9F8"/>
          </a:solidFill>
          <a:ln w="9525" cap="flat" cmpd="sng">
            <a:solidFill>
              <a:srgbClr val="DDDD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u="none" strike="noStrike" cap="none">
              <a:solidFill>
                <a:srgbClr val="000000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190" name="Google Shape;190;p5"/>
          <p:cNvSpPr/>
          <p:nvPr/>
        </p:nvSpPr>
        <p:spPr>
          <a:xfrm>
            <a:off x="5239996" y="5180960"/>
            <a:ext cx="208483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770"/>
              </a:buClr>
              <a:buSzPts val="900"/>
              <a:buFont typeface="Calibri"/>
              <a:buNone/>
            </a:pPr>
            <a:r>
              <a:rPr lang="en-US" sz="1400" u="none" strike="noStrike" cap="none">
                <a:solidFill>
                  <a:srgbClr val="5B6770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Low</a:t>
            </a:r>
            <a:endParaRPr sz="1400" u="none" strike="noStrike" cap="none">
              <a:solidFill>
                <a:schemeClr val="dk1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191" name="Google Shape;191;p5"/>
          <p:cNvSpPr/>
          <p:nvPr/>
        </p:nvSpPr>
        <p:spPr>
          <a:xfrm>
            <a:off x="7511396" y="5180960"/>
            <a:ext cx="2084832" cy="329184"/>
          </a:xfrm>
          <a:prstGeom prst="roundRect">
            <a:avLst>
              <a:gd name="adj" fmla="val 13333"/>
            </a:avLst>
          </a:prstGeom>
          <a:solidFill>
            <a:srgbClr val="F7F9F8"/>
          </a:solidFill>
          <a:ln w="9525" cap="flat" cmpd="sng">
            <a:solidFill>
              <a:srgbClr val="DDDD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u="none" strike="noStrike" cap="none">
              <a:solidFill>
                <a:srgbClr val="000000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192" name="Google Shape;192;p5"/>
          <p:cNvSpPr/>
          <p:nvPr/>
        </p:nvSpPr>
        <p:spPr>
          <a:xfrm>
            <a:off x="7511396" y="5180960"/>
            <a:ext cx="208483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524"/>
              </a:buClr>
              <a:buSzPts val="900"/>
              <a:buFont typeface="Calibri"/>
              <a:buNone/>
            </a:pPr>
            <a:r>
              <a:rPr lang="en-US" sz="1400" u="none" strike="noStrike" cap="none">
                <a:solidFill>
                  <a:srgbClr val="143524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Medium</a:t>
            </a:r>
            <a:endParaRPr sz="1400" u="none" strike="noStrike" cap="none">
              <a:solidFill>
                <a:schemeClr val="dk1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193" name="Google Shape;193;p5"/>
          <p:cNvSpPr/>
          <p:nvPr/>
        </p:nvSpPr>
        <p:spPr>
          <a:xfrm>
            <a:off x="9756327" y="5180960"/>
            <a:ext cx="2084832" cy="329184"/>
          </a:xfrm>
          <a:prstGeom prst="roundRect">
            <a:avLst>
              <a:gd name="adj" fmla="val 13333"/>
            </a:avLst>
          </a:prstGeom>
          <a:solidFill>
            <a:srgbClr val="F7F9F8"/>
          </a:solidFill>
          <a:ln w="9525" cap="flat" cmpd="sng">
            <a:solidFill>
              <a:srgbClr val="DDDD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u="none" strike="noStrike" cap="none">
              <a:solidFill>
                <a:srgbClr val="000000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194" name="Google Shape;194;p5"/>
          <p:cNvSpPr/>
          <p:nvPr/>
        </p:nvSpPr>
        <p:spPr>
          <a:xfrm>
            <a:off x="9756327" y="5180960"/>
            <a:ext cx="208483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770"/>
              </a:buClr>
              <a:buSzPts val="900"/>
              <a:buFont typeface="Calibri"/>
              <a:buNone/>
            </a:pPr>
            <a:r>
              <a:rPr lang="en-US" sz="1400" u="none" strike="noStrike" cap="none">
                <a:solidFill>
                  <a:srgbClr val="5B6770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High</a:t>
            </a:r>
            <a:endParaRPr sz="1400" u="none" strike="noStrike" cap="none">
              <a:solidFill>
                <a:schemeClr val="dk1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195" name="Google Shape;195;p5"/>
          <p:cNvSpPr/>
          <p:nvPr/>
        </p:nvSpPr>
        <p:spPr>
          <a:xfrm>
            <a:off x="5239996" y="5688048"/>
            <a:ext cx="53035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Calibri"/>
              <a:buNone/>
            </a:pPr>
            <a:r>
              <a:rPr lang="en-US" sz="1400" u="none" strike="noStrike" cap="none">
                <a:solidFill>
                  <a:srgbClr val="385623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Directional ROI</a:t>
            </a:r>
            <a:endParaRPr sz="1400" u="none" strike="noStrike" cap="none">
              <a:solidFill>
                <a:srgbClr val="385623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196" name="Google Shape;196;p5"/>
          <p:cNvSpPr/>
          <p:nvPr/>
        </p:nvSpPr>
        <p:spPr>
          <a:xfrm>
            <a:off x="5239996" y="5980176"/>
            <a:ext cx="2084832" cy="329184"/>
          </a:xfrm>
          <a:prstGeom prst="roundRect">
            <a:avLst>
              <a:gd name="adj" fmla="val 13333"/>
            </a:avLst>
          </a:prstGeom>
          <a:solidFill>
            <a:srgbClr val="F7F9F8"/>
          </a:solidFill>
          <a:ln w="9525" cap="flat" cmpd="sng">
            <a:solidFill>
              <a:srgbClr val="DDDD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u="none" strike="noStrike" cap="none">
              <a:solidFill>
                <a:srgbClr val="000000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197" name="Google Shape;197;p5"/>
          <p:cNvSpPr/>
          <p:nvPr/>
        </p:nvSpPr>
        <p:spPr>
          <a:xfrm>
            <a:off x="5239996" y="5980176"/>
            <a:ext cx="208483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770"/>
              </a:buClr>
              <a:buSzPts val="900"/>
              <a:buFont typeface="Calibri"/>
              <a:buNone/>
            </a:pPr>
            <a:r>
              <a:rPr lang="en-US" sz="1400" u="none" strike="noStrike" cap="none">
                <a:solidFill>
                  <a:srgbClr val="5B6770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Low</a:t>
            </a:r>
            <a:endParaRPr sz="1400" u="none" strike="noStrike" cap="none">
              <a:solidFill>
                <a:schemeClr val="dk1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198" name="Google Shape;198;p5"/>
          <p:cNvSpPr/>
          <p:nvPr/>
        </p:nvSpPr>
        <p:spPr>
          <a:xfrm>
            <a:off x="7511396" y="5980176"/>
            <a:ext cx="2084832" cy="329184"/>
          </a:xfrm>
          <a:prstGeom prst="roundRect">
            <a:avLst>
              <a:gd name="adj" fmla="val 13333"/>
            </a:avLst>
          </a:prstGeom>
          <a:solidFill>
            <a:srgbClr val="F7F9F8"/>
          </a:solidFill>
          <a:ln w="9525" cap="flat" cmpd="sng">
            <a:solidFill>
              <a:srgbClr val="DDDD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u="none" strike="noStrike" cap="none">
              <a:solidFill>
                <a:srgbClr val="000000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199" name="Google Shape;199;p5"/>
          <p:cNvSpPr/>
          <p:nvPr/>
        </p:nvSpPr>
        <p:spPr>
          <a:xfrm>
            <a:off x="7511396" y="5980176"/>
            <a:ext cx="208483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524"/>
              </a:buClr>
              <a:buSzPts val="900"/>
              <a:buFont typeface="Calibri"/>
              <a:buNone/>
            </a:pPr>
            <a:r>
              <a:rPr lang="en-US" sz="1400" u="none" strike="noStrike" cap="none">
                <a:solidFill>
                  <a:srgbClr val="143524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Medium</a:t>
            </a:r>
            <a:endParaRPr sz="1400" u="none" strike="noStrike" cap="none">
              <a:solidFill>
                <a:schemeClr val="dk1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200" name="Google Shape;200;p5"/>
          <p:cNvSpPr/>
          <p:nvPr/>
        </p:nvSpPr>
        <p:spPr>
          <a:xfrm>
            <a:off x="9756327" y="5980176"/>
            <a:ext cx="2084832" cy="329184"/>
          </a:xfrm>
          <a:prstGeom prst="roundRect">
            <a:avLst>
              <a:gd name="adj" fmla="val 13333"/>
            </a:avLst>
          </a:prstGeom>
          <a:solidFill>
            <a:srgbClr val="F7F9F8"/>
          </a:solidFill>
          <a:ln w="9525" cap="flat" cmpd="sng">
            <a:solidFill>
              <a:srgbClr val="DDDD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u="none" strike="noStrike" cap="none">
              <a:solidFill>
                <a:srgbClr val="000000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201" name="Google Shape;201;p5"/>
          <p:cNvSpPr/>
          <p:nvPr/>
        </p:nvSpPr>
        <p:spPr>
          <a:xfrm>
            <a:off x="9756327" y="5980176"/>
            <a:ext cx="208483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770"/>
              </a:buClr>
              <a:buSzPts val="900"/>
              <a:buFont typeface="Calibri"/>
              <a:buNone/>
            </a:pPr>
            <a:r>
              <a:rPr lang="en-US" sz="1400" u="none" strike="noStrike" cap="none">
                <a:solidFill>
                  <a:srgbClr val="5B6770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High</a:t>
            </a:r>
            <a:endParaRPr sz="1400" u="none" strike="noStrike" cap="none">
              <a:solidFill>
                <a:schemeClr val="dk1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202" name="Google Shape;202;p5"/>
          <p:cNvSpPr txBox="1"/>
          <p:nvPr/>
        </p:nvSpPr>
        <p:spPr>
          <a:xfrm>
            <a:off x="365760" y="2919664"/>
            <a:ext cx="4254366" cy="33547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n-US" sz="1600" u="none" strike="noStrike" cap="none">
                <a:solidFill>
                  <a:srgbClr val="000000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Every process captured is scored against five dimensions</a:t>
            </a:r>
            <a:endParaRPr>
              <a:latin typeface="Wix Madefor Display" panose="020B0503020203020203" pitchFamily="34" charset="77"/>
              <a:cs typeface="Wix Madefor Display" panose="020B0503020203020203" pitchFamily="34" charset="77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n-US" sz="1600" u="none" strike="noStrike" cap="none">
                <a:solidFill>
                  <a:srgbClr val="000000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Applied consistently across the catalog, the framework produces a holistic, comparable view of every mapped process — enabling structured prioritization based on data, not gut feel</a:t>
            </a:r>
            <a:endParaRPr>
              <a:latin typeface="Wix Madefor Display" panose="020B0503020203020203" pitchFamily="34" charset="77"/>
              <a:cs typeface="Wix Madefor Display" panose="020B0503020203020203" pitchFamily="34" charset="77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n-US" sz="1600" u="sng" strike="noStrike" cap="none">
                <a:solidFill>
                  <a:srgbClr val="000000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Output</a:t>
            </a:r>
            <a:r>
              <a:rPr lang="en-US" sz="1600" u="none" strike="noStrike" cap="none">
                <a:solidFill>
                  <a:srgbClr val="000000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: a ranked candidate list for agentic exploration, with transparent rationale at the leadership level — just enough signal to prioritize intelligently, not full solution design.</a:t>
            </a:r>
            <a:endParaRPr>
              <a:latin typeface="Wix Madefor Display" panose="020B0503020203020203" pitchFamily="34" charset="77"/>
              <a:cs typeface="Wix Madefor Display" panose="020B0503020203020203" pitchFamily="34" charset="77"/>
            </a:endParaRPr>
          </a:p>
        </p:txBody>
      </p:sp>
      <p:sp>
        <p:nvSpPr>
          <p:cNvPr id="203" name="Google Shape;203;p5"/>
          <p:cNvSpPr txBox="1"/>
          <p:nvPr/>
        </p:nvSpPr>
        <p:spPr>
          <a:xfrm>
            <a:off x="365760" y="2494455"/>
            <a:ext cx="368808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u="none" strike="noStrike" cap="none">
                <a:solidFill>
                  <a:srgbClr val="385623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Evaluation approach</a:t>
            </a:r>
            <a:endParaRPr b="1">
              <a:latin typeface="Wix Madefor Display" panose="020B0503020203020203" pitchFamily="34" charset="77"/>
              <a:cs typeface="Wix Madefor Display" panose="020B0503020203020203" pitchFamily="34" charset="77"/>
            </a:endParaRPr>
          </a:p>
        </p:txBody>
      </p:sp>
      <p:cxnSp>
        <p:nvCxnSpPr>
          <p:cNvPr id="204" name="Google Shape;204;p5"/>
          <p:cNvCxnSpPr/>
          <p:nvPr/>
        </p:nvCxnSpPr>
        <p:spPr>
          <a:xfrm>
            <a:off x="462014" y="2833009"/>
            <a:ext cx="4158112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6" descr="logo_dark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5760" y="274320"/>
            <a:ext cx="12801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6"/>
          <p:cNvSpPr/>
          <p:nvPr/>
        </p:nvSpPr>
        <p:spPr>
          <a:xfrm>
            <a:off x="365760" y="1239012"/>
            <a:ext cx="11430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i="1" u="none" strike="noStrike" cap="none" dirty="0">
                <a:solidFill>
                  <a:srgbClr val="5B6770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Owner: Underwriter  ·  ~15-60 min hands-on  ·  ~6 days TAT  ·  Tools: Outlook · </a:t>
            </a:r>
            <a:r>
              <a:rPr lang="en-US" sz="1100" i="1" u="none" strike="noStrike" cap="none" dirty="0" err="1">
                <a:solidFill>
                  <a:srgbClr val="5B6770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MyBook</a:t>
            </a:r>
            <a:r>
              <a:rPr lang="en-US" sz="1100" i="1" u="none" strike="noStrike" cap="none" dirty="0">
                <a:solidFill>
                  <a:srgbClr val="5B6770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 (Pega) · Sixfold · Guideline IQ</a:t>
            </a:r>
            <a:endParaRPr sz="1100" i="1" u="none" strike="noStrike" cap="none" dirty="0">
              <a:solidFill>
                <a:srgbClr val="000000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212" name="Google Shape;212;p6"/>
          <p:cNvSpPr/>
          <p:nvPr/>
        </p:nvSpPr>
        <p:spPr>
          <a:xfrm>
            <a:off x="365760" y="1623713"/>
            <a:ext cx="6858000" cy="4819617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DDD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u="none" strike="noStrike" cap="none">
              <a:solidFill>
                <a:srgbClr val="000000"/>
              </a:solidFill>
              <a:latin typeface="Wix Madefor Display" panose="020B0503020203020203" pitchFamily="34" charset="77"/>
              <a:cs typeface="Wix Madefor Display" panose="020B0503020203020203" pitchFamily="34" charset="77"/>
              <a:sym typeface="Arial"/>
            </a:endParaRPr>
          </a:p>
        </p:txBody>
      </p:sp>
      <p:sp>
        <p:nvSpPr>
          <p:cNvPr id="213" name="Google Shape;213;p6"/>
          <p:cNvSpPr/>
          <p:nvPr/>
        </p:nvSpPr>
        <p:spPr>
          <a:xfrm>
            <a:off x="365760" y="1634164"/>
            <a:ext cx="6858000" cy="365760"/>
          </a:xfrm>
          <a:prstGeom prst="rect">
            <a:avLst/>
          </a:prstGeom>
          <a:solidFill>
            <a:srgbClr val="143524"/>
          </a:solidFill>
          <a:ln w="12700" cap="flat" cmpd="sng">
            <a:solidFill>
              <a:srgbClr val="14352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u="none" strike="noStrike" cap="none">
              <a:solidFill>
                <a:srgbClr val="000000"/>
              </a:solidFill>
              <a:latin typeface="Wix Madefor Display" panose="020B0503020203020203" pitchFamily="34" charset="77"/>
              <a:cs typeface="Wix Madefor Display" panose="020B0503020203020203" pitchFamily="34" charset="77"/>
              <a:sym typeface="Arial"/>
            </a:endParaRPr>
          </a:p>
        </p:txBody>
      </p:sp>
      <p:sp>
        <p:nvSpPr>
          <p:cNvPr id="214" name="Google Shape;214;p6"/>
          <p:cNvSpPr/>
          <p:nvPr/>
        </p:nvSpPr>
        <p:spPr>
          <a:xfrm>
            <a:off x="502920" y="1634164"/>
            <a:ext cx="6583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u="none" strike="noStrike" cap="none">
                <a:solidFill>
                  <a:srgbClr val="FFFFFF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CURRENT PROCESS — DETAILED</a:t>
            </a:r>
            <a:endParaRPr sz="1200" u="none" strike="noStrike" cap="none">
              <a:solidFill>
                <a:srgbClr val="000000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215" name="Google Shape;215;p6"/>
          <p:cNvSpPr/>
          <p:nvPr/>
        </p:nvSpPr>
        <p:spPr>
          <a:xfrm>
            <a:off x="411480" y="2039321"/>
            <a:ext cx="6766560" cy="523821"/>
          </a:xfrm>
          <a:prstGeom prst="rect">
            <a:avLst/>
          </a:prstGeom>
          <a:solidFill>
            <a:srgbClr val="F7F9F8"/>
          </a:solidFill>
          <a:ln w="12700" cap="flat" cmpd="sng">
            <a:solidFill>
              <a:srgbClr val="F7F9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u="none" strike="noStrike" cap="none">
              <a:solidFill>
                <a:srgbClr val="000000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216" name="Google Shape;216;p6"/>
          <p:cNvSpPr/>
          <p:nvPr/>
        </p:nvSpPr>
        <p:spPr>
          <a:xfrm>
            <a:off x="502920" y="2173215"/>
            <a:ext cx="274320" cy="274320"/>
          </a:xfrm>
          <a:prstGeom prst="ellipse">
            <a:avLst/>
          </a:prstGeom>
          <a:solidFill>
            <a:srgbClr val="2C7A4B"/>
          </a:solidFill>
          <a:ln w="12700" cap="flat" cmpd="sng">
            <a:solidFill>
              <a:srgbClr val="2C7A4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u="none" strike="noStrike" cap="none">
              <a:solidFill>
                <a:srgbClr val="000000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217" name="Google Shape;217;p6"/>
          <p:cNvSpPr/>
          <p:nvPr/>
        </p:nvSpPr>
        <p:spPr>
          <a:xfrm>
            <a:off x="502920" y="2173215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u="none" strike="noStrike" cap="none">
                <a:solidFill>
                  <a:srgbClr val="FFFFFF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1</a:t>
            </a:r>
            <a:endParaRPr sz="1000" u="none" strike="noStrike" cap="none">
              <a:solidFill>
                <a:srgbClr val="000000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218" name="Google Shape;218;p6"/>
          <p:cNvSpPr/>
          <p:nvPr/>
        </p:nvSpPr>
        <p:spPr>
          <a:xfrm>
            <a:off x="868680" y="2075897"/>
            <a:ext cx="6263640" cy="468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u="none" strike="noStrike" cap="none">
                <a:solidFill>
                  <a:srgbClr val="111111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Broker emails submission to UW's individual inbox</a:t>
            </a:r>
            <a:r>
              <a:rPr lang="en-US" sz="1000" u="none" strike="noStrike" cap="none">
                <a:solidFill>
                  <a:srgbClr val="111111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 — no central mailbox; per-UW handling varies. Some UWs sit with 100+ unread emails; submissions get lost when UWs leave/are on leave.</a:t>
            </a:r>
            <a:endParaRPr sz="1000" u="none" strike="noStrike" cap="none">
              <a:solidFill>
                <a:srgbClr val="000000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219" name="Google Shape;219;p6"/>
          <p:cNvSpPr/>
          <p:nvPr/>
        </p:nvSpPr>
        <p:spPr>
          <a:xfrm>
            <a:off x="502920" y="2779120"/>
            <a:ext cx="274320" cy="274320"/>
          </a:xfrm>
          <a:prstGeom prst="ellipse">
            <a:avLst/>
          </a:prstGeom>
          <a:solidFill>
            <a:srgbClr val="2C7A4B"/>
          </a:solidFill>
          <a:ln w="12700" cap="flat" cmpd="sng">
            <a:solidFill>
              <a:srgbClr val="2C7A4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u="none" strike="noStrike" cap="none">
              <a:solidFill>
                <a:srgbClr val="000000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220" name="Google Shape;220;p6"/>
          <p:cNvSpPr/>
          <p:nvPr/>
        </p:nvSpPr>
        <p:spPr>
          <a:xfrm>
            <a:off x="502920" y="277912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u="none" strike="noStrike" cap="none">
                <a:solidFill>
                  <a:srgbClr val="FFFFFF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2</a:t>
            </a:r>
            <a:endParaRPr sz="1000" u="none" strike="noStrike" cap="none">
              <a:solidFill>
                <a:srgbClr val="000000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221" name="Google Shape;221;p6"/>
          <p:cNvSpPr/>
          <p:nvPr/>
        </p:nvSpPr>
        <p:spPr>
          <a:xfrm>
            <a:off x="868680" y="2681802"/>
            <a:ext cx="6263640" cy="468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u="none" strike="noStrike" cap="none">
                <a:solidFill>
                  <a:srgbClr val="111111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UW reads &amp; makes initial appetite decision</a:t>
            </a:r>
            <a:r>
              <a:rPr lang="en-US" sz="1000" u="none" strike="noStrike" cap="none">
                <a:solidFill>
                  <a:srgbClr val="111111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 — ~6 days average delay between broker send and clearance (per recent timing logger data).</a:t>
            </a:r>
            <a:endParaRPr sz="1000" u="none" strike="noStrike" cap="none">
              <a:solidFill>
                <a:srgbClr val="000000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222" name="Google Shape;222;p6"/>
          <p:cNvSpPr/>
          <p:nvPr/>
        </p:nvSpPr>
        <p:spPr>
          <a:xfrm>
            <a:off x="411480" y="3283029"/>
            <a:ext cx="6766560" cy="523821"/>
          </a:xfrm>
          <a:prstGeom prst="rect">
            <a:avLst/>
          </a:prstGeom>
          <a:solidFill>
            <a:srgbClr val="F7F9F8"/>
          </a:solidFill>
          <a:ln w="12700" cap="flat" cmpd="sng">
            <a:solidFill>
              <a:srgbClr val="F7F9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u="none" strike="noStrike" cap="none">
              <a:solidFill>
                <a:srgbClr val="000000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223" name="Google Shape;223;p6"/>
          <p:cNvSpPr/>
          <p:nvPr/>
        </p:nvSpPr>
        <p:spPr>
          <a:xfrm>
            <a:off x="502920" y="3416923"/>
            <a:ext cx="274320" cy="274320"/>
          </a:xfrm>
          <a:prstGeom prst="ellipse">
            <a:avLst/>
          </a:prstGeom>
          <a:solidFill>
            <a:srgbClr val="2C7A4B"/>
          </a:solidFill>
          <a:ln w="12700" cap="flat" cmpd="sng">
            <a:solidFill>
              <a:srgbClr val="2C7A4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u="none" strike="noStrike" cap="none">
              <a:solidFill>
                <a:srgbClr val="000000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224" name="Google Shape;224;p6"/>
          <p:cNvSpPr/>
          <p:nvPr/>
        </p:nvSpPr>
        <p:spPr>
          <a:xfrm>
            <a:off x="502920" y="3416923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u="none" strike="noStrike" cap="none">
                <a:solidFill>
                  <a:srgbClr val="FFFFFF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3</a:t>
            </a:r>
            <a:endParaRPr sz="1000" u="none" strike="noStrike" cap="none">
              <a:solidFill>
                <a:srgbClr val="000000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225" name="Google Shape;225;p6"/>
          <p:cNvSpPr/>
          <p:nvPr/>
        </p:nvSpPr>
        <p:spPr>
          <a:xfrm>
            <a:off x="868680" y="3319605"/>
            <a:ext cx="6263640" cy="468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u="none" strike="noStrike" cap="none">
                <a:solidFill>
                  <a:srgbClr val="111111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Path A — Quick decline</a:t>
            </a:r>
            <a:r>
              <a:rPr lang="en-US" sz="1000" u="none" strike="noStrike" cap="none">
                <a:solidFill>
                  <a:srgbClr val="111111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 — UW knows in ~5 min the risk is out of appetite (e.g., explosive manufacturer); historical 1-click Outlook plugin decline lost in MyBook migration.</a:t>
            </a:r>
            <a:endParaRPr sz="1000" u="none" strike="noStrike" cap="none">
              <a:solidFill>
                <a:srgbClr val="000000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226" name="Google Shape;226;p6"/>
          <p:cNvSpPr/>
          <p:nvPr/>
        </p:nvSpPr>
        <p:spPr>
          <a:xfrm>
            <a:off x="502920" y="4054723"/>
            <a:ext cx="274320" cy="274320"/>
          </a:xfrm>
          <a:prstGeom prst="ellipse">
            <a:avLst/>
          </a:prstGeom>
          <a:solidFill>
            <a:srgbClr val="2C7A4B"/>
          </a:solidFill>
          <a:ln w="12700" cap="flat" cmpd="sng">
            <a:solidFill>
              <a:srgbClr val="2C7A4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u="none" strike="noStrike" cap="none">
              <a:solidFill>
                <a:srgbClr val="000000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227" name="Google Shape;227;p6"/>
          <p:cNvSpPr/>
          <p:nvPr/>
        </p:nvSpPr>
        <p:spPr>
          <a:xfrm>
            <a:off x="502920" y="4054723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u="none" strike="noStrike" cap="none">
                <a:solidFill>
                  <a:srgbClr val="FFFFFF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4</a:t>
            </a:r>
            <a:endParaRPr sz="1000" u="none" strike="noStrike" cap="none">
              <a:solidFill>
                <a:srgbClr val="000000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228" name="Google Shape;228;p6"/>
          <p:cNvSpPr/>
          <p:nvPr/>
        </p:nvSpPr>
        <p:spPr>
          <a:xfrm>
            <a:off x="868680" y="3957405"/>
            <a:ext cx="6263640" cy="468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u="none" strike="noStrike" cap="none">
                <a:solidFill>
                  <a:srgbClr val="111111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Path B — Send to MyBook for pre-qualification</a:t>
            </a:r>
            <a:r>
              <a:rPr lang="en-US" sz="1000" u="none" strike="noStrike" cap="none">
                <a:solidFill>
                  <a:srgbClr val="111111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 — Outlook plugin (2 clicks) creates clearance record + triggers CONVR engagement on attachments.</a:t>
            </a:r>
            <a:endParaRPr sz="1000" u="none" strike="noStrike" cap="none">
              <a:solidFill>
                <a:srgbClr val="000000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229" name="Google Shape;229;p6"/>
          <p:cNvSpPr/>
          <p:nvPr/>
        </p:nvSpPr>
        <p:spPr>
          <a:xfrm>
            <a:off x="411480" y="4547998"/>
            <a:ext cx="6766560" cy="523821"/>
          </a:xfrm>
          <a:prstGeom prst="rect">
            <a:avLst/>
          </a:prstGeom>
          <a:solidFill>
            <a:srgbClr val="F7F9F8"/>
          </a:solidFill>
          <a:ln w="12700" cap="flat" cmpd="sng">
            <a:solidFill>
              <a:srgbClr val="F7F9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u="none" strike="noStrike" cap="none">
              <a:solidFill>
                <a:srgbClr val="000000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230" name="Google Shape;230;p6"/>
          <p:cNvSpPr/>
          <p:nvPr/>
        </p:nvSpPr>
        <p:spPr>
          <a:xfrm>
            <a:off x="502920" y="4681893"/>
            <a:ext cx="274320" cy="274320"/>
          </a:xfrm>
          <a:prstGeom prst="ellipse">
            <a:avLst/>
          </a:prstGeom>
          <a:solidFill>
            <a:srgbClr val="2C7A4B"/>
          </a:solidFill>
          <a:ln w="12700" cap="flat" cmpd="sng">
            <a:solidFill>
              <a:srgbClr val="2C7A4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u="none" strike="noStrike" cap="none">
              <a:solidFill>
                <a:srgbClr val="000000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231" name="Google Shape;231;p6"/>
          <p:cNvSpPr/>
          <p:nvPr/>
        </p:nvSpPr>
        <p:spPr>
          <a:xfrm>
            <a:off x="502920" y="4681893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u="none" strike="noStrike" cap="none">
                <a:solidFill>
                  <a:srgbClr val="FFFFFF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5</a:t>
            </a:r>
            <a:endParaRPr sz="1000" u="none" strike="noStrike" cap="none">
              <a:solidFill>
                <a:srgbClr val="000000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232" name="Google Shape;232;p6"/>
          <p:cNvSpPr/>
          <p:nvPr/>
        </p:nvSpPr>
        <p:spPr>
          <a:xfrm>
            <a:off x="868680" y="4584574"/>
            <a:ext cx="6263640" cy="468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111111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E</a:t>
            </a:r>
            <a:r>
              <a:rPr lang="en-US" sz="1100" u="none" strike="noStrike" cap="none">
                <a:solidFill>
                  <a:srgbClr val="111111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ngages Sixfold for pre-qual</a:t>
            </a:r>
            <a:r>
              <a:rPr lang="en-US" sz="1000" u="none" strike="noStrike" cap="none">
                <a:solidFill>
                  <a:srgbClr val="111111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 — Sixfold returns operation description + SIC code recommendation; delivered as PDF email back to UW.</a:t>
            </a:r>
            <a:endParaRPr sz="1000" u="none" strike="noStrike" cap="none">
              <a:solidFill>
                <a:srgbClr val="000000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233" name="Google Shape;233;p6"/>
          <p:cNvSpPr/>
          <p:nvPr/>
        </p:nvSpPr>
        <p:spPr>
          <a:xfrm>
            <a:off x="502920" y="5277164"/>
            <a:ext cx="274320" cy="274320"/>
          </a:xfrm>
          <a:prstGeom prst="ellipse">
            <a:avLst/>
          </a:prstGeom>
          <a:solidFill>
            <a:srgbClr val="2C7A4B"/>
          </a:solidFill>
          <a:ln w="12700" cap="flat" cmpd="sng">
            <a:solidFill>
              <a:srgbClr val="2C7A4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u="none" strike="noStrike" cap="none">
              <a:solidFill>
                <a:srgbClr val="000000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234" name="Google Shape;234;p6"/>
          <p:cNvSpPr/>
          <p:nvPr/>
        </p:nvSpPr>
        <p:spPr>
          <a:xfrm>
            <a:off x="502920" y="5277164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u="none" strike="noStrike" cap="none">
                <a:solidFill>
                  <a:srgbClr val="FFFFFF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6</a:t>
            </a:r>
            <a:endParaRPr sz="1000" u="none" strike="noStrike" cap="none">
              <a:solidFill>
                <a:srgbClr val="000000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235" name="Google Shape;235;p6"/>
          <p:cNvSpPr/>
          <p:nvPr/>
        </p:nvSpPr>
        <p:spPr>
          <a:xfrm>
            <a:off x="868680" y="5179846"/>
            <a:ext cx="6263640" cy="468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u="none" strike="noStrike" cap="none">
                <a:solidFill>
                  <a:srgbClr val="111111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UW reviews Sixfold output + own pre-qual analysis </a:t>
            </a:r>
            <a:r>
              <a:rPr lang="en-US" sz="1000" u="none" strike="noStrike" cap="none">
                <a:solidFill>
                  <a:srgbClr val="111111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— Crystal: some UWs spend 1 hr/submission on pre-qual (loss runs, safety docs, claims aggregation); Sixfold targets ~10-20 min.</a:t>
            </a:r>
            <a:endParaRPr sz="1000" u="none" strike="noStrike" cap="none">
              <a:solidFill>
                <a:srgbClr val="000000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236" name="Google Shape;236;p6"/>
          <p:cNvSpPr/>
          <p:nvPr/>
        </p:nvSpPr>
        <p:spPr>
          <a:xfrm>
            <a:off x="411480" y="5738541"/>
            <a:ext cx="6766560" cy="523821"/>
          </a:xfrm>
          <a:prstGeom prst="rect">
            <a:avLst/>
          </a:prstGeom>
          <a:solidFill>
            <a:srgbClr val="F7F9F8"/>
          </a:solidFill>
          <a:ln w="12700" cap="flat" cmpd="sng">
            <a:solidFill>
              <a:srgbClr val="F7F9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u="none" strike="noStrike" cap="none">
              <a:solidFill>
                <a:srgbClr val="000000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237" name="Google Shape;237;p6"/>
          <p:cNvSpPr/>
          <p:nvPr/>
        </p:nvSpPr>
        <p:spPr>
          <a:xfrm>
            <a:off x="502920" y="5872436"/>
            <a:ext cx="274320" cy="274320"/>
          </a:xfrm>
          <a:prstGeom prst="ellipse">
            <a:avLst/>
          </a:prstGeom>
          <a:solidFill>
            <a:srgbClr val="2C7A4B"/>
          </a:solidFill>
          <a:ln w="12700" cap="flat" cmpd="sng">
            <a:solidFill>
              <a:srgbClr val="2C7A4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u="none" strike="noStrike" cap="none">
              <a:solidFill>
                <a:srgbClr val="000000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238" name="Google Shape;238;p6"/>
          <p:cNvSpPr/>
          <p:nvPr/>
        </p:nvSpPr>
        <p:spPr>
          <a:xfrm>
            <a:off x="502920" y="5872436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u="none" strike="noStrike" cap="none">
                <a:solidFill>
                  <a:srgbClr val="FFFFFF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7</a:t>
            </a:r>
            <a:endParaRPr sz="1000" u="none" strike="noStrike" cap="none">
              <a:solidFill>
                <a:srgbClr val="000000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239" name="Google Shape;239;p6"/>
          <p:cNvSpPr/>
          <p:nvPr/>
        </p:nvSpPr>
        <p:spPr>
          <a:xfrm>
            <a:off x="868680" y="5775117"/>
            <a:ext cx="6263640" cy="468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u="none" strike="noStrike" cap="none">
                <a:solidFill>
                  <a:srgbClr val="111111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UW fully clears in MyBook &amp; sends rating instructions to UA</a:t>
            </a:r>
            <a:r>
              <a:rPr lang="en-US" sz="1000" u="none" strike="noStrike" cap="none">
                <a:solidFill>
                  <a:srgbClr val="111111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 — Free-text email or chat; no structured template; instruction quality varies entirely by UW preference.</a:t>
            </a:r>
            <a:endParaRPr sz="1000" u="none" strike="noStrike" cap="none">
              <a:solidFill>
                <a:srgbClr val="000000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240" name="Google Shape;240;p6"/>
          <p:cNvSpPr/>
          <p:nvPr/>
        </p:nvSpPr>
        <p:spPr>
          <a:xfrm>
            <a:off x="7360920" y="1623713"/>
            <a:ext cx="4480560" cy="4819617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DDD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u="none" strike="noStrike" cap="none">
              <a:solidFill>
                <a:srgbClr val="000000"/>
              </a:solidFill>
              <a:latin typeface="Wix Madefor Display" panose="020B0503020203020203" pitchFamily="34" charset="77"/>
              <a:cs typeface="Wix Madefor Display" panose="020B0503020203020203" pitchFamily="34" charset="77"/>
              <a:sym typeface="Arial"/>
            </a:endParaRPr>
          </a:p>
        </p:txBody>
      </p:sp>
      <p:sp>
        <p:nvSpPr>
          <p:cNvPr id="241" name="Google Shape;241;p6"/>
          <p:cNvSpPr/>
          <p:nvPr/>
        </p:nvSpPr>
        <p:spPr>
          <a:xfrm>
            <a:off x="7360920" y="1639859"/>
            <a:ext cx="4480560" cy="365760"/>
          </a:xfrm>
          <a:prstGeom prst="rect">
            <a:avLst/>
          </a:prstGeom>
          <a:solidFill>
            <a:srgbClr val="143524"/>
          </a:solidFill>
          <a:ln w="12700" cap="flat" cmpd="sng">
            <a:solidFill>
              <a:srgbClr val="14352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u="none" strike="noStrike" cap="none">
              <a:solidFill>
                <a:srgbClr val="000000"/>
              </a:solidFill>
              <a:latin typeface="Wix Madefor Display" panose="020B0503020203020203" pitchFamily="34" charset="77"/>
              <a:cs typeface="Wix Madefor Display" panose="020B0503020203020203" pitchFamily="34" charset="77"/>
              <a:sym typeface="Arial"/>
            </a:endParaRPr>
          </a:p>
        </p:txBody>
      </p:sp>
      <p:sp>
        <p:nvSpPr>
          <p:cNvPr id="242" name="Google Shape;242;p6"/>
          <p:cNvSpPr/>
          <p:nvPr/>
        </p:nvSpPr>
        <p:spPr>
          <a:xfrm>
            <a:off x="7498080" y="1639859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u="none" strike="noStrike" cap="none">
                <a:solidFill>
                  <a:srgbClr val="FFFFFF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MANUAL ACTIVITIES IDENTIFIED</a:t>
            </a:r>
            <a:endParaRPr sz="1200" u="none" strike="noStrike" cap="none">
              <a:solidFill>
                <a:srgbClr val="000000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243" name="Google Shape;243;p6"/>
          <p:cNvSpPr/>
          <p:nvPr/>
        </p:nvSpPr>
        <p:spPr>
          <a:xfrm>
            <a:off x="7406640" y="2039327"/>
            <a:ext cx="4389120" cy="740664"/>
          </a:xfrm>
          <a:prstGeom prst="rect">
            <a:avLst/>
          </a:prstGeom>
          <a:solidFill>
            <a:srgbClr val="F7F9F8"/>
          </a:solidFill>
          <a:ln w="12700" cap="flat" cmpd="sng">
            <a:solidFill>
              <a:srgbClr val="F7F9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u="none" strike="noStrike" cap="none">
              <a:solidFill>
                <a:srgbClr val="000000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244" name="Google Shape;244;p6"/>
          <p:cNvSpPr/>
          <p:nvPr/>
        </p:nvSpPr>
        <p:spPr>
          <a:xfrm>
            <a:off x="7470648" y="2148945"/>
            <a:ext cx="365760" cy="365760"/>
          </a:xfrm>
          <a:prstGeom prst="ellipse">
            <a:avLst/>
          </a:prstGeom>
          <a:solidFill>
            <a:srgbClr val="C0392B"/>
          </a:solidFill>
          <a:ln w="12700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u="none" strike="noStrike" cap="none">
              <a:solidFill>
                <a:srgbClr val="000000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245" name="Google Shape;245;p6"/>
          <p:cNvSpPr/>
          <p:nvPr/>
        </p:nvSpPr>
        <p:spPr>
          <a:xfrm>
            <a:off x="7470648" y="2148945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u="none" strike="noStrike" cap="none">
                <a:solidFill>
                  <a:srgbClr val="FFFFFF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M1</a:t>
            </a:r>
            <a:endParaRPr sz="1000" u="none" strike="noStrike" cap="none">
              <a:solidFill>
                <a:srgbClr val="000000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246" name="Google Shape;246;p6"/>
          <p:cNvSpPr/>
          <p:nvPr/>
        </p:nvSpPr>
        <p:spPr>
          <a:xfrm>
            <a:off x="7909560" y="2112369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u="none" strike="noStrike" cap="none">
                <a:solidFill>
                  <a:srgbClr val="111111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Decentralized email inboxes</a:t>
            </a:r>
            <a:endParaRPr sz="1100" u="none" strike="noStrike" cap="none">
              <a:solidFill>
                <a:srgbClr val="000000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247" name="Google Shape;247;p6"/>
          <p:cNvSpPr/>
          <p:nvPr/>
        </p:nvSpPr>
        <p:spPr>
          <a:xfrm>
            <a:off x="11155680" y="2130657"/>
            <a:ext cx="594360" cy="201168"/>
          </a:xfrm>
          <a:prstGeom prst="roundRect">
            <a:avLst>
              <a:gd name="adj" fmla="val 13636"/>
            </a:avLst>
          </a:prstGeom>
          <a:solidFill>
            <a:srgbClr val="C0392B"/>
          </a:solidFill>
          <a:ln w="12700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u="none" strike="noStrike" cap="none">
              <a:solidFill>
                <a:srgbClr val="000000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248" name="Google Shape;248;p6"/>
          <p:cNvSpPr/>
          <p:nvPr/>
        </p:nvSpPr>
        <p:spPr>
          <a:xfrm>
            <a:off x="11155680" y="2130657"/>
            <a:ext cx="5943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u="none" strike="noStrike" cap="none">
                <a:solidFill>
                  <a:srgbClr val="FFFFFF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Critical</a:t>
            </a:r>
            <a:endParaRPr sz="1000" u="none" strike="noStrike" cap="none">
              <a:solidFill>
                <a:srgbClr val="000000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249" name="Google Shape;249;p6"/>
          <p:cNvSpPr/>
          <p:nvPr/>
        </p:nvSpPr>
        <p:spPr>
          <a:xfrm>
            <a:off x="7909560" y="2350113"/>
            <a:ext cx="3073873" cy="466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u="none" strike="noStrike" cap="none">
                <a:solidFill>
                  <a:srgbClr val="5B6770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No central mailbox; no behavior tracking; 6-day average delay; emails lost on UW departure/leave.</a:t>
            </a:r>
            <a:endParaRPr sz="1000" u="none" strike="noStrike" cap="none">
              <a:solidFill>
                <a:srgbClr val="000000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250" name="Google Shape;250;p6"/>
          <p:cNvSpPr/>
          <p:nvPr/>
        </p:nvSpPr>
        <p:spPr>
          <a:xfrm>
            <a:off x="7470648" y="2944731"/>
            <a:ext cx="365760" cy="365760"/>
          </a:xfrm>
          <a:prstGeom prst="ellipse">
            <a:avLst/>
          </a:prstGeom>
          <a:solidFill>
            <a:srgbClr val="C0392B"/>
          </a:solidFill>
          <a:ln w="12700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u="none" strike="noStrike" cap="none">
              <a:solidFill>
                <a:srgbClr val="000000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251" name="Google Shape;251;p6"/>
          <p:cNvSpPr/>
          <p:nvPr/>
        </p:nvSpPr>
        <p:spPr>
          <a:xfrm>
            <a:off x="7470648" y="2944731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u="none" strike="noStrike" cap="none">
                <a:solidFill>
                  <a:srgbClr val="FFFFFF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M2</a:t>
            </a:r>
            <a:endParaRPr sz="1000" u="none" strike="noStrike" cap="none">
              <a:solidFill>
                <a:srgbClr val="000000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252" name="Google Shape;252;p6"/>
          <p:cNvSpPr/>
          <p:nvPr/>
        </p:nvSpPr>
        <p:spPr>
          <a:xfrm>
            <a:off x="7909560" y="2908155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u="none" strike="noStrike" cap="none">
                <a:solidFill>
                  <a:srgbClr val="111111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Quick decline path multi-step post-migration</a:t>
            </a:r>
            <a:endParaRPr sz="1100" u="none" strike="noStrike" cap="none">
              <a:solidFill>
                <a:srgbClr val="000000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253" name="Google Shape;253;p6"/>
          <p:cNvSpPr/>
          <p:nvPr/>
        </p:nvSpPr>
        <p:spPr>
          <a:xfrm>
            <a:off x="11155680" y="2926443"/>
            <a:ext cx="594360" cy="201168"/>
          </a:xfrm>
          <a:prstGeom prst="roundRect">
            <a:avLst>
              <a:gd name="adj" fmla="val 13636"/>
            </a:avLst>
          </a:prstGeom>
          <a:solidFill>
            <a:srgbClr val="F08C3F"/>
          </a:solidFill>
          <a:ln w="12700" cap="flat" cmpd="sng">
            <a:solidFill>
              <a:srgbClr val="F08C3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u="none" strike="noStrike" cap="none">
              <a:solidFill>
                <a:srgbClr val="000000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254" name="Google Shape;254;p6"/>
          <p:cNvSpPr/>
          <p:nvPr/>
        </p:nvSpPr>
        <p:spPr>
          <a:xfrm>
            <a:off x="11155680" y="2926443"/>
            <a:ext cx="5943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u="none" strike="noStrike" cap="none">
                <a:solidFill>
                  <a:srgbClr val="5C2F00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High</a:t>
            </a:r>
            <a:endParaRPr sz="1000" u="none" strike="noStrike" cap="none">
              <a:solidFill>
                <a:srgbClr val="000000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255" name="Google Shape;255;p6"/>
          <p:cNvSpPr/>
          <p:nvPr/>
        </p:nvSpPr>
        <p:spPr>
          <a:xfrm>
            <a:off x="7909560" y="3145899"/>
            <a:ext cx="3200400" cy="466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u="none" strike="noStrike" cap="none">
                <a:solidFill>
                  <a:srgbClr val="5B6770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Was 1-click via Outlook plugin pre-MyBook; now: send to MyBook → CONVR → enter MyBook → decline.</a:t>
            </a:r>
            <a:endParaRPr sz="1000" u="none" strike="noStrike" cap="none">
              <a:solidFill>
                <a:srgbClr val="000000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256" name="Google Shape;256;p6"/>
          <p:cNvSpPr/>
          <p:nvPr/>
        </p:nvSpPr>
        <p:spPr>
          <a:xfrm>
            <a:off x="7406640" y="3694463"/>
            <a:ext cx="4389120" cy="740664"/>
          </a:xfrm>
          <a:prstGeom prst="rect">
            <a:avLst/>
          </a:prstGeom>
          <a:solidFill>
            <a:srgbClr val="F7F9F8"/>
          </a:solidFill>
          <a:ln w="12700" cap="flat" cmpd="sng">
            <a:solidFill>
              <a:srgbClr val="F7F9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u="none" strike="noStrike" cap="none">
              <a:solidFill>
                <a:srgbClr val="000000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257" name="Google Shape;257;p6"/>
          <p:cNvSpPr/>
          <p:nvPr/>
        </p:nvSpPr>
        <p:spPr>
          <a:xfrm>
            <a:off x="7470648" y="3767615"/>
            <a:ext cx="365760" cy="365760"/>
          </a:xfrm>
          <a:prstGeom prst="ellipse">
            <a:avLst/>
          </a:prstGeom>
          <a:solidFill>
            <a:srgbClr val="C0392B"/>
          </a:solidFill>
          <a:ln w="12700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u="none" strike="noStrike" cap="none">
              <a:solidFill>
                <a:srgbClr val="000000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258" name="Google Shape;258;p6"/>
          <p:cNvSpPr/>
          <p:nvPr/>
        </p:nvSpPr>
        <p:spPr>
          <a:xfrm>
            <a:off x="7470648" y="3767615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u="none" strike="noStrike" cap="none">
                <a:solidFill>
                  <a:srgbClr val="FFFFFF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M3</a:t>
            </a:r>
            <a:endParaRPr sz="1000" u="none" strike="noStrike" cap="none">
              <a:solidFill>
                <a:srgbClr val="000000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259" name="Google Shape;259;p6"/>
          <p:cNvSpPr/>
          <p:nvPr/>
        </p:nvSpPr>
        <p:spPr>
          <a:xfrm>
            <a:off x="7909560" y="3731039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u="none" strike="noStrike" cap="none">
                <a:solidFill>
                  <a:srgbClr val="111111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Manual pre-qualification by UW</a:t>
            </a:r>
            <a:endParaRPr sz="1100" u="none" strike="noStrike" cap="none">
              <a:solidFill>
                <a:srgbClr val="000000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260" name="Google Shape;260;p6"/>
          <p:cNvSpPr/>
          <p:nvPr/>
        </p:nvSpPr>
        <p:spPr>
          <a:xfrm>
            <a:off x="11155680" y="3749327"/>
            <a:ext cx="594360" cy="201168"/>
          </a:xfrm>
          <a:prstGeom prst="roundRect">
            <a:avLst>
              <a:gd name="adj" fmla="val 13636"/>
            </a:avLst>
          </a:prstGeom>
          <a:solidFill>
            <a:srgbClr val="F08C3F"/>
          </a:solidFill>
          <a:ln w="12700" cap="flat" cmpd="sng">
            <a:solidFill>
              <a:srgbClr val="F08C3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u="none" strike="noStrike" cap="none">
              <a:solidFill>
                <a:srgbClr val="000000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261" name="Google Shape;261;p6"/>
          <p:cNvSpPr/>
          <p:nvPr/>
        </p:nvSpPr>
        <p:spPr>
          <a:xfrm>
            <a:off x="11155680" y="3749327"/>
            <a:ext cx="5943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u="none" strike="noStrike" cap="none">
                <a:solidFill>
                  <a:srgbClr val="5C2F00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High</a:t>
            </a:r>
            <a:endParaRPr sz="1000" u="none" strike="noStrike" cap="none">
              <a:solidFill>
                <a:srgbClr val="000000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262" name="Google Shape;262;p6"/>
          <p:cNvSpPr/>
          <p:nvPr/>
        </p:nvSpPr>
        <p:spPr>
          <a:xfrm>
            <a:off x="7909560" y="3968783"/>
            <a:ext cx="3200400" cy="466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u="none" strike="noStrike" cap="none">
                <a:solidFill>
                  <a:srgbClr val="5B6770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Reading loss runs, safety docs, aggregating claims — flagged by Loris &amp; Kelly as most time-consuming step.</a:t>
            </a:r>
            <a:endParaRPr sz="1000" u="none" strike="noStrike" cap="none">
              <a:solidFill>
                <a:srgbClr val="000000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263" name="Google Shape;263;p6"/>
          <p:cNvSpPr/>
          <p:nvPr/>
        </p:nvSpPr>
        <p:spPr>
          <a:xfrm>
            <a:off x="7470648" y="4656463"/>
            <a:ext cx="365760" cy="365760"/>
          </a:xfrm>
          <a:prstGeom prst="ellipse">
            <a:avLst/>
          </a:prstGeom>
          <a:solidFill>
            <a:srgbClr val="C0392B"/>
          </a:solidFill>
          <a:ln w="12700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u="none" strike="noStrike" cap="none">
              <a:solidFill>
                <a:srgbClr val="000000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264" name="Google Shape;264;p6"/>
          <p:cNvSpPr/>
          <p:nvPr/>
        </p:nvSpPr>
        <p:spPr>
          <a:xfrm>
            <a:off x="7470648" y="4656463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u="none" strike="noStrike" cap="none">
                <a:solidFill>
                  <a:srgbClr val="FFFFFF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M4</a:t>
            </a:r>
            <a:endParaRPr sz="1000" u="none" strike="noStrike" cap="none">
              <a:solidFill>
                <a:srgbClr val="000000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265" name="Google Shape;265;p6"/>
          <p:cNvSpPr/>
          <p:nvPr/>
        </p:nvSpPr>
        <p:spPr>
          <a:xfrm>
            <a:off x="7909560" y="4619887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u="none" strike="noStrike" cap="none">
                <a:solidFill>
                  <a:srgbClr val="111111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Non-standardized UW→UA rating instructions</a:t>
            </a:r>
            <a:endParaRPr sz="1100" u="none" strike="noStrike" cap="none">
              <a:solidFill>
                <a:srgbClr val="000000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266" name="Google Shape;266;p6"/>
          <p:cNvSpPr/>
          <p:nvPr/>
        </p:nvSpPr>
        <p:spPr>
          <a:xfrm>
            <a:off x="11155680" y="4638175"/>
            <a:ext cx="594360" cy="201168"/>
          </a:xfrm>
          <a:prstGeom prst="roundRect">
            <a:avLst>
              <a:gd name="adj" fmla="val 13636"/>
            </a:avLst>
          </a:prstGeom>
          <a:solidFill>
            <a:srgbClr val="F08C3F"/>
          </a:solidFill>
          <a:ln w="12700" cap="flat" cmpd="sng">
            <a:solidFill>
              <a:srgbClr val="F08C3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u="none" strike="noStrike" cap="none">
              <a:solidFill>
                <a:srgbClr val="000000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267" name="Google Shape;267;p6"/>
          <p:cNvSpPr/>
          <p:nvPr/>
        </p:nvSpPr>
        <p:spPr>
          <a:xfrm>
            <a:off x="11155680" y="4638175"/>
            <a:ext cx="5943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u="none" strike="noStrike" cap="none">
                <a:solidFill>
                  <a:srgbClr val="5C2F00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High</a:t>
            </a:r>
            <a:endParaRPr sz="1000" u="none" strike="noStrike" cap="none">
              <a:solidFill>
                <a:srgbClr val="000000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268" name="Google Shape;268;p6"/>
          <p:cNvSpPr/>
          <p:nvPr/>
        </p:nvSpPr>
        <p:spPr>
          <a:xfrm>
            <a:off x="7909560" y="4857631"/>
            <a:ext cx="3200400" cy="466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u="none" strike="noStrike" cap="none">
                <a:solidFill>
                  <a:srgbClr val="5B6770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Free-text email varies per UW; UW saves 5 min upfront but UA spends 30-40 min in rework downstream.</a:t>
            </a:r>
            <a:endParaRPr sz="1000" u="none" strike="noStrike" cap="none">
              <a:solidFill>
                <a:srgbClr val="000000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269" name="Google Shape;269;p6"/>
          <p:cNvSpPr/>
          <p:nvPr/>
        </p:nvSpPr>
        <p:spPr>
          <a:xfrm>
            <a:off x="7406640" y="5376147"/>
            <a:ext cx="4389120" cy="740664"/>
          </a:xfrm>
          <a:prstGeom prst="rect">
            <a:avLst/>
          </a:prstGeom>
          <a:solidFill>
            <a:srgbClr val="F7F9F8"/>
          </a:solidFill>
          <a:ln w="12700" cap="flat" cmpd="sng">
            <a:solidFill>
              <a:srgbClr val="F7F9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u="none" strike="noStrike" cap="none">
              <a:solidFill>
                <a:srgbClr val="000000"/>
              </a:solidFill>
              <a:latin typeface="Wix Madefor Display" panose="020B0503020203020203" pitchFamily="34" charset="77"/>
              <a:cs typeface="Wix Madefor Display" panose="020B0503020203020203" pitchFamily="34" charset="77"/>
              <a:sym typeface="Arial"/>
            </a:endParaRPr>
          </a:p>
        </p:txBody>
      </p:sp>
      <p:sp>
        <p:nvSpPr>
          <p:cNvPr id="270" name="Google Shape;270;p6"/>
          <p:cNvSpPr/>
          <p:nvPr/>
        </p:nvSpPr>
        <p:spPr>
          <a:xfrm>
            <a:off x="7470648" y="5495544"/>
            <a:ext cx="365760" cy="365760"/>
          </a:xfrm>
          <a:prstGeom prst="ellipse">
            <a:avLst/>
          </a:prstGeom>
          <a:solidFill>
            <a:srgbClr val="C0392B"/>
          </a:solidFill>
          <a:ln w="12700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u="none" strike="noStrike" cap="none">
              <a:solidFill>
                <a:srgbClr val="000000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271" name="Google Shape;271;p6"/>
          <p:cNvSpPr/>
          <p:nvPr/>
        </p:nvSpPr>
        <p:spPr>
          <a:xfrm>
            <a:off x="7470648" y="5495544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u="none" strike="noStrike" cap="none">
                <a:solidFill>
                  <a:srgbClr val="FFFFFF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M5</a:t>
            </a:r>
            <a:endParaRPr sz="1000" u="none" strike="noStrike" cap="none">
              <a:solidFill>
                <a:srgbClr val="000000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272" name="Google Shape;272;p6"/>
          <p:cNvSpPr/>
          <p:nvPr/>
        </p:nvSpPr>
        <p:spPr>
          <a:xfrm>
            <a:off x="7909560" y="5458968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u="none" strike="noStrike" cap="none">
                <a:solidFill>
                  <a:srgbClr val="111111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No management transparency</a:t>
            </a:r>
            <a:endParaRPr sz="1100" u="none" strike="noStrike" cap="none">
              <a:solidFill>
                <a:srgbClr val="000000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273" name="Google Shape;273;p6"/>
          <p:cNvSpPr/>
          <p:nvPr/>
        </p:nvSpPr>
        <p:spPr>
          <a:xfrm>
            <a:off x="11155680" y="5477256"/>
            <a:ext cx="594360" cy="201168"/>
          </a:xfrm>
          <a:prstGeom prst="roundRect">
            <a:avLst>
              <a:gd name="adj" fmla="val 13636"/>
            </a:avLst>
          </a:prstGeom>
          <a:solidFill>
            <a:srgbClr val="F4C842"/>
          </a:solidFill>
          <a:ln w="12700" cap="flat" cmpd="sng">
            <a:solidFill>
              <a:srgbClr val="F4C84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u="none" strike="noStrike" cap="none">
              <a:solidFill>
                <a:srgbClr val="000000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274" name="Google Shape;274;p6"/>
          <p:cNvSpPr/>
          <p:nvPr/>
        </p:nvSpPr>
        <p:spPr>
          <a:xfrm>
            <a:off x="11155680" y="5477256"/>
            <a:ext cx="5943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u="none" strike="noStrike" cap="none">
                <a:solidFill>
                  <a:srgbClr val="664E00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Med</a:t>
            </a:r>
            <a:endParaRPr sz="1000" u="none" strike="noStrike" cap="none">
              <a:solidFill>
                <a:srgbClr val="000000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275" name="Google Shape;275;p6"/>
          <p:cNvSpPr/>
          <p:nvPr/>
        </p:nvSpPr>
        <p:spPr>
          <a:xfrm>
            <a:off x="7909560" y="5696712"/>
            <a:ext cx="3200400" cy="466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u="none" strike="noStrike" cap="none">
                <a:solidFill>
                  <a:srgbClr val="5B6770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No visibility on where in the funnel time is spent; no proactive intervention possible.</a:t>
            </a:r>
            <a:endParaRPr sz="1000" u="none" strike="noStrike" cap="none">
              <a:solidFill>
                <a:srgbClr val="000000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276" name="Google Shape;276;p6"/>
          <p:cNvSpPr/>
          <p:nvPr/>
        </p:nvSpPr>
        <p:spPr>
          <a:xfrm>
            <a:off x="365760" y="777240"/>
            <a:ext cx="114300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111111"/>
                </a:solidFill>
                <a:latin typeface="Fraunces 9pt" pitchFamily="2" charset="77"/>
                <a:ea typeface="Georgia"/>
                <a:cs typeface="Georgia"/>
                <a:sym typeface="Georgia"/>
              </a:rPr>
              <a:t>3.</a:t>
            </a:r>
            <a:r>
              <a:rPr lang="en-US" sz="2400" u="none" strike="noStrike" cap="none">
                <a:solidFill>
                  <a:srgbClr val="111111"/>
                </a:solidFill>
                <a:latin typeface="Fraunces 9pt" pitchFamily="2" charset="77"/>
                <a:ea typeface="Georgia"/>
                <a:cs typeface="Georgia"/>
                <a:sym typeface="Georgia"/>
              </a:rPr>
              <a:t>A. New business – Middle Market: Intake &amp; Clearance</a:t>
            </a:r>
            <a:endParaRPr sz="2400" u="none" strike="noStrike" cap="none">
              <a:solidFill>
                <a:srgbClr val="000000"/>
              </a:solidFill>
              <a:latin typeface="Fraunces 9pt" pitchFamily="2" charset="77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10"/>
          <p:cNvSpPr/>
          <p:nvPr/>
        </p:nvSpPr>
        <p:spPr>
          <a:xfrm>
            <a:off x="365760" y="777240"/>
            <a:ext cx="114300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111111"/>
                </a:solidFill>
                <a:latin typeface="Fraunces 9pt" pitchFamily="2" charset="77"/>
                <a:ea typeface="Georgia"/>
                <a:cs typeface="Georgia"/>
                <a:sym typeface="Georgia"/>
              </a:rPr>
              <a:t>3.</a:t>
            </a:r>
            <a:r>
              <a:rPr lang="en-US" sz="2400" u="none" strike="noStrike" cap="none">
                <a:solidFill>
                  <a:srgbClr val="111111"/>
                </a:solidFill>
                <a:latin typeface="Fraunces 9pt" pitchFamily="2" charset="77"/>
                <a:ea typeface="Georgia"/>
                <a:cs typeface="Georgia"/>
                <a:sym typeface="Georgia"/>
              </a:rPr>
              <a:t>B. </a:t>
            </a:r>
            <a:r>
              <a:rPr lang="en-US" sz="2400" u="sng" strike="noStrike" cap="none">
                <a:solidFill>
                  <a:srgbClr val="111111"/>
                </a:solidFill>
                <a:latin typeface="Fraunces 9pt" pitchFamily="2" charset="77"/>
                <a:ea typeface="Georgia"/>
                <a:cs typeface="Georgia"/>
                <a:sym typeface="Georgia"/>
              </a:rPr>
              <a:t>Preliminary</a:t>
            </a:r>
            <a:r>
              <a:rPr lang="en-US" sz="2400" u="none" strike="noStrike" cap="none">
                <a:solidFill>
                  <a:srgbClr val="111111"/>
                </a:solidFill>
                <a:latin typeface="Fraunces 9pt" pitchFamily="2" charset="77"/>
                <a:ea typeface="Georgia"/>
                <a:cs typeface="Georgia"/>
                <a:sym typeface="Georgia"/>
              </a:rPr>
              <a:t> </a:t>
            </a:r>
            <a:r>
              <a:rPr lang="en-US" sz="2400">
                <a:solidFill>
                  <a:srgbClr val="111111"/>
                </a:solidFill>
                <a:latin typeface="Fraunces 9pt" pitchFamily="2" charset="77"/>
                <a:ea typeface="Georgia"/>
                <a:cs typeface="Georgia"/>
                <a:sym typeface="Georgia"/>
              </a:rPr>
              <a:t>prioritization</a:t>
            </a:r>
            <a:r>
              <a:rPr lang="en-US" sz="2400" u="none" strike="noStrike" cap="none">
                <a:solidFill>
                  <a:srgbClr val="111111"/>
                </a:solidFill>
                <a:latin typeface="Fraunces 9pt" pitchFamily="2" charset="77"/>
                <a:ea typeface="Georgia"/>
                <a:cs typeface="Georgia"/>
                <a:sym typeface="Georgia"/>
              </a:rPr>
              <a:t> hypothesis: </a:t>
            </a:r>
            <a:r>
              <a:rPr lang="en-US" sz="2400">
                <a:solidFill>
                  <a:srgbClr val="111111"/>
                </a:solidFill>
                <a:latin typeface="Fraunces 9pt" pitchFamily="2" charset="77"/>
                <a:ea typeface="Georgia"/>
                <a:cs typeface="Georgia"/>
                <a:sym typeface="Georgia"/>
              </a:rPr>
              <a:t>Detailed assessment</a:t>
            </a:r>
            <a:endParaRPr sz="2400" u="none" strike="noStrike" cap="none">
              <a:solidFill>
                <a:srgbClr val="000000"/>
              </a:solidFill>
              <a:latin typeface="Fraunces 9pt" pitchFamily="2" charset="77"/>
              <a:sym typeface="Arial"/>
            </a:endParaRPr>
          </a:p>
        </p:txBody>
      </p:sp>
      <p:sp>
        <p:nvSpPr>
          <p:cNvPr id="537" name="Google Shape;537;p10"/>
          <p:cNvSpPr/>
          <p:nvPr/>
        </p:nvSpPr>
        <p:spPr>
          <a:xfrm>
            <a:off x="607838" y="2591441"/>
            <a:ext cx="1076583" cy="2425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Calibri"/>
              <a:buNone/>
            </a:pPr>
            <a:r>
              <a:rPr lang="en-US" b="1" dirty="0">
                <a:solidFill>
                  <a:srgbClr val="385623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Technical feasibility</a:t>
            </a:r>
            <a:endParaRPr sz="1400" b="1" u="none" strike="noStrike" cap="none" dirty="0">
              <a:solidFill>
                <a:srgbClr val="385623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538" name="Google Shape;538;p10"/>
          <p:cNvSpPr/>
          <p:nvPr/>
        </p:nvSpPr>
        <p:spPr>
          <a:xfrm>
            <a:off x="607838" y="3554091"/>
            <a:ext cx="1076700" cy="2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Calibri"/>
              <a:buNone/>
            </a:pPr>
            <a:r>
              <a:rPr lang="en-US" b="1">
                <a:solidFill>
                  <a:srgbClr val="385623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System c</a:t>
            </a:r>
            <a:r>
              <a:rPr lang="en-US" sz="1400" b="1" u="none" strike="noStrike" cap="none">
                <a:solidFill>
                  <a:srgbClr val="385623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omplexity</a:t>
            </a:r>
            <a:endParaRPr sz="1400" b="1" u="none" strike="noStrike" cap="none">
              <a:solidFill>
                <a:srgbClr val="385623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539" name="Google Shape;539;p10"/>
          <p:cNvSpPr/>
          <p:nvPr/>
        </p:nvSpPr>
        <p:spPr>
          <a:xfrm>
            <a:off x="607838" y="4412674"/>
            <a:ext cx="1076583" cy="2425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Calibri"/>
              <a:buNone/>
            </a:pPr>
            <a:r>
              <a:rPr lang="en-US" b="1">
                <a:solidFill>
                  <a:srgbClr val="385623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Speed to value</a:t>
            </a:r>
            <a:endParaRPr sz="1400" b="1" u="none" strike="noStrike" cap="none">
              <a:solidFill>
                <a:srgbClr val="385623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540" name="Google Shape;540;p10"/>
          <p:cNvSpPr/>
          <p:nvPr/>
        </p:nvSpPr>
        <p:spPr>
          <a:xfrm>
            <a:off x="607850" y="5209950"/>
            <a:ext cx="1237200" cy="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Calibri"/>
              <a:buNone/>
            </a:pPr>
            <a:r>
              <a:rPr lang="en-US" sz="1400" b="1" u="none" strike="noStrike" cap="none">
                <a:solidFill>
                  <a:srgbClr val="385623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Relative effort </a:t>
            </a:r>
            <a:r>
              <a:rPr lang="en-US" sz="1000" b="1" u="none" strike="noStrike" cap="none">
                <a:solidFill>
                  <a:srgbClr val="385623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(res</a:t>
            </a:r>
            <a:r>
              <a:rPr lang="en-US" sz="1000" b="1">
                <a:solidFill>
                  <a:srgbClr val="385623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ource intensity)</a:t>
            </a:r>
            <a:endParaRPr sz="1000" b="1" u="none" strike="noStrike" cap="none">
              <a:solidFill>
                <a:srgbClr val="385623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541" name="Google Shape;541;p10"/>
          <p:cNvSpPr/>
          <p:nvPr/>
        </p:nvSpPr>
        <p:spPr>
          <a:xfrm>
            <a:off x="607838" y="6035141"/>
            <a:ext cx="1076583" cy="2425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Calibri"/>
              <a:buNone/>
            </a:pPr>
            <a:r>
              <a:rPr lang="en-US" sz="1400" b="1" u="none" strike="noStrike" cap="none">
                <a:solidFill>
                  <a:srgbClr val="385623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Directional ROI</a:t>
            </a:r>
            <a:endParaRPr sz="1400" b="1" u="none" strike="noStrike" cap="none">
              <a:solidFill>
                <a:srgbClr val="385623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grpSp>
        <p:nvGrpSpPr>
          <p:cNvPr id="542" name="Google Shape;542;p10"/>
          <p:cNvGrpSpPr/>
          <p:nvPr/>
        </p:nvGrpSpPr>
        <p:grpSpPr>
          <a:xfrm>
            <a:off x="524255" y="2423935"/>
            <a:ext cx="11430000" cy="3451027"/>
            <a:chOff x="524255" y="2423935"/>
            <a:chExt cx="10857619" cy="3451027"/>
          </a:xfrm>
        </p:grpSpPr>
        <p:cxnSp>
          <p:nvCxnSpPr>
            <p:cNvPr id="543" name="Google Shape;543;p10"/>
            <p:cNvCxnSpPr/>
            <p:nvPr/>
          </p:nvCxnSpPr>
          <p:spPr>
            <a:xfrm>
              <a:off x="567170" y="3386996"/>
              <a:ext cx="10814704" cy="0"/>
            </a:xfrm>
            <a:prstGeom prst="straightConnector1">
              <a:avLst/>
            </a:prstGeom>
            <a:noFill/>
            <a:ln w="9525" cap="flat" cmpd="sng">
              <a:solidFill>
                <a:srgbClr val="7F7F7F"/>
              </a:solidFill>
              <a:prstDash val="dash"/>
              <a:round/>
              <a:headEnd type="none" w="sm" len="sm"/>
              <a:tailEnd type="none" w="sm" len="sm"/>
            </a:ln>
          </p:spPr>
        </p:cxnSp>
        <p:cxnSp>
          <p:nvCxnSpPr>
            <p:cNvPr id="544" name="Google Shape;544;p10"/>
            <p:cNvCxnSpPr/>
            <p:nvPr/>
          </p:nvCxnSpPr>
          <p:spPr>
            <a:xfrm>
              <a:off x="524255" y="4206485"/>
              <a:ext cx="10857619" cy="0"/>
            </a:xfrm>
            <a:prstGeom prst="straightConnector1">
              <a:avLst/>
            </a:prstGeom>
            <a:noFill/>
            <a:ln w="9525" cap="flat" cmpd="sng">
              <a:solidFill>
                <a:srgbClr val="7F7F7F"/>
              </a:solidFill>
              <a:prstDash val="dash"/>
              <a:round/>
              <a:headEnd type="none" w="sm" len="sm"/>
              <a:tailEnd type="none" w="sm" len="sm"/>
            </a:ln>
          </p:spPr>
        </p:cxnSp>
        <p:cxnSp>
          <p:nvCxnSpPr>
            <p:cNvPr id="545" name="Google Shape;545;p10"/>
            <p:cNvCxnSpPr/>
            <p:nvPr/>
          </p:nvCxnSpPr>
          <p:spPr>
            <a:xfrm>
              <a:off x="567170" y="5052019"/>
              <a:ext cx="10814704" cy="0"/>
            </a:xfrm>
            <a:prstGeom prst="straightConnector1">
              <a:avLst/>
            </a:prstGeom>
            <a:noFill/>
            <a:ln w="9525" cap="flat" cmpd="sng">
              <a:solidFill>
                <a:srgbClr val="7F7F7F"/>
              </a:solidFill>
              <a:prstDash val="dash"/>
              <a:round/>
              <a:headEnd type="none" w="sm" len="sm"/>
              <a:tailEnd type="none" w="sm" len="sm"/>
            </a:ln>
          </p:spPr>
        </p:cxnSp>
        <p:cxnSp>
          <p:nvCxnSpPr>
            <p:cNvPr id="546" name="Google Shape;546;p10"/>
            <p:cNvCxnSpPr/>
            <p:nvPr/>
          </p:nvCxnSpPr>
          <p:spPr>
            <a:xfrm>
              <a:off x="567170" y="5874962"/>
              <a:ext cx="10814704" cy="0"/>
            </a:xfrm>
            <a:prstGeom prst="straightConnector1">
              <a:avLst/>
            </a:prstGeom>
            <a:noFill/>
            <a:ln w="9525" cap="flat" cmpd="sng">
              <a:solidFill>
                <a:srgbClr val="7F7F7F"/>
              </a:solidFill>
              <a:prstDash val="dash"/>
              <a:round/>
              <a:headEnd type="none" w="sm" len="sm"/>
              <a:tailEnd type="none" w="sm" len="sm"/>
            </a:ln>
          </p:spPr>
        </p:cxnSp>
        <p:cxnSp>
          <p:nvCxnSpPr>
            <p:cNvPr id="547" name="Google Shape;547;p10"/>
            <p:cNvCxnSpPr/>
            <p:nvPr/>
          </p:nvCxnSpPr>
          <p:spPr>
            <a:xfrm>
              <a:off x="643404" y="2423935"/>
              <a:ext cx="1073847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548" name="Google Shape;548;p10"/>
          <p:cNvSpPr/>
          <p:nvPr/>
        </p:nvSpPr>
        <p:spPr>
          <a:xfrm>
            <a:off x="1864892" y="2070495"/>
            <a:ext cx="2063100" cy="26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Calibri"/>
              <a:buNone/>
            </a:pPr>
            <a:r>
              <a:rPr lang="en-US" sz="1400" u="none" strike="noStrike" cap="none">
                <a:solidFill>
                  <a:srgbClr val="17250F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Intake &amp; Clearance</a:t>
            </a:r>
            <a:endParaRPr sz="1400" u="none" strike="noStrike" cap="none">
              <a:solidFill>
                <a:srgbClr val="17250F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549" name="Google Shape;549;p10"/>
          <p:cNvSpPr/>
          <p:nvPr/>
        </p:nvSpPr>
        <p:spPr>
          <a:xfrm>
            <a:off x="4388655" y="2070495"/>
            <a:ext cx="2063173" cy="260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Calibri"/>
              <a:buNone/>
            </a:pPr>
            <a:r>
              <a:rPr lang="en-US" sz="1400" u="none" strike="noStrike" cap="none">
                <a:solidFill>
                  <a:srgbClr val="17250F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Rating &amp; Data Entry</a:t>
            </a:r>
            <a:endParaRPr sz="1400" u="none" strike="noStrike" cap="none">
              <a:solidFill>
                <a:srgbClr val="17250F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550" name="Google Shape;550;p10"/>
          <p:cNvSpPr/>
          <p:nvPr/>
        </p:nvSpPr>
        <p:spPr>
          <a:xfrm>
            <a:off x="7083731" y="2070495"/>
            <a:ext cx="2450055" cy="218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Calibri"/>
              <a:buNone/>
            </a:pPr>
            <a:r>
              <a:rPr lang="en-US" sz="1400" u="none" strike="noStrike" cap="none">
                <a:solidFill>
                  <a:srgbClr val="17250F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Risk Assess., Pricing, Quoting</a:t>
            </a:r>
            <a:endParaRPr sz="1400" u="none" strike="noStrike" cap="none">
              <a:solidFill>
                <a:srgbClr val="17250F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551" name="Google Shape;551;p10"/>
          <p:cNvSpPr/>
          <p:nvPr/>
        </p:nvSpPr>
        <p:spPr>
          <a:xfrm>
            <a:off x="9852118" y="2070494"/>
            <a:ext cx="1883408" cy="294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Calibri"/>
              <a:buNone/>
            </a:pPr>
            <a:r>
              <a:rPr lang="en-US" sz="1400" u="none" strike="noStrike" cap="none">
                <a:solidFill>
                  <a:srgbClr val="17250F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Bind, Book, Issuance</a:t>
            </a:r>
            <a:endParaRPr sz="1400" u="none" strike="noStrike" cap="none">
              <a:solidFill>
                <a:srgbClr val="17250F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552" name="Google Shape;552;p10"/>
          <p:cNvSpPr/>
          <p:nvPr/>
        </p:nvSpPr>
        <p:spPr>
          <a:xfrm>
            <a:off x="8157471" y="241152"/>
            <a:ext cx="264600" cy="260100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1C2B11"/>
          </a:solidFill>
          <a:ln w="25400" cap="flat" cmpd="sng">
            <a:solidFill>
              <a:srgbClr val="1C305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u="none" strike="noStrike" cap="none">
              <a:solidFill>
                <a:srgbClr val="072900"/>
              </a:solidFill>
              <a:latin typeface="Wix Madefor Display" panose="020B0503020203020203" pitchFamily="34" charset="77"/>
              <a:cs typeface="Wix Madefor Display" panose="020B0503020203020203" pitchFamily="34" charset="77"/>
              <a:sym typeface="Arial"/>
            </a:endParaRPr>
          </a:p>
        </p:txBody>
      </p:sp>
      <p:sp>
        <p:nvSpPr>
          <p:cNvPr id="553" name="Google Shape;553;p10"/>
          <p:cNvSpPr/>
          <p:nvPr/>
        </p:nvSpPr>
        <p:spPr>
          <a:xfrm rot="5400000">
            <a:off x="9509553" y="279773"/>
            <a:ext cx="264600" cy="260100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A8D08C"/>
          </a:solidFill>
          <a:ln w="25400" cap="flat" cmpd="sng">
            <a:solidFill>
              <a:srgbClr val="A8D08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u="none" strike="noStrike" cap="none">
              <a:solidFill>
                <a:srgbClr val="072900"/>
              </a:solidFill>
              <a:latin typeface="Wix Madefor Display" panose="020B0503020203020203" pitchFamily="34" charset="77"/>
              <a:cs typeface="Wix Madefor Display" panose="020B0503020203020203" pitchFamily="34" charset="77"/>
              <a:sym typeface="Arial"/>
            </a:endParaRPr>
          </a:p>
        </p:txBody>
      </p:sp>
      <p:sp>
        <p:nvSpPr>
          <p:cNvPr id="554" name="Google Shape;554;p10"/>
          <p:cNvSpPr/>
          <p:nvPr/>
        </p:nvSpPr>
        <p:spPr>
          <a:xfrm rot="10800000">
            <a:off x="10698036" y="277465"/>
            <a:ext cx="264600" cy="260100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7F7F7F"/>
          </a:solidFill>
          <a:ln w="25400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u="none" strike="noStrike" cap="none">
              <a:solidFill>
                <a:srgbClr val="072900"/>
              </a:solidFill>
              <a:latin typeface="Wix Madefor Display" panose="020B0503020203020203" pitchFamily="34" charset="77"/>
              <a:cs typeface="Wix Madefor Display" panose="020B0503020203020203" pitchFamily="34" charset="77"/>
              <a:sym typeface="Arial"/>
            </a:endParaRPr>
          </a:p>
        </p:txBody>
      </p:sp>
      <p:sp>
        <p:nvSpPr>
          <p:cNvPr id="555" name="Google Shape;555;p10"/>
          <p:cNvSpPr/>
          <p:nvPr/>
        </p:nvSpPr>
        <p:spPr>
          <a:xfrm>
            <a:off x="8524714" y="324764"/>
            <a:ext cx="1053900" cy="2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Calibri"/>
              <a:buNone/>
            </a:pPr>
            <a:r>
              <a:rPr lang="en-US" sz="1200" u="none" strike="noStrike" cap="none">
                <a:solidFill>
                  <a:srgbClr val="17250F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Favorable</a:t>
            </a:r>
            <a:endParaRPr sz="1200" u="none" strike="noStrike" cap="none">
              <a:solidFill>
                <a:srgbClr val="17250F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556" name="Google Shape;556;p10"/>
          <p:cNvSpPr/>
          <p:nvPr/>
        </p:nvSpPr>
        <p:spPr>
          <a:xfrm>
            <a:off x="9862950" y="322403"/>
            <a:ext cx="770100" cy="25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Calibri"/>
              <a:buNone/>
            </a:pPr>
            <a:r>
              <a:rPr lang="en-US" sz="1200" u="none" strike="noStrike" cap="none">
                <a:solidFill>
                  <a:srgbClr val="17250F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Neutral</a:t>
            </a:r>
            <a:endParaRPr sz="1200" u="none" strike="noStrike" cap="none">
              <a:solidFill>
                <a:srgbClr val="17250F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557" name="Google Shape;557;p10"/>
          <p:cNvSpPr/>
          <p:nvPr/>
        </p:nvSpPr>
        <p:spPr>
          <a:xfrm>
            <a:off x="11089670" y="320801"/>
            <a:ext cx="9579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Calibri"/>
              <a:buNone/>
            </a:pPr>
            <a:r>
              <a:rPr lang="en-US" sz="1200" u="none" strike="noStrike" cap="none">
                <a:solidFill>
                  <a:srgbClr val="17250F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Unfavorable</a:t>
            </a:r>
            <a:endParaRPr sz="1200" u="none" strike="noStrike" cap="none">
              <a:solidFill>
                <a:srgbClr val="17250F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558" name="Google Shape;558;p10"/>
          <p:cNvSpPr/>
          <p:nvPr/>
        </p:nvSpPr>
        <p:spPr>
          <a:xfrm>
            <a:off x="1864892" y="2591440"/>
            <a:ext cx="264695" cy="260044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1C2B11"/>
          </a:solidFill>
          <a:ln w="25400" cap="flat" cmpd="sng">
            <a:solidFill>
              <a:srgbClr val="1C305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u="none" strike="noStrike" cap="none">
              <a:solidFill>
                <a:srgbClr val="072900"/>
              </a:solidFill>
              <a:latin typeface="Wix Madefor Display" panose="020B0503020203020203" pitchFamily="34" charset="77"/>
              <a:cs typeface="Wix Madefor Display" panose="020B0503020203020203" pitchFamily="34" charset="77"/>
              <a:sym typeface="Arial"/>
            </a:endParaRPr>
          </a:p>
        </p:txBody>
      </p:sp>
      <p:sp>
        <p:nvSpPr>
          <p:cNvPr id="559" name="Google Shape;559;p10"/>
          <p:cNvSpPr/>
          <p:nvPr/>
        </p:nvSpPr>
        <p:spPr>
          <a:xfrm rot="5400000">
            <a:off x="1867217" y="3550187"/>
            <a:ext cx="264695" cy="260044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A8D08C"/>
          </a:solidFill>
          <a:ln w="25400" cap="flat" cmpd="sng">
            <a:solidFill>
              <a:srgbClr val="A8D08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u="none" strike="noStrike" cap="none">
              <a:solidFill>
                <a:srgbClr val="072900"/>
              </a:solidFill>
              <a:latin typeface="Wix Madefor Display" panose="020B0503020203020203" pitchFamily="34" charset="77"/>
              <a:cs typeface="Wix Madefor Display" panose="020B0503020203020203" pitchFamily="34" charset="77"/>
              <a:sym typeface="Arial"/>
            </a:endParaRPr>
          </a:p>
        </p:txBody>
      </p:sp>
      <p:sp>
        <p:nvSpPr>
          <p:cNvPr id="560" name="Google Shape;560;p10"/>
          <p:cNvSpPr/>
          <p:nvPr/>
        </p:nvSpPr>
        <p:spPr>
          <a:xfrm>
            <a:off x="1864892" y="4359693"/>
            <a:ext cx="264695" cy="260044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1C2B11"/>
          </a:solidFill>
          <a:ln w="25400" cap="flat" cmpd="sng">
            <a:solidFill>
              <a:srgbClr val="1C305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u="none" strike="noStrike" cap="none">
              <a:solidFill>
                <a:srgbClr val="072900"/>
              </a:solidFill>
              <a:latin typeface="Wix Madefor Display" panose="020B0503020203020203" pitchFamily="34" charset="77"/>
              <a:cs typeface="Wix Madefor Display" panose="020B0503020203020203" pitchFamily="34" charset="77"/>
              <a:sym typeface="Arial"/>
            </a:endParaRPr>
          </a:p>
        </p:txBody>
      </p:sp>
      <p:sp>
        <p:nvSpPr>
          <p:cNvPr id="561" name="Google Shape;561;p10"/>
          <p:cNvSpPr/>
          <p:nvPr/>
        </p:nvSpPr>
        <p:spPr>
          <a:xfrm>
            <a:off x="1864891" y="5212197"/>
            <a:ext cx="264695" cy="260044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1C2B11"/>
          </a:solidFill>
          <a:ln w="25400" cap="flat" cmpd="sng">
            <a:solidFill>
              <a:srgbClr val="1C305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u="none" strike="noStrike" cap="none">
              <a:solidFill>
                <a:srgbClr val="072900"/>
              </a:solidFill>
              <a:latin typeface="Wix Madefor Display" panose="020B0503020203020203" pitchFamily="34" charset="77"/>
              <a:cs typeface="Wix Madefor Display" panose="020B0503020203020203" pitchFamily="34" charset="77"/>
              <a:sym typeface="Arial"/>
            </a:endParaRPr>
          </a:p>
        </p:txBody>
      </p:sp>
      <p:sp>
        <p:nvSpPr>
          <p:cNvPr id="562" name="Google Shape;562;p10"/>
          <p:cNvSpPr/>
          <p:nvPr/>
        </p:nvSpPr>
        <p:spPr>
          <a:xfrm>
            <a:off x="2282472" y="2543979"/>
            <a:ext cx="1992645" cy="757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u="none" strike="noStrike" cap="none">
                <a:solidFill>
                  <a:srgbClr val="000000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Email parsing, classification, appetite rules, etc. are all codifiable; proceed/ decline call is judgment</a:t>
            </a:r>
            <a:endParaRPr sz="1200" u="none" strike="noStrike" cap="none">
              <a:solidFill>
                <a:srgbClr val="17250F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563" name="Google Shape;563;p10"/>
          <p:cNvSpPr/>
          <p:nvPr/>
        </p:nvSpPr>
        <p:spPr>
          <a:xfrm>
            <a:off x="2282472" y="3496038"/>
            <a:ext cx="1992645" cy="575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u="none" strike="noStrike" cap="none">
                <a:solidFill>
                  <a:srgbClr val="000000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Four systems but clean touchpoints. Only unknown is Pega case-structure access</a:t>
            </a:r>
            <a:endParaRPr sz="1200" u="none" strike="noStrike" cap="none">
              <a:solidFill>
                <a:srgbClr val="17250F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564" name="Google Shape;564;p10"/>
          <p:cNvSpPr/>
          <p:nvPr/>
        </p:nvSpPr>
        <p:spPr>
          <a:xfrm>
            <a:off x="2282472" y="4348906"/>
            <a:ext cx="1992646" cy="757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u="none" strike="noStrike" cap="none">
                <a:solidFill>
                  <a:srgbClr val="000000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Inputs are structured documents and rule-based decisions — fast to encode</a:t>
            </a:r>
            <a:endParaRPr sz="1200" u="none" strike="noStrike" cap="none">
              <a:solidFill>
                <a:srgbClr val="17250F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565" name="Google Shape;565;p10"/>
          <p:cNvSpPr/>
          <p:nvPr/>
        </p:nvSpPr>
        <p:spPr>
          <a:xfrm>
            <a:off x="2282472" y="5194440"/>
            <a:ext cx="1992645" cy="512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u="none" strike="noStrike" cap="none">
                <a:solidFill>
                  <a:srgbClr val="000000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Mostly classification + routing + drafting — no new content modeling required</a:t>
            </a:r>
            <a:endParaRPr sz="1200" u="none" strike="noStrike" cap="none">
              <a:solidFill>
                <a:srgbClr val="17250F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566" name="Google Shape;566;p10"/>
          <p:cNvSpPr/>
          <p:nvPr/>
        </p:nvSpPr>
        <p:spPr>
          <a:xfrm>
            <a:off x="1864891" y="6049094"/>
            <a:ext cx="264695" cy="260044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1C2B11"/>
          </a:solidFill>
          <a:ln w="25400" cap="flat" cmpd="sng">
            <a:solidFill>
              <a:srgbClr val="1C305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u="none" strike="noStrike" cap="none">
              <a:solidFill>
                <a:srgbClr val="072900"/>
              </a:solidFill>
              <a:latin typeface="Wix Madefor Display" panose="020B0503020203020203" pitchFamily="34" charset="77"/>
              <a:cs typeface="Wix Madefor Display" panose="020B0503020203020203" pitchFamily="34" charset="77"/>
              <a:sym typeface="Arial"/>
            </a:endParaRPr>
          </a:p>
        </p:txBody>
      </p:sp>
      <p:sp>
        <p:nvSpPr>
          <p:cNvPr id="567" name="Google Shape;567;p10"/>
          <p:cNvSpPr/>
          <p:nvPr/>
        </p:nvSpPr>
        <p:spPr>
          <a:xfrm>
            <a:off x="2282472" y="6035141"/>
            <a:ext cx="1992646" cy="512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u="none" strike="noStrike" cap="none">
                <a:solidFill>
                  <a:srgbClr val="000000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Front-door dead time (6-day delay) directly compresses the 34-day TAT</a:t>
            </a:r>
            <a:endParaRPr sz="1200" u="none" strike="noStrike" cap="none">
              <a:solidFill>
                <a:srgbClr val="17250F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568" name="Google Shape;568;p10"/>
          <p:cNvSpPr/>
          <p:nvPr/>
        </p:nvSpPr>
        <p:spPr>
          <a:xfrm>
            <a:off x="4386408" y="2591440"/>
            <a:ext cx="264695" cy="260044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1C2B11"/>
          </a:solidFill>
          <a:ln w="25400" cap="flat" cmpd="sng">
            <a:solidFill>
              <a:srgbClr val="1C305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u="none" strike="noStrike" cap="none">
              <a:solidFill>
                <a:srgbClr val="072900"/>
              </a:solidFill>
              <a:latin typeface="Wix Madefor Display" panose="020B0503020203020203" pitchFamily="34" charset="77"/>
              <a:cs typeface="Wix Madefor Display" panose="020B0503020203020203" pitchFamily="34" charset="77"/>
              <a:sym typeface="Arial"/>
            </a:endParaRPr>
          </a:p>
        </p:txBody>
      </p:sp>
      <p:sp>
        <p:nvSpPr>
          <p:cNvPr id="569" name="Google Shape;569;p10"/>
          <p:cNvSpPr/>
          <p:nvPr/>
        </p:nvSpPr>
        <p:spPr>
          <a:xfrm>
            <a:off x="4803988" y="2543979"/>
            <a:ext cx="2217337" cy="757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u="none" strike="noStrike" cap="none">
                <a:solidFill>
                  <a:srgbClr val="000000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Doc extraction, completeness checks, VIN decoding, and PC/ Ultra population are rule-based or data-driven</a:t>
            </a:r>
            <a:endParaRPr sz="1200" u="none" strike="noStrike" cap="none">
              <a:solidFill>
                <a:srgbClr val="17250F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570" name="Google Shape;570;p10"/>
          <p:cNvSpPr/>
          <p:nvPr/>
        </p:nvSpPr>
        <p:spPr>
          <a:xfrm>
            <a:off x="4803988" y="3496038"/>
            <a:ext cx="2325620" cy="575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u="none" strike="noStrike" cap="none">
                <a:solidFill>
                  <a:srgbClr val="000000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Five systems involved; PC has quirks (Calculate, non-descriptive errors); Ultra is legacy DOS-era</a:t>
            </a:r>
            <a:endParaRPr sz="1200" u="none" strike="noStrike" cap="none">
              <a:solidFill>
                <a:srgbClr val="17250F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571" name="Google Shape;571;p10"/>
          <p:cNvSpPr/>
          <p:nvPr/>
        </p:nvSpPr>
        <p:spPr>
          <a:xfrm>
            <a:off x="4803987" y="4348907"/>
            <a:ext cx="2217337" cy="5679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u="none" strike="noStrike" cap="none">
                <a:solidFill>
                  <a:srgbClr val="000000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Extraction layer + Guidewire integration is workable; Ultra is the scoping risk / dependency</a:t>
            </a:r>
            <a:endParaRPr sz="1200" u="none" strike="noStrike" cap="none">
              <a:solidFill>
                <a:srgbClr val="17250F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572" name="Google Shape;572;p10"/>
          <p:cNvSpPr/>
          <p:nvPr/>
        </p:nvSpPr>
        <p:spPr>
          <a:xfrm>
            <a:off x="4803988" y="5194440"/>
            <a:ext cx="2217336" cy="512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u="none" strike="noStrike" cap="none">
                <a:solidFill>
                  <a:srgbClr val="000000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Most systems, most data volume, most edge cases of any step</a:t>
            </a:r>
            <a:endParaRPr sz="1200" u="none" strike="noStrike" cap="none">
              <a:solidFill>
                <a:srgbClr val="17250F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573" name="Google Shape;573;p10"/>
          <p:cNvSpPr/>
          <p:nvPr/>
        </p:nvSpPr>
        <p:spPr>
          <a:xfrm>
            <a:off x="4386407" y="6049094"/>
            <a:ext cx="264695" cy="260044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1C2B11"/>
          </a:solidFill>
          <a:ln w="25400" cap="flat" cmpd="sng">
            <a:solidFill>
              <a:srgbClr val="1C305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u="none" strike="noStrike" cap="none">
              <a:solidFill>
                <a:srgbClr val="072900"/>
              </a:solidFill>
              <a:latin typeface="Wix Madefor Display" panose="020B0503020203020203" pitchFamily="34" charset="77"/>
              <a:cs typeface="Wix Madefor Display" panose="020B0503020203020203" pitchFamily="34" charset="77"/>
              <a:sym typeface="Arial"/>
            </a:endParaRPr>
          </a:p>
        </p:txBody>
      </p:sp>
      <p:sp>
        <p:nvSpPr>
          <p:cNvPr id="574" name="Google Shape;574;p10"/>
          <p:cNvSpPr/>
          <p:nvPr/>
        </p:nvSpPr>
        <p:spPr>
          <a:xfrm>
            <a:off x="4803987" y="6035141"/>
            <a:ext cx="2217335" cy="512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u="none" strike="noStrike" cap="none">
                <a:solidFill>
                  <a:srgbClr val="000000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Largest hands-on block; team’s explicit "cut handling time in half" goal lives here.</a:t>
            </a:r>
            <a:endParaRPr sz="1200" u="none" strike="noStrike" cap="none">
              <a:solidFill>
                <a:srgbClr val="17250F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575" name="Google Shape;575;p10"/>
          <p:cNvSpPr/>
          <p:nvPr/>
        </p:nvSpPr>
        <p:spPr>
          <a:xfrm rot="10800000">
            <a:off x="4380634" y="3534970"/>
            <a:ext cx="264695" cy="260044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7F7F7F"/>
          </a:solidFill>
          <a:ln w="25400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u="none" strike="noStrike" cap="none">
              <a:solidFill>
                <a:srgbClr val="072900"/>
              </a:solidFill>
              <a:latin typeface="Wix Madefor Display" panose="020B0503020203020203" pitchFamily="34" charset="77"/>
              <a:cs typeface="Wix Madefor Display" panose="020B0503020203020203" pitchFamily="34" charset="77"/>
              <a:sym typeface="Arial"/>
            </a:endParaRPr>
          </a:p>
        </p:txBody>
      </p:sp>
      <p:sp>
        <p:nvSpPr>
          <p:cNvPr id="576" name="Google Shape;576;p10"/>
          <p:cNvSpPr/>
          <p:nvPr/>
        </p:nvSpPr>
        <p:spPr>
          <a:xfrm rot="10800000">
            <a:off x="4378309" y="5241420"/>
            <a:ext cx="264695" cy="260044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7F7F7F"/>
          </a:solidFill>
          <a:ln w="25400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u="none" strike="noStrike" cap="none">
              <a:solidFill>
                <a:srgbClr val="072900"/>
              </a:solidFill>
              <a:latin typeface="Wix Madefor Display" panose="020B0503020203020203" pitchFamily="34" charset="77"/>
              <a:cs typeface="Wix Madefor Display" panose="020B0503020203020203" pitchFamily="34" charset="77"/>
              <a:sym typeface="Arial"/>
            </a:endParaRPr>
          </a:p>
        </p:txBody>
      </p:sp>
      <p:sp>
        <p:nvSpPr>
          <p:cNvPr id="577" name="Google Shape;577;p10"/>
          <p:cNvSpPr/>
          <p:nvPr/>
        </p:nvSpPr>
        <p:spPr>
          <a:xfrm rot="5400000">
            <a:off x="7178593" y="2580811"/>
            <a:ext cx="264695" cy="260044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A8D08C"/>
          </a:solidFill>
          <a:ln w="25400" cap="flat" cmpd="sng">
            <a:solidFill>
              <a:srgbClr val="A8D08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u="none" strike="noStrike" cap="none">
              <a:solidFill>
                <a:srgbClr val="072900"/>
              </a:solidFill>
              <a:latin typeface="Wix Madefor Display" panose="020B0503020203020203" pitchFamily="34" charset="77"/>
              <a:cs typeface="Wix Madefor Display" panose="020B0503020203020203" pitchFamily="34" charset="77"/>
              <a:sym typeface="Arial"/>
            </a:endParaRPr>
          </a:p>
        </p:txBody>
      </p:sp>
      <p:sp>
        <p:nvSpPr>
          <p:cNvPr id="578" name="Google Shape;578;p10"/>
          <p:cNvSpPr/>
          <p:nvPr/>
        </p:nvSpPr>
        <p:spPr>
          <a:xfrm rot="10800000">
            <a:off x="7178593" y="3544404"/>
            <a:ext cx="264695" cy="260044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7F7F7F"/>
          </a:solidFill>
          <a:ln w="25400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u="none" strike="noStrike" cap="none">
              <a:solidFill>
                <a:srgbClr val="072900"/>
              </a:solidFill>
              <a:latin typeface="Wix Madefor Display" panose="020B0503020203020203" pitchFamily="34" charset="77"/>
              <a:cs typeface="Wix Madefor Display" panose="020B0503020203020203" pitchFamily="34" charset="77"/>
              <a:sym typeface="Arial"/>
            </a:endParaRPr>
          </a:p>
        </p:txBody>
      </p:sp>
      <p:sp>
        <p:nvSpPr>
          <p:cNvPr id="579" name="Google Shape;579;p10"/>
          <p:cNvSpPr/>
          <p:nvPr/>
        </p:nvSpPr>
        <p:spPr>
          <a:xfrm rot="10800000">
            <a:off x="7176268" y="5250854"/>
            <a:ext cx="264695" cy="260044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7F7F7F"/>
          </a:solidFill>
          <a:ln w="25400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u="none" strike="noStrike" cap="none">
              <a:solidFill>
                <a:srgbClr val="072900"/>
              </a:solidFill>
              <a:latin typeface="Wix Madefor Display" panose="020B0503020203020203" pitchFamily="34" charset="77"/>
              <a:cs typeface="Wix Madefor Display" panose="020B0503020203020203" pitchFamily="34" charset="77"/>
              <a:sym typeface="Arial"/>
            </a:endParaRPr>
          </a:p>
        </p:txBody>
      </p:sp>
      <p:sp>
        <p:nvSpPr>
          <p:cNvPr id="580" name="Google Shape;580;p10"/>
          <p:cNvSpPr/>
          <p:nvPr/>
        </p:nvSpPr>
        <p:spPr>
          <a:xfrm>
            <a:off x="7171957" y="6043405"/>
            <a:ext cx="264695" cy="260044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1C2B11"/>
          </a:solidFill>
          <a:ln w="25400" cap="flat" cmpd="sng">
            <a:solidFill>
              <a:srgbClr val="1C305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u="none" strike="noStrike" cap="none">
              <a:solidFill>
                <a:srgbClr val="072900"/>
              </a:solidFill>
              <a:latin typeface="Wix Madefor Display" panose="020B0503020203020203" pitchFamily="34" charset="77"/>
              <a:cs typeface="Wix Madefor Display" panose="020B0503020203020203" pitchFamily="34" charset="77"/>
              <a:sym typeface="Arial"/>
            </a:endParaRPr>
          </a:p>
        </p:txBody>
      </p:sp>
      <p:sp>
        <p:nvSpPr>
          <p:cNvPr id="581" name="Google Shape;581;p10"/>
          <p:cNvSpPr/>
          <p:nvPr/>
        </p:nvSpPr>
        <p:spPr>
          <a:xfrm rot="10800000">
            <a:off x="7171957" y="4414903"/>
            <a:ext cx="264695" cy="260044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7F7F7F"/>
          </a:solidFill>
          <a:ln w="25400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u="none" strike="noStrike" cap="none">
              <a:solidFill>
                <a:srgbClr val="072900"/>
              </a:solidFill>
              <a:latin typeface="Wix Madefor Display" panose="020B0503020203020203" pitchFamily="34" charset="77"/>
              <a:cs typeface="Wix Madefor Display" panose="020B0503020203020203" pitchFamily="34" charset="77"/>
              <a:sym typeface="Arial"/>
            </a:endParaRPr>
          </a:p>
        </p:txBody>
      </p:sp>
      <p:sp>
        <p:nvSpPr>
          <p:cNvPr id="582" name="Google Shape;582;p10"/>
          <p:cNvSpPr/>
          <p:nvPr/>
        </p:nvSpPr>
        <p:spPr>
          <a:xfrm>
            <a:off x="7587284" y="2543979"/>
            <a:ext cx="2217337" cy="757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u="none" strike="noStrike" cap="none">
                <a:solidFill>
                  <a:srgbClr val="000000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High-leverage automatable piece is QC audit; broker negotiation is external</a:t>
            </a:r>
            <a:endParaRPr sz="1200" u="none" strike="noStrike" cap="none">
              <a:solidFill>
                <a:srgbClr val="17250F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583" name="Google Shape;583;p10"/>
          <p:cNvSpPr/>
          <p:nvPr/>
        </p:nvSpPr>
        <p:spPr>
          <a:xfrm>
            <a:off x="7587284" y="3496038"/>
            <a:ext cx="2325620" cy="575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u="none" strike="noStrike" cap="none">
                <a:solidFill>
                  <a:srgbClr val="000000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Filing rules + rate-need targets + UW preferences + contractor segmentation overlap</a:t>
            </a:r>
            <a:endParaRPr sz="1200" u="none" strike="noStrike" cap="none">
              <a:solidFill>
                <a:srgbClr val="17250F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584" name="Google Shape;584;p10"/>
          <p:cNvSpPr/>
          <p:nvPr/>
        </p:nvSpPr>
        <p:spPr>
          <a:xfrm>
            <a:off x="7587275" y="4348900"/>
            <a:ext cx="2325600" cy="56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u="none" strike="noStrike" cap="none">
                <a:solidFill>
                  <a:srgbClr val="000000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Building the contractor- segmented templates (lacking today) is </a:t>
            </a:r>
            <a:r>
              <a:rPr lang="en-US" sz="1200"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sequencing dependency</a:t>
            </a:r>
            <a:endParaRPr sz="1200" u="none" strike="noStrike" cap="none">
              <a:solidFill>
                <a:srgbClr val="17250F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585" name="Google Shape;585;p10"/>
          <p:cNvSpPr/>
          <p:nvPr/>
        </p:nvSpPr>
        <p:spPr>
          <a:xfrm>
            <a:off x="7587284" y="5194440"/>
            <a:ext cx="2217336" cy="512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u="none" strike="noStrike" cap="none">
                <a:solidFill>
                  <a:srgbClr val="000000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Biggest content-encoding lift in the funnel (incl. pricing logic, compliance rules)</a:t>
            </a:r>
            <a:endParaRPr sz="1200" u="none" strike="noStrike" cap="none">
              <a:solidFill>
                <a:srgbClr val="17250F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586" name="Google Shape;586;p10"/>
          <p:cNvSpPr/>
          <p:nvPr/>
        </p:nvSpPr>
        <p:spPr>
          <a:xfrm>
            <a:off x="7587283" y="6035141"/>
            <a:ext cx="2217335" cy="512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u="none" strike="noStrike" cap="none">
                <a:solidFill>
                  <a:srgbClr val="000000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High internal savings, but 5–10 days of the 16-day TAT is broker negotiation - </a:t>
            </a:r>
            <a:r>
              <a:rPr lang="en-US" sz="1200"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incompressible</a:t>
            </a:r>
            <a:r>
              <a:rPr lang="en-US" sz="1200" u="none" strike="noStrike" cap="none">
                <a:solidFill>
                  <a:srgbClr val="000000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.</a:t>
            </a:r>
            <a:endParaRPr sz="1200" u="none" strike="noStrike" cap="none">
              <a:solidFill>
                <a:srgbClr val="17250F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587" name="Google Shape;587;p10"/>
          <p:cNvSpPr/>
          <p:nvPr/>
        </p:nvSpPr>
        <p:spPr>
          <a:xfrm>
            <a:off x="9913611" y="2595168"/>
            <a:ext cx="264695" cy="260044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1C2B11"/>
          </a:solidFill>
          <a:ln w="25400" cap="flat" cmpd="sng">
            <a:solidFill>
              <a:srgbClr val="1C305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u="none" strike="noStrike" cap="none">
              <a:solidFill>
                <a:srgbClr val="072900"/>
              </a:solidFill>
              <a:latin typeface="Wix Madefor Display" panose="020B0503020203020203" pitchFamily="34" charset="77"/>
              <a:cs typeface="Wix Madefor Display" panose="020B0503020203020203" pitchFamily="34" charset="77"/>
              <a:sym typeface="Arial"/>
            </a:endParaRPr>
          </a:p>
        </p:txBody>
      </p:sp>
      <p:sp>
        <p:nvSpPr>
          <p:cNvPr id="588" name="Google Shape;588;p10"/>
          <p:cNvSpPr/>
          <p:nvPr/>
        </p:nvSpPr>
        <p:spPr>
          <a:xfrm rot="5400000">
            <a:off x="9915936" y="3553915"/>
            <a:ext cx="264695" cy="260044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A8D08C"/>
          </a:solidFill>
          <a:ln w="25400" cap="flat" cmpd="sng">
            <a:solidFill>
              <a:srgbClr val="A8D08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u="none" strike="noStrike" cap="none">
              <a:solidFill>
                <a:srgbClr val="072900"/>
              </a:solidFill>
              <a:latin typeface="Wix Madefor Display" panose="020B0503020203020203" pitchFamily="34" charset="77"/>
              <a:cs typeface="Wix Madefor Display" panose="020B0503020203020203" pitchFamily="34" charset="77"/>
              <a:sym typeface="Arial"/>
            </a:endParaRPr>
          </a:p>
        </p:txBody>
      </p:sp>
      <p:sp>
        <p:nvSpPr>
          <p:cNvPr id="589" name="Google Shape;589;p10"/>
          <p:cNvSpPr/>
          <p:nvPr/>
        </p:nvSpPr>
        <p:spPr>
          <a:xfrm>
            <a:off x="9913611" y="4363421"/>
            <a:ext cx="264695" cy="260044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1C2B11"/>
          </a:solidFill>
          <a:ln w="25400" cap="flat" cmpd="sng">
            <a:solidFill>
              <a:srgbClr val="1C305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u="none" strike="noStrike" cap="none">
              <a:solidFill>
                <a:srgbClr val="072900"/>
              </a:solidFill>
              <a:latin typeface="Wix Madefor Display" panose="020B0503020203020203" pitchFamily="34" charset="77"/>
              <a:cs typeface="Wix Madefor Display" panose="020B0503020203020203" pitchFamily="34" charset="77"/>
              <a:sym typeface="Arial"/>
            </a:endParaRPr>
          </a:p>
        </p:txBody>
      </p:sp>
      <p:sp>
        <p:nvSpPr>
          <p:cNvPr id="590" name="Google Shape;590;p10"/>
          <p:cNvSpPr/>
          <p:nvPr/>
        </p:nvSpPr>
        <p:spPr>
          <a:xfrm>
            <a:off x="9913610" y="5215925"/>
            <a:ext cx="264695" cy="260044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1C2B11"/>
          </a:solidFill>
          <a:ln w="25400" cap="flat" cmpd="sng">
            <a:solidFill>
              <a:srgbClr val="1C305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u="none" strike="noStrike" cap="none">
              <a:solidFill>
                <a:srgbClr val="072900"/>
              </a:solidFill>
              <a:latin typeface="Wix Madefor Display" panose="020B0503020203020203" pitchFamily="34" charset="77"/>
              <a:cs typeface="Wix Madefor Display" panose="020B0503020203020203" pitchFamily="34" charset="77"/>
              <a:sym typeface="Arial"/>
            </a:endParaRPr>
          </a:p>
        </p:txBody>
      </p:sp>
      <p:sp>
        <p:nvSpPr>
          <p:cNvPr id="591" name="Google Shape;591;p10"/>
          <p:cNvSpPr/>
          <p:nvPr/>
        </p:nvSpPr>
        <p:spPr>
          <a:xfrm rot="5400000">
            <a:off x="9915936" y="6083086"/>
            <a:ext cx="264695" cy="260044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A8D08C"/>
          </a:solidFill>
          <a:ln w="25400" cap="flat" cmpd="sng">
            <a:solidFill>
              <a:srgbClr val="A8D08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u="none" strike="noStrike" cap="none">
              <a:solidFill>
                <a:srgbClr val="072900"/>
              </a:solidFill>
              <a:latin typeface="Wix Madefor Display" panose="020B0503020203020203" pitchFamily="34" charset="77"/>
              <a:cs typeface="Wix Madefor Display" panose="020B0503020203020203" pitchFamily="34" charset="77"/>
              <a:sym typeface="Arial"/>
            </a:endParaRPr>
          </a:p>
        </p:txBody>
      </p:sp>
      <p:pic>
        <p:nvPicPr>
          <p:cNvPr id="592" name="Google Shape;592;p10" descr="logo_dark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5760" y="274320"/>
            <a:ext cx="12801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593" name="Google Shape;593;p10"/>
          <p:cNvSpPr/>
          <p:nvPr/>
        </p:nvSpPr>
        <p:spPr>
          <a:xfrm>
            <a:off x="10250695" y="2542390"/>
            <a:ext cx="1823275" cy="757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u="none" strike="noStrike" cap="none">
                <a:solidFill>
                  <a:srgbClr val="000000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Bind, combine, subjectivity chase, e-delivery - automatable workflow</a:t>
            </a:r>
            <a:endParaRPr sz="1200" u="none" strike="noStrike" cap="none">
              <a:solidFill>
                <a:srgbClr val="17250F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594" name="Google Shape;594;p10"/>
          <p:cNvSpPr/>
          <p:nvPr/>
        </p:nvSpPr>
        <p:spPr>
          <a:xfrm>
            <a:off x="10250700" y="3494450"/>
            <a:ext cx="1883400" cy="5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u="none" strike="noStrike" cap="none">
                <a:solidFill>
                  <a:srgbClr val="000000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Three systems + DocuSign; rules well-defined; PC-native flows</a:t>
            </a:r>
            <a:endParaRPr sz="1200" u="none" strike="noStrike" cap="none">
              <a:solidFill>
                <a:srgbClr val="17250F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595" name="Google Shape;595;p10"/>
          <p:cNvSpPr/>
          <p:nvPr/>
        </p:nvSpPr>
        <p:spPr>
          <a:xfrm>
            <a:off x="10250695" y="4347318"/>
            <a:ext cx="1751060" cy="5679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u="none" strike="noStrike" cap="none">
                <a:solidFill>
                  <a:srgbClr val="000000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Rules already articulated by Miles; e-delivery is a workflow fix, not AI</a:t>
            </a:r>
            <a:endParaRPr sz="1200" u="none" strike="noStrike" cap="none">
              <a:solidFill>
                <a:srgbClr val="17250F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596" name="Google Shape;596;p10"/>
          <p:cNvSpPr/>
          <p:nvPr/>
        </p:nvSpPr>
        <p:spPr>
          <a:xfrm>
            <a:off x="10250695" y="5192851"/>
            <a:ext cx="1751059" cy="512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u="none" strike="noStrike" cap="none">
                <a:solidFill>
                  <a:srgbClr val="000000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Clean workflow automation — no judgment encoding</a:t>
            </a:r>
            <a:endParaRPr sz="1200" u="none" strike="noStrike" cap="none">
              <a:solidFill>
                <a:srgbClr val="17250F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597" name="Google Shape;597;p10"/>
          <p:cNvSpPr/>
          <p:nvPr/>
        </p:nvSpPr>
        <p:spPr>
          <a:xfrm>
            <a:off x="10244450" y="6033552"/>
            <a:ext cx="1757304" cy="512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u="none" strike="noStrike" cap="none">
                <a:solidFill>
                  <a:srgbClr val="000000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Small hands-on block (45–75 min), but clears 600+ stuck accounts</a:t>
            </a:r>
            <a:endParaRPr sz="1200" u="none" strike="noStrike" cap="none">
              <a:solidFill>
                <a:srgbClr val="17250F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598" name="Google Shape;598;p10"/>
          <p:cNvSpPr/>
          <p:nvPr/>
        </p:nvSpPr>
        <p:spPr>
          <a:xfrm>
            <a:off x="607845" y="2070450"/>
            <a:ext cx="796500" cy="26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Calibri"/>
              <a:buNone/>
            </a:pPr>
            <a:r>
              <a:rPr lang="en-US">
                <a:solidFill>
                  <a:srgbClr val="17250F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Metrics</a:t>
            </a:r>
            <a:endParaRPr sz="1400" u="none" strike="noStrike" cap="none">
              <a:solidFill>
                <a:srgbClr val="17250F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599" name="Google Shape;599;p10"/>
          <p:cNvSpPr/>
          <p:nvPr/>
        </p:nvSpPr>
        <p:spPr>
          <a:xfrm>
            <a:off x="365800" y="1365075"/>
            <a:ext cx="9146100" cy="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1900" dirty="0">
                <a:solidFill>
                  <a:srgbClr val="111111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New Business MM processes</a:t>
            </a:r>
            <a:endParaRPr sz="1100" u="none" strike="noStrike" cap="none" dirty="0">
              <a:solidFill>
                <a:schemeClr val="dk1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600" name="Google Shape;600;p10"/>
          <p:cNvSpPr/>
          <p:nvPr/>
        </p:nvSpPr>
        <p:spPr>
          <a:xfrm rot="10800000">
            <a:off x="4407252" y="4401622"/>
            <a:ext cx="264600" cy="260100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7F7F7F"/>
          </a:solidFill>
          <a:ln w="25400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u="none" strike="noStrike" cap="none">
              <a:solidFill>
                <a:srgbClr val="072900"/>
              </a:solidFill>
              <a:latin typeface="Wix Madefor Display" panose="020B0503020203020203" pitchFamily="34" charset="77"/>
              <a:cs typeface="Wix Madefor Display" panose="020B0503020203020203" pitchFamily="34" charset="77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g3e1d4df51d0_0_169"/>
          <p:cNvSpPr/>
          <p:nvPr/>
        </p:nvSpPr>
        <p:spPr>
          <a:xfrm>
            <a:off x="607851" y="2591442"/>
            <a:ext cx="1524600" cy="2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Calibri"/>
              <a:buNone/>
            </a:pPr>
            <a:r>
              <a:rPr lang="en-US" sz="1600">
                <a:solidFill>
                  <a:srgbClr val="17250F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Intake &amp; Clearance</a:t>
            </a:r>
            <a:endParaRPr sz="1800">
              <a:solidFill>
                <a:srgbClr val="385623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606" name="Google Shape;606;g3e1d4df51d0_0_169"/>
          <p:cNvSpPr/>
          <p:nvPr/>
        </p:nvSpPr>
        <p:spPr>
          <a:xfrm>
            <a:off x="607851" y="3554094"/>
            <a:ext cx="1524600" cy="2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Calibri"/>
              <a:buNone/>
            </a:pPr>
            <a:r>
              <a:rPr lang="en-US" sz="1600">
                <a:solidFill>
                  <a:srgbClr val="17250F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Rating &amp; Data Entry</a:t>
            </a:r>
            <a:endParaRPr sz="1600">
              <a:solidFill>
                <a:srgbClr val="385623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607" name="Google Shape;607;g3e1d4df51d0_0_169"/>
          <p:cNvSpPr/>
          <p:nvPr/>
        </p:nvSpPr>
        <p:spPr>
          <a:xfrm>
            <a:off x="607851" y="4412679"/>
            <a:ext cx="1524600" cy="2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Calibri"/>
              <a:buNone/>
            </a:pPr>
            <a:r>
              <a:rPr lang="en-US" sz="1600">
                <a:solidFill>
                  <a:srgbClr val="17250F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Risk Assess., Pricing, Quoting</a:t>
            </a:r>
            <a:endParaRPr sz="1600">
              <a:solidFill>
                <a:srgbClr val="385623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608" name="Google Shape;608;g3e1d4df51d0_0_169"/>
          <p:cNvSpPr/>
          <p:nvPr/>
        </p:nvSpPr>
        <p:spPr>
          <a:xfrm>
            <a:off x="607868" y="5312507"/>
            <a:ext cx="1752000" cy="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Calibri"/>
              <a:buNone/>
            </a:pPr>
            <a:r>
              <a:rPr lang="en-US" sz="1600">
                <a:solidFill>
                  <a:srgbClr val="17250F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Bind, Book, Issuance</a:t>
            </a:r>
            <a:endParaRPr sz="1600">
              <a:solidFill>
                <a:srgbClr val="17250F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Calibri"/>
              <a:buNone/>
            </a:pPr>
            <a:endParaRPr sz="1600">
              <a:solidFill>
                <a:srgbClr val="385623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grpSp>
        <p:nvGrpSpPr>
          <p:cNvPr id="609" name="Google Shape;609;g3e1d4df51d0_0_169"/>
          <p:cNvGrpSpPr/>
          <p:nvPr/>
        </p:nvGrpSpPr>
        <p:grpSpPr>
          <a:xfrm>
            <a:off x="524246" y="2423935"/>
            <a:ext cx="11429847" cy="2692177"/>
            <a:chOff x="524255" y="2423935"/>
            <a:chExt cx="10857649" cy="2692177"/>
          </a:xfrm>
        </p:grpSpPr>
        <p:cxnSp>
          <p:nvCxnSpPr>
            <p:cNvPr id="610" name="Google Shape;610;g3e1d4df51d0_0_169"/>
            <p:cNvCxnSpPr/>
            <p:nvPr/>
          </p:nvCxnSpPr>
          <p:spPr>
            <a:xfrm>
              <a:off x="567170" y="3386996"/>
              <a:ext cx="10814700" cy="0"/>
            </a:xfrm>
            <a:prstGeom prst="straightConnector1">
              <a:avLst/>
            </a:prstGeom>
            <a:noFill/>
            <a:ln w="9525" cap="flat" cmpd="sng">
              <a:solidFill>
                <a:srgbClr val="7F7F7F"/>
              </a:solidFill>
              <a:prstDash val="dash"/>
              <a:round/>
              <a:headEnd type="none" w="sm" len="sm"/>
              <a:tailEnd type="none" w="sm" len="sm"/>
            </a:ln>
          </p:spPr>
        </p:cxnSp>
        <p:cxnSp>
          <p:nvCxnSpPr>
            <p:cNvPr id="611" name="Google Shape;611;g3e1d4df51d0_0_169"/>
            <p:cNvCxnSpPr/>
            <p:nvPr/>
          </p:nvCxnSpPr>
          <p:spPr>
            <a:xfrm>
              <a:off x="524255" y="4206485"/>
              <a:ext cx="10857600" cy="0"/>
            </a:xfrm>
            <a:prstGeom prst="straightConnector1">
              <a:avLst/>
            </a:prstGeom>
            <a:noFill/>
            <a:ln w="9525" cap="flat" cmpd="sng">
              <a:solidFill>
                <a:srgbClr val="7F7F7F"/>
              </a:solidFill>
              <a:prstDash val="dash"/>
              <a:round/>
              <a:headEnd type="none" w="sm" len="sm"/>
              <a:tailEnd type="none" w="sm" len="sm"/>
            </a:ln>
          </p:spPr>
        </p:cxnSp>
        <p:cxnSp>
          <p:nvCxnSpPr>
            <p:cNvPr id="612" name="Google Shape;612;g3e1d4df51d0_0_169"/>
            <p:cNvCxnSpPr/>
            <p:nvPr/>
          </p:nvCxnSpPr>
          <p:spPr>
            <a:xfrm>
              <a:off x="567170" y="5116112"/>
              <a:ext cx="10814700" cy="0"/>
            </a:xfrm>
            <a:prstGeom prst="straightConnector1">
              <a:avLst/>
            </a:prstGeom>
            <a:noFill/>
            <a:ln w="9525" cap="flat" cmpd="sng">
              <a:solidFill>
                <a:srgbClr val="7F7F7F"/>
              </a:solidFill>
              <a:prstDash val="dash"/>
              <a:round/>
              <a:headEnd type="none" w="sm" len="sm"/>
              <a:tailEnd type="none" w="sm" len="sm"/>
            </a:ln>
          </p:spPr>
        </p:cxnSp>
        <p:cxnSp>
          <p:nvCxnSpPr>
            <p:cNvPr id="613" name="Google Shape;613;g3e1d4df51d0_0_169"/>
            <p:cNvCxnSpPr/>
            <p:nvPr/>
          </p:nvCxnSpPr>
          <p:spPr>
            <a:xfrm>
              <a:off x="643404" y="2423935"/>
              <a:ext cx="107385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614" name="Google Shape;614;g3e1d4df51d0_0_169"/>
          <p:cNvSpPr/>
          <p:nvPr/>
        </p:nvSpPr>
        <p:spPr>
          <a:xfrm>
            <a:off x="365760" y="777240"/>
            <a:ext cx="114300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111111"/>
                </a:solidFill>
                <a:latin typeface="Wix Madefor Display" panose="020B0503020203020203" pitchFamily="34" charset="77"/>
                <a:ea typeface="Georgia"/>
                <a:cs typeface="Wix Madefor Display" panose="020B0503020203020203" pitchFamily="34" charset="77"/>
                <a:sym typeface="Georgia"/>
              </a:rPr>
              <a:t>3.</a:t>
            </a:r>
            <a:r>
              <a:rPr lang="en-US" sz="2400" u="none" strike="noStrike" cap="none">
                <a:solidFill>
                  <a:srgbClr val="111111"/>
                </a:solidFill>
                <a:latin typeface="Wix Madefor Display" panose="020B0503020203020203" pitchFamily="34" charset="77"/>
                <a:ea typeface="Georgia"/>
                <a:cs typeface="Wix Madefor Display" panose="020B0503020203020203" pitchFamily="34" charset="77"/>
                <a:sym typeface="Georgia"/>
              </a:rPr>
              <a:t>B. </a:t>
            </a:r>
            <a:r>
              <a:rPr lang="en-US" sz="2400" u="sng" strike="noStrike" cap="none">
                <a:solidFill>
                  <a:srgbClr val="111111"/>
                </a:solidFill>
                <a:latin typeface="Wix Madefor Display" panose="020B0503020203020203" pitchFamily="34" charset="77"/>
                <a:ea typeface="Georgia"/>
                <a:cs typeface="Wix Madefor Display" panose="020B0503020203020203" pitchFamily="34" charset="77"/>
                <a:sym typeface="Georgia"/>
              </a:rPr>
              <a:t>Preliminary</a:t>
            </a:r>
            <a:r>
              <a:rPr lang="en-US" sz="2400" u="none" strike="noStrike" cap="none">
                <a:solidFill>
                  <a:srgbClr val="111111"/>
                </a:solidFill>
                <a:latin typeface="Wix Madefor Display" panose="020B0503020203020203" pitchFamily="34" charset="77"/>
                <a:ea typeface="Georgia"/>
                <a:cs typeface="Wix Madefor Display" panose="020B0503020203020203" pitchFamily="34" charset="77"/>
                <a:sym typeface="Georgia"/>
              </a:rPr>
              <a:t> </a:t>
            </a:r>
            <a:r>
              <a:rPr lang="en-US" sz="2400">
                <a:solidFill>
                  <a:srgbClr val="111111"/>
                </a:solidFill>
                <a:latin typeface="Wix Madefor Display" panose="020B0503020203020203" pitchFamily="34" charset="77"/>
                <a:ea typeface="Georgia"/>
                <a:cs typeface="Wix Madefor Display" panose="020B0503020203020203" pitchFamily="34" charset="77"/>
                <a:sym typeface="Georgia"/>
              </a:rPr>
              <a:t>prioritization</a:t>
            </a:r>
            <a:r>
              <a:rPr lang="en-US" sz="2400" u="none" strike="noStrike" cap="none">
                <a:solidFill>
                  <a:srgbClr val="111111"/>
                </a:solidFill>
                <a:latin typeface="Wix Madefor Display" panose="020B0503020203020203" pitchFamily="34" charset="77"/>
                <a:ea typeface="Georgia"/>
                <a:cs typeface="Wix Madefor Display" panose="020B0503020203020203" pitchFamily="34" charset="77"/>
                <a:sym typeface="Georgia"/>
              </a:rPr>
              <a:t> hypothesis: </a:t>
            </a:r>
            <a:r>
              <a:rPr lang="en-US" sz="2400">
                <a:solidFill>
                  <a:srgbClr val="111111"/>
                </a:solidFill>
                <a:latin typeface="Wix Madefor Display" panose="020B0503020203020203" pitchFamily="34" charset="77"/>
                <a:ea typeface="Georgia"/>
                <a:cs typeface="Wix Madefor Display" panose="020B0503020203020203" pitchFamily="34" charset="77"/>
                <a:sym typeface="Georgia"/>
              </a:rPr>
              <a:t>Overview</a:t>
            </a:r>
            <a:endParaRPr sz="2400" u="none" strike="noStrike" cap="none">
              <a:solidFill>
                <a:srgbClr val="000000"/>
              </a:solidFill>
              <a:latin typeface="Wix Madefor Display" panose="020B0503020203020203" pitchFamily="34" charset="77"/>
              <a:cs typeface="Wix Madefor Display" panose="020B0503020203020203" pitchFamily="34" charset="77"/>
              <a:sym typeface="Arial"/>
            </a:endParaRPr>
          </a:p>
        </p:txBody>
      </p:sp>
      <p:pic>
        <p:nvPicPr>
          <p:cNvPr id="615" name="Google Shape;615;g3e1d4df51d0_0_169" descr="logo_dark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5760" y="274320"/>
            <a:ext cx="1280161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616" name="Google Shape;616;g3e1d4df51d0_0_169"/>
          <p:cNvSpPr/>
          <p:nvPr/>
        </p:nvSpPr>
        <p:spPr>
          <a:xfrm>
            <a:off x="607861" y="2070450"/>
            <a:ext cx="1128000" cy="26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Calibri"/>
              <a:buNone/>
            </a:pPr>
            <a:r>
              <a:rPr lang="en-US" sz="1600" b="1">
                <a:solidFill>
                  <a:srgbClr val="17250F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Metrics</a:t>
            </a:r>
            <a:endParaRPr sz="1600" b="1" u="none" strike="noStrike" cap="none">
              <a:solidFill>
                <a:srgbClr val="17250F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617" name="Google Shape;617;g3e1d4df51d0_0_169"/>
          <p:cNvSpPr/>
          <p:nvPr/>
        </p:nvSpPr>
        <p:spPr>
          <a:xfrm>
            <a:off x="365800" y="1365075"/>
            <a:ext cx="9146100" cy="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1900">
                <a:solidFill>
                  <a:srgbClr val="111111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New Business MM processes</a:t>
            </a:r>
            <a:endParaRPr sz="1100" u="none" strike="noStrike" cap="none">
              <a:solidFill>
                <a:schemeClr val="dk1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618" name="Google Shape;618;g3e1d4df51d0_0_169"/>
          <p:cNvSpPr/>
          <p:nvPr/>
        </p:nvSpPr>
        <p:spPr>
          <a:xfrm>
            <a:off x="2321419" y="2070450"/>
            <a:ext cx="3650700" cy="26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Calibri"/>
              <a:buNone/>
            </a:pPr>
            <a:r>
              <a:rPr lang="en-US" sz="1600" b="1" dirty="0">
                <a:solidFill>
                  <a:srgbClr val="17250F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Preliminary assessment</a:t>
            </a:r>
            <a:endParaRPr sz="1600" b="1" u="none" strike="noStrike" cap="none" dirty="0">
              <a:solidFill>
                <a:srgbClr val="17250F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619" name="Google Shape;619;g3e1d4df51d0_0_169"/>
          <p:cNvSpPr/>
          <p:nvPr/>
        </p:nvSpPr>
        <p:spPr>
          <a:xfrm>
            <a:off x="2593300" y="2582600"/>
            <a:ext cx="93609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Calibri"/>
              <a:buNone/>
            </a:pPr>
            <a:r>
              <a:rPr lang="en-US" sz="1600">
                <a:solidFill>
                  <a:schemeClr val="dk1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Rules-based work across only a few systems, easy to encode, and fixing the upfront delay directly improves overall turnaround — high value for low effort.</a:t>
            </a:r>
            <a:endParaRPr sz="1600" u="none" strike="noStrike" cap="none">
              <a:solidFill>
                <a:schemeClr val="dk1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620" name="Google Shape;620;g3e1d4df51d0_0_169"/>
          <p:cNvSpPr/>
          <p:nvPr/>
        </p:nvSpPr>
        <p:spPr>
          <a:xfrm>
            <a:off x="2579056" y="3554100"/>
            <a:ext cx="93609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Calibri"/>
              <a:buNone/>
            </a:pPr>
            <a:r>
              <a:rPr lang="en-US" sz="1600">
                <a:solidFill>
                  <a:schemeClr val="dk1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The biggest opportunity to reduce manual work, but the most systems, most data, and most edge cases — feasible in pieces, heavy to deliver end-to-end.</a:t>
            </a:r>
            <a:endParaRPr sz="1600" u="none" strike="noStrike" cap="none">
              <a:solidFill>
                <a:schemeClr val="dk1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621" name="Google Shape;621;g3e1d4df51d0_0_169"/>
          <p:cNvSpPr/>
          <p:nvPr/>
        </p:nvSpPr>
        <p:spPr>
          <a:xfrm>
            <a:off x="2579056" y="4412675"/>
            <a:ext cx="93609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Calibri"/>
              <a:buNone/>
            </a:pPr>
            <a:r>
              <a:rPr lang="en-US" sz="1600">
                <a:solidFill>
                  <a:schemeClr val="dk1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Most of the work is judgment-heavy and the templates needed to automate it don't exist yet, and a large share of the time sits in broker negotiation that can't be automated.</a:t>
            </a:r>
            <a:endParaRPr sz="1600">
              <a:solidFill>
                <a:schemeClr val="dk1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622" name="Google Shape;622;g3e1d4df51d0_0_169"/>
          <p:cNvSpPr/>
          <p:nvPr/>
        </p:nvSpPr>
        <p:spPr>
          <a:xfrm>
            <a:off x="2579056" y="5322525"/>
            <a:ext cx="93609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Calibri"/>
              <a:buNone/>
            </a:pPr>
            <a:r>
              <a:rPr lang="en-US" sz="1600">
                <a:solidFill>
                  <a:schemeClr val="dk1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Clean workflow automation with well-defined rules and few systems — small step, but the fastest path to a visible improvement.</a:t>
            </a:r>
            <a:endParaRPr sz="1600">
              <a:solidFill>
                <a:schemeClr val="dk1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12"/>
          <p:cNvSpPr/>
          <p:nvPr/>
        </p:nvSpPr>
        <p:spPr>
          <a:xfrm>
            <a:off x="647800" y="724352"/>
            <a:ext cx="10437300" cy="7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3600"/>
              <a:buFont typeface="Georgia"/>
              <a:buNone/>
            </a:pPr>
            <a:r>
              <a:rPr lang="en-US" sz="2600">
                <a:solidFill>
                  <a:srgbClr val="1E1E2E"/>
                </a:solidFill>
                <a:latin typeface="Fraunces 9pt" pitchFamily="2" charset="77"/>
                <a:ea typeface="Georgia"/>
                <a:cs typeface="Georgia"/>
                <a:sym typeface="Georgia"/>
              </a:rPr>
              <a:t>4. </a:t>
            </a:r>
            <a:r>
              <a:rPr lang="en-US" sz="2600" u="none" strike="noStrike" cap="none">
                <a:solidFill>
                  <a:srgbClr val="1E1E2E"/>
                </a:solidFill>
                <a:latin typeface="Fraunces 9pt" pitchFamily="2" charset="77"/>
                <a:ea typeface="Georgia"/>
                <a:cs typeface="Georgia"/>
                <a:sym typeface="Georgia"/>
              </a:rPr>
              <a:t>Timeline &amp; next steps</a:t>
            </a:r>
            <a:endParaRPr sz="2600" u="none" strike="noStrike" cap="none">
              <a:solidFill>
                <a:schemeClr val="dk1"/>
              </a:solidFill>
              <a:latin typeface="Fraunces 9pt" pitchFamily="2" charset="77"/>
              <a:ea typeface="Georgia"/>
              <a:cs typeface="Georgia"/>
              <a:sym typeface="Georgia"/>
            </a:endParaRPr>
          </a:p>
        </p:txBody>
      </p:sp>
      <p:sp>
        <p:nvSpPr>
          <p:cNvPr id="645" name="Google Shape;645;p12"/>
          <p:cNvSpPr/>
          <p:nvPr/>
        </p:nvSpPr>
        <p:spPr>
          <a:xfrm>
            <a:off x="719025" y="1815394"/>
            <a:ext cx="11216400" cy="782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u="none" strike="noStrike" cap="none">
              <a:solidFill>
                <a:srgbClr val="000000"/>
              </a:solidFill>
              <a:latin typeface="Wix Madefor Display" panose="020B0503020203020203" pitchFamily="34" charset="77"/>
              <a:cs typeface="Wix Madefor Display" panose="020B0503020203020203" pitchFamily="34" charset="77"/>
              <a:sym typeface="Arial"/>
            </a:endParaRPr>
          </a:p>
        </p:txBody>
      </p:sp>
      <p:sp>
        <p:nvSpPr>
          <p:cNvPr id="646" name="Google Shape;646;p12"/>
          <p:cNvSpPr/>
          <p:nvPr/>
        </p:nvSpPr>
        <p:spPr>
          <a:xfrm>
            <a:off x="8548902" y="5289750"/>
            <a:ext cx="2245200" cy="289800"/>
          </a:xfrm>
          <a:prstGeom prst="rect">
            <a:avLst/>
          </a:prstGeom>
          <a:solidFill>
            <a:srgbClr val="E1EFD8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0950" tIns="30475" rIns="60950" bIns="304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u="none" strike="noStrike" cap="none">
              <a:solidFill>
                <a:srgbClr val="FFFFFF"/>
              </a:solidFill>
              <a:latin typeface="Wix Madefor Display" panose="020B0503020203020203" pitchFamily="34" charset="77"/>
              <a:cs typeface="Wix Madefor Display" panose="020B0503020203020203" pitchFamily="34" charset="77"/>
              <a:sym typeface="Arial"/>
            </a:endParaRPr>
          </a:p>
        </p:txBody>
      </p:sp>
      <p:sp>
        <p:nvSpPr>
          <p:cNvPr id="647" name="Google Shape;647;p12"/>
          <p:cNvSpPr/>
          <p:nvPr/>
        </p:nvSpPr>
        <p:spPr>
          <a:xfrm>
            <a:off x="7646345" y="4497155"/>
            <a:ext cx="892500" cy="289800"/>
          </a:xfrm>
          <a:prstGeom prst="rect">
            <a:avLst/>
          </a:prstGeom>
          <a:solidFill>
            <a:srgbClr val="E1EFD8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0950" tIns="30475" rIns="60950" bIns="304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u="none" strike="noStrike" cap="none">
              <a:solidFill>
                <a:srgbClr val="FFFFFF"/>
              </a:solidFill>
              <a:latin typeface="Wix Madefor Display" panose="020B0503020203020203" pitchFamily="34" charset="77"/>
              <a:cs typeface="Wix Madefor Display" panose="020B0503020203020203" pitchFamily="34" charset="77"/>
              <a:sym typeface="Arial"/>
            </a:endParaRPr>
          </a:p>
        </p:txBody>
      </p:sp>
      <p:sp>
        <p:nvSpPr>
          <p:cNvPr id="648" name="Google Shape;648;p12"/>
          <p:cNvSpPr/>
          <p:nvPr/>
        </p:nvSpPr>
        <p:spPr>
          <a:xfrm>
            <a:off x="6972493" y="3722551"/>
            <a:ext cx="684900" cy="289800"/>
          </a:xfrm>
          <a:prstGeom prst="rect">
            <a:avLst/>
          </a:prstGeom>
          <a:solidFill>
            <a:srgbClr val="E1EFD8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0950" tIns="30475" rIns="60950" bIns="304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u="none" strike="noStrike" cap="none">
              <a:solidFill>
                <a:srgbClr val="FFFFFF"/>
              </a:solidFill>
              <a:latin typeface="Wix Madefor Display" panose="020B0503020203020203" pitchFamily="34" charset="77"/>
              <a:cs typeface="Wix Madefor Display" panose="020B0503020203020203" pitchFamily="34" charset="77"/>
              <a:sym typeface="Arial"/>
            </a:endParaRPr>
          </a:p>
        </p:txBody>
      </p:sp>
      <p:sp>
        <p:nvSpPr>
          <p:cNvPr id="649" name="Google Shape;649;p12"/>
          <p:cNvSpPr/>
          <p:nvPr/>
        </p:nvSpPr>
        <p:spPr>
          <a:xfrm>
            <a:off x="5895095" y="2869100"/>
            <a:ext cx="1077300" cy="289800"/>
          </a:xfrm>
          <a:prstGeom prst="rect">
            <a:avLst/>
          </a:prstGeom>
          <a:solidFill>
            <a:srgbClr val="E1EFD8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0950" tIns="30475" rIns="60950" bIns="304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u="none" strike="noStrike" cap="none">
              <a:solidFill>
                <a:srgbClr val="FFFFFF"/>
              </a:solidFill>
              <a:latin typeface="Wix Madefor Display" panose="020B0503020203020203" pitchFamily="34" charset="77"/>
              <a:cs typeface="Wix Madefor Display" panose="020B0503020203020203" pitchFamily="34" charset="77"/>
              <a:sym typeface="Arial"/>
            </a:endParaRPr>
          </a:p>
        </p:txBody>
      </p:sp>
      <p:cxnSp>
        <p:nvCxnSpPr>
          <p:cNvPr id="650" name="Google Shape;650;p12"/>
          <p:cNvCxnSpPr/>
          <p:nvPr/>
        </p:nvCxnSpPr>
        <p:spPr>
          <a:xfrm>
            <a:off x="731520" y="1768386"/>
            <a:ext cx="11230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51" name="Google Shape;651;p12"/>
          <p:cNvSpPr txBox="1"/>
          <p:nvPr/>
        </p:nvSpPr>
        <p:spPr>
          <a:xfrm>
            <a:off x="692736" y="1415272"/>
            <a:ext cx="1320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u="none" strike="noStrike" cap="none">
                <a:solidFill>
                  <a:srgbClr val="000000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Timeline</a:t>
            </a:r>
            <a:endParaRPr sz="900" b="1" u="none" strike="noStrike" cap="none">
              <a:solidFill>
                <a:srgbClr val="000000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652" name="Google Shape;652;p12"/>
          <p:cNvSpPr txBox="1"/>
          <p:nvPr/>
        </p:nvSpPr>
        <p:spPr>
          <a:xfrm>
            <a:off x="2481618" y="1415272"/>
            <a:ext cx="580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u="none" strike="noStrike" cap="none">
                <a:solidFill>
                  <a:srgbClr val="000000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Apr</a:t>
            </a:r>
            <a:endParaRPr sz="900" b="1" u="none" strike="noStrike" cap="none">
              <a:solidFill>
                <a:srgbClr val="000000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653" name="Google Shape;653;p12"/>
          <p:cNvSpPr txBox="1"/>
          <p:nvPr/>
        </p:nvSpPr>
        <p:spPr>
          <a:xfrm>
            <a:off x="3297415" y="1415272"/>
            <a:ext cx="643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u="none" strike="noStrike" cap="none">
                <a:solidFill>
                  <a:srgbClr val="000000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May</a:t>
            </a:r>
            <a:endParaRPr sz="900" b="1" u="none" strike="noStrike" cap="none">
              <a:solidFill>
                <a:srgbClr val="000000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654" name="Google Shape;654;p12"/>
          <p:cNvSpPr txBox="1"/>
          <p:nvPr/>
        </p:nvSpPr>
        <p:spPr>
          <a:xfrm>
            <a:off x="4155984" y="1415272"/>
            <a:ext cx="580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u="none" strike="noStrike" cap="none">
                <a:solidFill>
                  <a:srgbClr val="000000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Jun</a:t>
            </a:r>
            <a:endParaRPr sz="900" b="1" u="none" strike="noStrike" cap="none">
              <a:solidFill>
                <a:srgbClr val="000000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655" name="Google Shape;655;p12"/>
          <p:cNvSpPr txBox="1"/>
          <p:nvPr/>
        </p:nvSpPr>
        <p:spPr>
          <a:xfrm>
            <a:off x="4926920" y="1415272"/>
            <a:ext cx="518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u="none" strike="noStrike" cap="none">
                <a:solidFill>
                  <a:srgbClr val="000000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Jul</a:t>
            </a:r>
            <a:endParaRPr sz="900" b="1" u="none" strike="noStrike" cap="none">
              <a:solidFill>
                <a:srgbClr val="000000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656" name="Google Shape;656;p12"/>
          <p:cNvSpPr txBox="1"/>
          <p:nvPr/>
        </p:nvSpPr>
        <p:spPr>
          <a:xfrm>
            <a:off x="5643333" y="1415272"/>
            <a:ext cx="643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u="none" strike="noStrike" cap="none">
                <a:solidFill>
                  <a:srgbClr val="000000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Aug</a:t>
            </a:r>
            <a:endParaRPr sz="900" b="1" u="none" strike="noStrike" cap="none">
              <a:solidFill>
                <a:srgbClr val="000000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657" name="Google Shape;657;p12"/>
          <p:cNvSpPr txBox="1"/>
          <p:nvPr/>
        </p:nvSpPr>
        <p:spPr>
          <a:xfrm>
            <a:off x="6498683" y="1415272"/>
            <a:ext cx="643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u="none" strike="noStrike" cap="none">
                <a:solidFill>
                  <a:srgbClr val="000000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Sep</a:t>
            </a:r>
            <a:endParaRPr sz="1600" b="1" u="none" strike="noStrike" cap="none">
              <a:solidFill>
                <a:srgbClr val="000000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658" name="Google Shape;658;p12"/>
          <p:cNvSpPr txBox="1"/>
          <p:nvPr/>
        </p:nvSpPr>
        <p:spPr>
          <a:xfrm>
            <a:off x="7321985" y="1415272"/>
            <a:ext cx="580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u="none" strike="noStrike" cap="none">
                <a:solidFill>
                  <a:srgbClr val="000000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Oct</a:t>
            </a:r>
            <a:endParaRPr sz="900" b="1" u="none" strike="noStrike" cap="none">
              <a:solidFill>
                <a:srgbClr val="000000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659" name="Google Shape;659;p12"/>
          <p:cNvSpPr txBox="1"/>
          <p:nvPr/>
        </p:nvSpPr>
        <p:spPr>
          <a:xfrm>
            <a:off x="8119615" y="1415272"/>
            <a:ext cx="643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u="none" strike="noStrike" cap="none">
                <a:solidFill>
                  <a:srgbClr val="000000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Nov</a:t>
            </a:r>
            <a:endParaRPr sz="900" b="1" u="none" strike="noStrike" cap="none">
              <a:solidFill>
                <a:srgbClr val="000000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660" name="Google Shape;660;p12"/>
          <p:cNvSpPr txBox="1"/>
          <p:nvPr/>
        </p:nvSpPr>
        <p:spPr>
          <a:xfrm>
            <a:off x="8960017" y="1415272"/>
            <a:ext cx="643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u="none" strike="noStrike" cap="none">
                <a:solidFill>
                  <a:srgbClr val="000000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Dec</a:t>
            </a:r>
            <a:endParaRPr sz="900" b="1" u="none" strike="noStrike" cap="none">
              <a:solidFill>
                <a:srgbClr val="000000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661" name="Google Shape;661;p12"/>
          <p:cNvSpPr txBox="1"/>
          <p:nvPr/>
        </p:nvSpPr>
        <p:spPr>
          <a:xfrm>
            <a:off x="692726" y="2774918"/>
            <a:ext cx="1529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u="none" strike="noStrike" cap="none">
                <a:solidFill>
                  <a:srgbClr val="000000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AI application scoping</a:t>
            </a:r>
            <a:endParaRPr sz="900" u="none" strike="noStrike" cap="none">
              <a:solidFill>
                <a:srgbClr val="000000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662" name="Google Shape;662;p12"/>
          <p:cNvSpPr txBox="1"/>
          <p:nvPr/>
        </p:nvSpPr>
        <p:spPr>
          <a:xfrm>
            <a:off x="692736" y="4457055"/>
            <a:ext cx="2369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u="none" strike="noStrike" cap="none">
                <a:solidFill>
                  <a:srgbClr val="000000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Prep for implementation and contract signing</a:t>
            </a:r>
            <a:endParaRPr sz="900" u="none" strike="noStrike" cap="none">
              <a:solidFill>
                <a:srgbClr val="000000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663" name="Google Shape;663;p12"/>
          <p:cNvSpPr txBox="1"/>
          <p:nvPr/>
        </p:nvSpPr>
        <p:spPr>
          <a:xfrm>
            <a:off x="692726" y="3550565"/>
            <a:ext cx="1529400" cy="4616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u="none" strike="noStrike" cap="none">
                <a:solidFill>
                  <a:srgbClr val="000000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POC development</a:t>
            </a:r>
            <a:endParaRPr sz="900" u="none" strike="noStrike" cap="none">
              <a:solidFill>
                <a:srgbClr val="000000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664" name="Google Shape;664;p12"/>
          <p:cNvSpPr txBox="1"/>
          <p:nvPr/>
        </p:nvSpPr>
        <p:spPr>
          <a:xfrm>
            <a:off x="692726" y="5362610"/>
            <a:ext cx="1680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u="none" strike="noStrike" cap="none">
                <a:solidFill>
                  <a:srgbClr val="000000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Implementation/ continuous support</a:t>
            </a:r>
            <a:endParaRPr sz="900" u="none" strike="noStrike" cap="none">
              <a:solidFill>
                <a:srgbClr val="000000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cxnSp>
        <p:nvCxnSpPr>
          <p:cNvPr id="665" name="Google Shape;665;p12"/>
          <p:cNvCxnSpPr/>
          <p:nvPr/>
        </p:nvCxnSpPr>
        <p:spPr>
          <a:xfrm>
            <a:off x="731520" y="2634302"/>
            <a:ext cx="11230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66" name="Google Shape;666;p12"/>
          <p:cNvCxnSpPr/>
          <p:nvPr/>
        </p:nvCxnSpPr>
        <p:spPr>
          <a:xfrm>
            <a:off x="731520" y="3463659"/>
            <a:ext cx="11230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67" name="Google Shape;667;p12"/>
          <p:cNvCxnSpPr/>
          <p:nvPr/>
        </p:nvCxnSpPr>
        <p:spPr>
          <a:xfrm>
            <a:off x="731520" y="4240235"/>
            <a:ext cx="11230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68" name="Google Shape;668;p12"/>
          <p:cNvCxnSpPr/>
          <p:nvPr/>
        </p:nvCxnSpPr>
        <p:spPr>
          <a:xfrm>
            <a:off x="731520" y="5145794"/>
            <a:ext cx="11230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69" name="Google Shape;669;p12"/>
          <p:cNvSpPr/>
          <p:nvPr/>
        </p:nvSpPr>
        <p:spPr>
          <a:xfrm>
            <a:off x="3000582" y="2009105"/>
            <a:ext cx="2865867" cy="289800"/>
          </a:xfrm>
          <a:prstGeom prst="rect">
            <a:avLst/>
          </a:prstGeom>
          <a:solidFill>
            <a:srgbClr val="E1EFD8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0950" tIns="30475" rIns="60950" bIns="304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u="none" strike="noStrike" cap="none">
              <a:solidFill>
                <a:srgbClr val="FFFFFF"/>
              </a:solidFill>
              <a:latin typeface="Wix Madefor Display" panose="020B0503020203020203" pitchFamily="34" charset="77"/>
              <a:cs typeface="Wix Madefor Display" panose="020B0503020203020203" pitchFamily="34" charset="77"/>
              <a:sym typeface="Arial"/>
            </a:endParaRPr>
          </a:p>
        </p:txBody>
      </p:sp>
      <p:sp>
        <p:nvSpPr>
          <p:cNvPr id="670" name="Google Shape;670;p12"/>
          <p:cNvSpPr/>
          <p:nvPr/>
        </p:nvSpPr>
        <p:spPr>
          <a:xfrm>
            <a:off x="9301307" y="369267"/>
            <a:ext cx="258600" cy="258600"/>
          </a:xfrm>
          <a:prstGeom prst="diamond">
            <a:avLst/>
          </a:prstGeom>
          <a:solidFill>
            <a:srgbClr val="38761D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0950" tIns="30475" rIns="60950" bIns="304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u="none" strike="noStrike" cap="none">
              <a:solidFill>
                <a:srgbClr val="FFFFFF"/>
              </a:solidFill>
              <a:latin typeface="Wix Madefor Display" panose="020B0503020203020203" pitchFamily="34" charset="77"/>
              <a:cs typeface="Wix Madefor Display" panose="020B0503020203020203" pitchFamily="34" charset="77"/>
              <a:sym typeface="Arial"/>
            </a:endParaRPr>
          </a:p>
        </p:txBody>
      </p:sp>
      <p:sp>
        <p:nvSpPr>
          <p:cNvPr id="671" name="Google Shape;671;p12"/>
          <p:cNvSpPr txBox="1"/>
          <p:nvPr/>
        </p:nvSpPr>
        <p:spPr>
          <a:xfrm>
            <a:off x="9717051" y="1420972"/>
            <a:ext cx="1680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u="none" strike="noStrike" cap="none">
                <a:solidFill>
                  <a:srgbClr val="000000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Key outputs</a:t>
            </a:r>
            <a:endParaRPr sz="900" b="1" u="none" strike="noStrike" cap="none">
              <a:solidFill>
                <a:srgbClr val="000000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672" name="Google Shape;672;p12"/>
          <p:cNvSpPr txBox="1"/>
          <p:nvPr/>
        </p:nvSpPr>
        <p:spPr>
          <a:xfrm>
            <a:off x="9598600" y="383838"/>
            <a:ext cx="1171500" cy="430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u="none" strike="noStrike" cap="none">
                <a:solidFill>
                  <a:srgbClr val="000000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Key milestones</a:t>
            </a:r>
            <a:endParaRPr sz="900" u="none" strike="noStrike" cap="none">
              <a:solidFill>
                <a:srgbClr val="000000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673" name="Google Shape;673;p12"/>
          <p:cNvSpPr/>
          <p:nvPr/>
        </p:nvSpPr>
        <p:spPr>
          <a:xfrm>
            <a:off x="2811786" y="1977993"/>
            <a:ext cx="344100" cy="344100"/>
          </a:xfrm>
          <a:prstGeom prst="diamond">
            <a:avLst/>
          </a:prstGeom>
          <a:solidFill>
            <a:srgbClr val="38761D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0950" tIns="30475" rIns="60950" bIns="304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u="none" strike="noStrike" cap="none">
              <a:solidFill>
                <a:srgbClr val="FFFFFF"/>
              </a:solidFill>
              <a:latin typeface="Wix Madefor Display" panose="020B0503020203020203" pitchFamily="34" charset="77"/>
              <a:cs typeface="Wix Madefor Display" panose="020B0503020203020203" pitchFamily="34" charset="77"/>
              <a:sym typeface="Arial"/>
            </a:endParaRPr>
          </a:p>
        </p:txBody>
      </p:sp>
      <p:sp>
        <p:nvSpPr>
          <p:cNvPr id="674" name="Google Shape;674;p12"/>
          <p:cNvSpPr/>
          <p:nvPr/>
        </p:nvSpPr>
        <p:spPr>
          <a:xfrm>
            <a:off x="5694400" y="1976692"/>
            <a:ext cx="344100" cy="344100"/>
          </a:xfrm>
          <a:prstGeom prst="diamond">
            <a:avLst/>
          </a:prstGeom>
          <a:solidFill>
            <a:srgbClr val="38761D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0950" tIns="30475" rIns="60950" bIns="304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u="none" strike="noStrike" cap="none">
              <a:solidFill>
                <a:srgbClr val="FFFFFF"/>
              </a:solidFill>
              <a:latin typeface="Wix Madefor Display" panose="020B0503020203020203" pitchFamily="34" charset="77"/>
              <a:cs typeface="Wix Madefor Display" panose="020B0503020203020203" pitchFamily="34" charset="77"/>
              <a:sym typeface="Arial"/>
            </a:endParaRPr>
          </a:p>
        </p:txBody>
      </p:sp>
      <p:sp>
        <p:nvSpPr>
          <p:cNvPr id="675" name="Google Shape;675;p12"/>
          <p:cNvSpPr/>
          <p:nvPr/>
        </p:nvSpPr>
        <p:spPr>
          <a:xfrm>
            <a:off x="5711836" y="2836605"/>
            <a:ext cx="344100" cy="344100"/>
          </a:xfrm>
          <a:prstGeom prst="diamond">
            <a:avLst/>
          </a:prstGeom>
          <a:solidFill>
            <a:srgbClr val="38761D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0950" tIns="30475" rIns="60950" bIns="304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u="none" strike="noStrike" cap="none">
              <a:solidFill>
                <a:srgbClr val="FFFFFF"/>
              </a:solidFill>
              <a:latin typeface="Wix Madefor Display" panose="020B0503020203020203" pitchFamily="34" charset="77"/>
              <a:cs typeface="Wix Madefor Display" panose="020B0503020203020203" pitchFamily="34" charset="77"/>
              <a:sym typeface="Arial"/>
            </a:endParaRPr>
          </a:p>
        </p:txBody>
      </p:sp>
      <p:cxnSp>
        <p:nvCxnSpPr>
          <p:cNvPr id="676" name="Google Shape;676;p12"/>
          <p:cNvCxnSpPr>
            <a:stCxn id="674" idx="2"/>
            <a:endCxn id="675" idx="0"/>
          </p:cNvCxnSpPr>
          <p:nvPr/>
        </p:nvCxnSpPr>
        <p:spPr>
          <a:xfrm>
            <a:off x="5866450" y="2320792"/>
            <a:ext cx="17400" cy="515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677" name="Google Shape;677;p12"/>
          <p:cNvSpPr/>
          <p:nvPr/>
        </p:nvSpPr>
        <p:spPr>
          <a:xfrm>
            <a:off x="6800443" y="2851119"/>
            <a:ext cx="344100" cy="344100"/>
          </a:xfrm>
          <a:prstGeom prst="diamond">
            <a:avLst/>
          </a:prstGeom>
          <a:solidFill>
            <a:srgbClr val="38761D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0950" tIns="30475" rIns="60950" bIns="304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u="none" strike="noStrike" cap="none">
              <a:solidFill>
                <a:srgbClr val="FFFFFF"/>
              </a:solidFill>
              <a:latin typeface="Wix Madefor Display" panose="020B0503020203020203" pitchFamily="34" charset="77"/>
              <a:cs typeface="Wix Madefor Display" panose="020B0503020203020203" pitchFamily="34" charset="77"/>
              <a:sym typeface="Arial"/>
            </a:endParaRPr>
          </a:p>
        </p:txBody>
      </p:sp>
      <p:cxnSp>
        <p:nvCxnSpPr>
          <p:cNvPr id="678" name="Google Shape;678;p12"/>
          <p:cNvCxnSpPr>
            <a:stCxn id="677" idx="2"/>
            <a:endCxn id="679" idx="0"/>
          </p:cNvCxnSpPr>
          <p:nvPr/>
        </p:nvCxnSpPr>
        <p:spPr>
          <a:xfrm>
            <a:off x="6972493" y="3195219"/>
            <a:ext cx="0" cy="492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679" name="Google Shape;679;p12"/>
          <p:cNvSpPr/>
          <p:nvPr/>
        </p:nvSpPr>
        <p:spPr>
          <a:xfrm>
            <a:off x="6800443" y="3687278"/>
            <a:ext cx="344100" cy="344100"/>
          </a:xfrm>
          <a:prstGeom prst="diamond">
            <a:avLst/>
          </a:prstGeom>
          <a:solidFill>
            <a:srgbClr val="38761D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0950" tIns="30475" rIns="60950" bIns="304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u="none" strike="noStrike" cap="none">
              <a:solidFill>
                <a:srgbClr val="FFFFFF"/>
              </a:solidFill>
              <a:latin typeface="Wix Madefor Display" panose="020B0503020203020203" pitchFamily="34" charset="77"/>
              <a:cs typeface="Wix Madefor Display" panose="020B0503020203020203" pitchFamily="34" charset="77"/>
              <a:sym typeface="Arial"/>
            </a:endParaRPr>
          </a:p>
        </p:txBody>
      </p:sp>
      <p:sp>
        <p:nvSpPr>
          <p:cNvPr id="680" name="Google Shape;680;p12"/>
          <p:cNvSpPr/>
          <p:nvPr/>
        </p:nvSpPr>
        <p:spPr>
          <a:xfrm>
            <a:off x="7467042" y="3687278"/>
            <a:ext cx="344100" cy="344100"/>
          </a:xfrm>
          <a:prstGeom prst="diamond">
            <a:avLst/>
          </a:prstGeom>
          <a:solidFill>
            <a:srgbClr val="38761D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0950" tIns="30475" rIns="60950" bIns="304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u="none" strike="noStrike" cap="none">
              <a:solidFill>
                <a:srgbClr val="FFFFFF"/>
              </a:solidFill>
              <a:latin typeface="Wix Madefor Display" panose="020B0503020203020203" pitchFamily="34" charset="77"/>
              <a:cs typeface="Wix Madefor Display" panose="020B0503020203020203" pitchFamily="34" charset="77"/>
              <a:sym typeface="Arial"/>
            </a:endParaRPr>
          </a:p>
        </p:txBody>
      </p:sp>
      <p:cxnSp>
        <p:nvCxnSpPr>
          <p:cNvPr id="681" name="Google Shape;681;p12"/>
          <p:cNvCxnSpPr>
            <a:endCxn id="682" idx="0"/>
          </p:cNvCxnSpPr>
          <p:nvPr/>
        </p:nvCxnSpPr>
        <p:spPr>
          <a:xfrm>
            <a:off x="7639092" y="4012523"/>
            <a:ext cx="0" cy="457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682" name="Google Shape;682;p12"/>
          <p:cNvSpPr/>
          <p:nvPr/>
        </p:nvSpPr>
        <p:spPr>
          <a:xfrm>
            <a:off x="7467042" y="4470023"/>
            <a:ext cx="344100" cy="344100"/>
          </a:xfrm>
          <a:prstGeom prst="diamond">
            <a:avLst/>
          </a:prstGeom>
          <a:solidFill>
            <a:srgbClr val="38761D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0950" tIns="30475" rIns="60950" bIns="304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u="none" strike="noStrike" cap="none">
              <a:solidFill>
                <a:srgbClr val="FFFFFF"/>
              </a:solidFill>
              <a:latin typeface="Wix Madefor Display" panose="020B0503020203020203" pitchFamily="34" charset="77"/>
              <a:cs typeface="Wix Madefor Display" panose="020B0503020203020203" pitchFamily="34" charset="77"/>
              <a:sym typeface="Arial"/>
            </a:endParaRPr>
          </a:p>
        </p:txBody>
      </p:sp>
      <p:sp>
        <p:nvSpPr>
          <p:cNvPr id="683" name="Google Shape;683;p12"/>
          <p:cNvSpPr/>
          <p:nvPr/>
        </p:nvSpPr>
        <p:spPr>
          <a:xfrm>
            <a:off x="8337482" y="4470023"/>
            <a:ext cx="344100" cy="344100"/>
          </a:xfrm>
          <a:prstGeom prst="diamond">
            <a:avLst/>
          </a:prstGeom>
          <a:solidFill>
            <a:srgbClr val="38761D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0950" tIns="30475" rIns="60950" bIns="304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u="none" strike="noStrike" cap="none">
              <a:solidFill>
                <a:srgbClr val="FFFFFF"/>
              </a:solidFill>
              <a:latin typeface="Wix Madefor Display" panose="020B0503020203020203" pitchFamily="34" charset="77"/>
              <a:cs typeface="Wix Madefor Display" panose="020B0503020203020203" pitchFamily="34" charset="77"/>
              <a:sym typeface="Arial"/>
            </a:endParaRPr>
          </a:p>
        </p:txBody>
      </p:sp>
      <p:cxnSp>
        <p:nvCxnSpPr>
          <p:cNvPr id="684" name="Google Shape;684;p12"/>
          <p:cNvCxnSpPr/>
          <p:nvPr/>
        </p:nvCxnSpPr>
        <p:spPr>
          <a:xfrm>
            <a:off x="8515077" y="4805305"/>
            <a:ext cx="0" cy="457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685" name="Google Shape;685;p12"/>
          <p:cNvSpPr/>
          <p:nvPr/>
        </p:nvSpPr>
        <p:spPr>
          <a:xfrm>
            <a:off x="8343005" y="5250369"/>
            <a:ext cx="344100" cy="344100"/>
          </a:xfrm>
          <a:prstGeom prst="diamond">
            <a:avLst/>
          </a:prstGeom>
          <a:solidFill>
            <a:srgbClr val="38761D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0950" tIns="30475" rIns="60950" bIns="304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u="none" strike="noStrike" cap="none">
              <a:solidFill>
                <a:srgbClr val="FFFFFF"/>
              </a:solidFill>
              <a:latin typeface="Wix Madefor Display" panose="020B0503020203020203" pitchFamily="34" charset="77"/>
              <a:cs typeface="Wix Madefor Display" panose="020B0503020203020203" pitchFamily="34" charset="77"/>
              <a:sym typeface="Arial"/>
            </a:endParaRPr>
          </a:p>
        </p:txBody>
      </p:sp>
      <p:sp>
        <p:nvSpPr>
          <p:cNvPr id="686" name="Google Shape;686;p12"/>
          <p:cNvSpPr txBox="1"/>
          <p:nvPr/>
        </p:nvSpPr>
        <p:spPr>
          <a:xfrm>
            <a:off x="9717047" y="1874075"/>
            <a:ext cx="22452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u="none" strike="noStrike" cap="none">
                <a:solidFill>
                  <a:srgbClr val="000000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Conclusion of interviews with SMEs and mapping of key processes</a:t>
            </a:r>
            <a:endParaRPr sz="900" u="none" strike="noStrike" cap="none">
              <a:solidFill>
                <a:srgbClr val="000000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687" name="Google Shape;687;p12"/>
          <p:cNvSpPr txBox="1"/>
          <p:nvPr/>
        </p:nvSpPr>
        <p:spPr>
          <a:xfrm>
            <a:off x="9717047" y="2739236"/>
            <a:ext cx="22452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u="none" strike="noStrike" cap="none">
                <a:solidFill>
                  <a:srgbClr val="000000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Mapping of processes/ pain points to AI applications with highest potential ROI</a:t>
            </a:r>
            <a:endParaRPr sz="900" u="none" strike="noStrike" cap="none">
              <a:solidFill>
                <a:srgbClr val="000000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688" name="Google Shape;688;p12"/>
          <p:cNvSpPr txBox="1"/>
          <p:nvPr/>
        </p:nvSpPr>
        <p:spPr>
          <a:xfrm>
            <a:off x="9717047" y="3550565"/>
            <a:ext cx="22452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u="none" strike="noStrike" cap="none">
                <a:solidFill>
                  <a:srgbClr val="000000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Alignment b/w Zurich and FurtherAI and development of POC</a:t>
            </a:r>
            <a:endParaRPr sz="900" u="none" strike="noStrike" cap="none">
              <a:solidFill>
                <a:srgbClr val="000000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689" name="Google Shape;689;p12"/>
          <p:cNvSpPr txBox="1"/>
          <p:nvPr/>
        </p:nvSpPr>
        <p:spPr>
          <a:xfrm>
            <a:off x="9717045" y="4293348"/>
            <a:ext cx="2245200" cy="800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u="none" strike="noStrike" cap="none">
                <a:solidFill>
                  <a:srgbClr val="000000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Alignment on the scope of our collaboration and preparation for implementation kick-off</a:t>
            </a:r>
            <a:endParaRPr sz="900" u="none" strike="noStrike" cap="none">
              <a:solidFill>
                <a:srgbClr val="000000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pic>
        <p:nvPicPr>
          <p:cNvPr id="690" name="Google Shape;690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0700" y="207358"/>
            <a:ext cx="1382933" cy="29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1" name="Google Shape;691;p12" title="Zurich_Insurance_Group_logo.svg (1)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55252" y="328083"/>
            <a:ext cx="580500" cy="36425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92" name="Google Shape;692;p12"/>
          <p:cNvCxnSpPr/>
          <p:nvPr/>
        </p:nvCxnSpPr>
        <p:spPr>
          <a:xfrm>
            <a:off x="3942863" y="1776945"/>
            <a:ext cx="0" cy="4076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93" name="Google Shape;693;p12"/>
          <p:cNvSpPr/>
          <p:nvPr/>
        </p:nvSpPr>
        <p:spPr>
          <a:xfrm>
            <a:off x="3683513" y="5846194"/>
            <a:ext cx="518700" cy="246300"/>
          </a:xfrm>
          <a:prstGeom prst="triangle">
            <a:avLst>
              <a:gd name="adj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u="none" strike="noStrike" cap="none">
              <a:solidFill>
                <a:srgbClr val="000000"/>
              </a:solidFill>
              <a:latin typeface="Wix Madefor Display" panose="020B0503020203020203" pitchFamily="34" charset="77"/>
              <a:cs typeface="Wix Madefor Display" panose="020B0503020203020203" pitchFamily="34" charset="77"/>
              <a:sym typeface="Arial"/>
            </a:endParaRPr>
          </a:p>
        </p:txBody>
      </p:sp>
      <p:sp>
        <p:nvSpPr>
          <p:cNvPr id="694" name="Google Shape;694;p12"/>
          <p:cNvSpPr txBox="1"/>
          <p:nvPr/>
        </p:nvSpPr>
        <p:spPr>
          <a:xfrm>
            <a:off x="3249415" y="6091869"/>
            <a:ext cx="1383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u="none" strike="noStrike" cap="none">
                <a:solidFill>
                  <a:srgbClr val="000000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Today (5/14)</a:t>
            </a:r>
            <a:endParaRPr sz="700" u="none" strike="noStrike" cap="none">
              <a:solidFill>
                <a:srgbClr val="000000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695" name="Google Shape;695;p12"/>
          <p:cNvSpPr/>
          <p:nvPr/>
        </p:nvSpPr>
        <p:spPr>
          <a:xfrm>
            <a:off x="7509275" y="389525"/>
            <a:ext cx="258600" cy="261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u="none" strike="noStrike" cap="none">
              <a:solidFill>
                <a:srgbClr val="000000"/>
              </a:solidFill>
              <a:latin typeface="Wix Madefor Display" panose="020B0503020203020203" pitchFamily="34" charset="77"/>
              <a:cs typeface="Wix Madefor Display" panose="020B0503020203020203" pitchFamily="34" charset="77"/>
              <a:sym typeface="Arial"/>
            </a:endParaRPr>
          </a:p>
        </p:txBody>
      </p:sp>
      <p:sp>
        <p:nvSpPr>
          <p:cNvPr id="696" name="Google Shape;696;p12"/>
          <p:cNvSpPr txBox="1"/>
          <p:nvPr/>
        </p:nvSpPr>
        <p:spPr>
          <a:xfrm>
            <a:off x="7802569" y="392019"/>
            <a:ext cx="11715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u="none" strike="noStrike" cap="none">
                <a:solidFill>
                  <a:srgbClr val="000000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Current focus</a:t>
            </a:r>
            <a:endParaRPr sz="900" u="none" strike="noStrike" cap="none">
              <a:solidFill>
                <a:srgbClr val="000000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697" name="Google Shape;697;p12"/>
          <p:cNvSpPr/>
          <p:nvPr/>
        </p:nvSpPr>
        <p:spPr>
          <a:xfrm>
            <a:off x="4926919" y="5699050"/>
            <a:ext cx="7265155" cy="11616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u="sng" strike="noStrike" cap="none">
                <a:solidFill>
                  <a:srgbClr val="000000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Next steps</a:t>
            </a:r>
            <a:endParaRPr sz="1400" u="sng" strike="noStrike" cap="none">
              <a:solidFill>
                <a:srgbClr val="000000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Quattrocento"/>
              <a:buChar char="●"/>
            </a:pPr>
            <a:r>
              <a:rPr lang="en-US" sz="1400" u="none" strike="noStrike" cap="none">
                <a:solidFill>
                  <a:srgbClr val="000000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[Zurich] Share additional high-level processes beyond new business MM</a:t>
            </a:r>
            <a:endParaRPr>
              <a:latin typeface="Wix Madefor Display" panose="020B0503020203020203" pitchFamily="34" charset="77"/>
              <a:cs typeface="Wix Madefor Display" panose="020B0503020203020203" pitchFamily="34" charset="77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Quattrocento"/>
              <a:buChar char="●"/>
            </a:pPr>
            <a:r>
              <a:rPr lang="en-US" sz="1400" u="none" strike="noStrike" cap="none">
                <a:solidFill>
                  <a:srgbClr val="000000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[FurtherAI] Hold working group session to validate / adjust mapped processes and expand to new </a:t>
            </a:r>
            <a:r>
              <a:rPr lang="en-US"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ones</a:t>
            </a:r>
            <a:r>
              <a:rPr lang="en-US" sz="1400" u="none" strike="noStrike" cap="none">
                <a:solidFill>
                  <a:srgbClr val="000000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 (with Crystal’s team)</a:t>
            </a:r>
            <a:endParaRPr sz="1400" u="none" strike="noStrike" cap="none">
              <a:solidFill>
                <a:srgbClr val="000000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  <p:sp>
        <p:nvSpPr>
          <p:cNvPr id="698" name="Google Shape;698;p12"/>
          <p:cNvSpPr txBox="1"/>
          <p:nvPr/>
        </p:nvSpPr>
        <p:spPr>
          <a:xfrm>
            <a:off x="692725" y="1868638"/>
            <a:ext cx="1846500" cy="6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Process</a:t>
            </a:r>
            <a:r>
              <a:rPr lang="en-US" sz="1300" u="none" strike="noStrike" cap="none">
                <a:solidFill>
                  <a:srgbClr val="000000"/>
                </a:solidFill>
                <a:latin typeface="Wix Madefor Display" panose="020B0503020203020203" pitchFamily="34" charset="77"/>
                <a:ea typeface="Quattrocento"/>
                <a:cs typeface="Wix Madefor Display" panose="020B0503020203020203" pitchFamily="34" charset="77"/>
                <a:sym typeface="Quattrocento"/>
              </a:rPr>
              <a:t> mapping (via interviews) and initial prioritization</a:t>
            </a:r>
            <a:endParaRPr sz="900" u="none" strike="noStrike" cap="none">
              <a:solidFill>
                <a:srgbClr val="000000"/>
              </a:solidFill>
              <a:latin typeface="Wix Madefor Display" panose="020B0503020203020203" pitchFamily="34" charset="77"/>
              <a:ea typeface="Quattrocento"/>
              <a:cs typeface="Wix Madefor Display" panose="020B0503020203020203" pitchFamily="34" charset="77"/>
              <a:sym typeface="Quattrocen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6"/>
          <p:cNvSpPr txBox="1"/>
          <p:nvPr/>
        </p:nvSpPr>
        <p:spPr>
          <a:xfrm>
            <a:off x="5773067" y="4137017"/>
            <a:ext cx="3023600" cy="800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r>
              <a:rPr lang="en-US" sz="1467" b="1">
                <a:solidFill>
                  <a:srgbClr val="14161C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Joint scale </a:t>
            </a:r>
            <a:endParaRPr sz="1467" b="1">
              <a:solidFill>
                <a:srgbClr val="14161C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  <a:p>
            <a:r>
              <a:rPr lang="en-US" sz="1467">
                <a:solidFill>
                  <a:srgbClr val="14161C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We expand the joint motion across more of their network </a:t>
            </a:r>
            <a:endParaRPr sz="1467">
              <a:solidFill>
                <a:srgbClr val="14161C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119" name="Google Shape;119;p16"/>
          <p:cNvSpPr txBox="1"/>
          <p:nvPr/>
        </p:nvSpPr>
        <p:spPr>
          <a:xfrm>
            <a:off x="609600" y="784924"/>
            <a:ext cx="10972800" cy="635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r>
              <a:rPr lang="en-US" sz="3333">
                <a:solidFill>
                  <a:srgbClr val="14161C"/>
                </a:solidFill>
                <a:latin typeface="Fraunces"/>
                <a:ea typeface="Fraunces"/>
                <a:cs typeface="Fraunces"/>
                <a:sym typeface="Fraunces"/>
              </a:rPr>
              <a:t>2. Two concrete partnership options emerge</a:t>
            </a:r>
            <a:endParaRPr sz="1867">
              <a:latin typeface="Fraunces"/>
              <a:ea typeface="Fraunces"/>
              <a:cs typeface="Fraunces"/>
              <a:sym typeface="Fraunces"/>
            </a:endParaRPr>
          </a:p>
        </p:txBody>
      </p:sp>
      <p:sp>
        <p:nvSpPr>
          <p:cNvPr id="120" name="Google Shape;120;p16"/>
          <p:cNvSpPr/>
          <p:nvPr/>
        </p:nvSpPr>
        <p:spPr>
          <a:xfrm>
            <a:off x="1999467" y="1736415"/>
            <a:ext cx="3773600" cy="512000"/>
          </a:xfrm>
          <a:prstGeom prst="homePlate">
            <a:avLst>
              <a:gd name="adj" fmla="val 50000"/>
            </a:avLst>
          </a:prstGeom>
          <a:solidFill>
            <a:srgbClr val="274E1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-US" sz="1867">
                <a:solidFill>
                  <a:schemeClr val="l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Phase 1</a:t>
            </a:r>
            <a:endParaRPr sz="1867">
              <a:solidFill>
                <a:schemeClr val="lt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121" name="Google Shape;121;p16"/>
          <p:cNvSpPr/>
          <p:nvPr/>
        </p:nvSpPr>
        <p:spPr>
          <a:xfrm>
            <a:off x="5728293" y="1748615"/>
            <a:ext cx="3176000" cy="512000"/>
          </a:xfrm>
          <a:prstGeom prst="chevron">
            <a:avLst>
              <a:gd name="adj" fmla="val 50000"/>
            </a:avLst>
          </a:prstGeom>
          <a:solidFill>
            <a:srgbClr val="274E1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-US" sz="1867">
                <a:solidFill>
                  <a:schemeClr val="l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Phase 2</a:t>
            </a:r>
            <a:endParaRPr sz="1867">
              <a:solidFill>
                <a:schemeClr val="lt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122" name="Google Shape;122;p16"/>
          <p:cNvSpPr/>
          <p:nvPr/>
        </p:nvSpPr>
        <p:spPr>
          <a:xfrm>
            <a:off x="8859520" y="1748615"/>
            <a:ext cx="3176000" cy="512000"/>
          </a:xfrm>
          <a:prstGeom prst="chevron">
            <a:avLst>
              <a:gd name="adj" fmla="val 50000"/>
            </a:avLst>
          </a:prstGeom>
          <a:solidFill>
            <a:srgbClr val="274E1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-US" sz="1867">
                <a:solidFill>
                  <a:schemeClr val="l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Phase 3</a:t>
            </a:r>
            <a:endParaRPr sz="1867">
              <a:solidFill>
                <a:schemeClr val="lt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123" name="Google Shape;123;p16"/>
          <p:cNvSpPr txBox="1"/>
          <p:nvPr/>
        </p:nvSpPr>
        <p:spPr>
          <a:xfrm>
            <a:off x="545435" y="2373218"/>
            <a:ext cx="1350400" cy="574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r>
              <a:rPr lang="en-US" sz="1467" b="1">
                <a:solidFill>
                  <a:srgbClr val="14161C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Customer first</a:t>
            </a:r>
            <a:endParaRPr sz="1200" b="1"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124" name="Google Shape;124;p16"/>
          <p:cNvSpPr txBox="1"/>
          <p:nvPr/>
        </p:nvSpPr>
        <p:spPr>
          <a:xfrm>
            <a:off x="2071464" y="2373217"/>
            <a:ext cx="3451600" cy="1251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SzPts val="1100"/>
            </a:pPr>
            <a:r>
              <a:rPr lang="en-US" sz="1467" b="1">
                <a:solidFill>
                  <a:srgbClr val="14161C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Customer</a:t>
            </a:r>
            <a:endParaRPr sz="1467" b="1">
              <a:solidFill>
                <a:srgbClr val="14161C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  <a:p>
            <a:pPr>
              <a:buSzPts val="1100"/>
            </a:pPr>
            <a:r>
              <a:rPr lang="en-US" sz="1467">
                <a:solidFill>
                  <a:srgbClr val="14161C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ResourcePro adopts FurtherAI internally. Builds usage and the "we run it ourselves" credibility they need to resell.</a:t>
            </a:r>
            <a:endParaRPr sz="1467">
              <a:solidFill>
                <a:srgbClr val="14161C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125" name="Google Shape;125;p16"/>
          <p:cNvSpPr txBox="1"/>
          <p:nvPr/>
        </p:nvSpPr>
        <p:spPr>
          <a:xfrm>
            <a:off x="545435" y="4137018"/>
            <a:ext cx="1350400" cy="574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r>
              <a:rPr lang="en-US" sz="1467" b="1">
                <a:solidFill>
                  <a:srgbClr val="14161C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Solutioning first</a:t>
            </a:r>
            <a:endParaRPr sz="1200" b="1"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126" name="Google Shape;126;p16"/>
          <p:cNvSpPr txBox="1"/>
          <p:nvPr/>
        </p:nvSpPr>
        <p:spPr>
          <a:xfrm>
            <a:off x="2071464" y="4137017"/>
            <a:ext cx="3451600" cy="1026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r>
              <a:rPr lang="en-US" sz="1467" b="1">
                <a:solidFill>
                  <a:srgbClr val="14161C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Joint build (one client)</a:t>
            </a:r>
            <a:endParaRPr sz="1467" b="1">
              <a:solidFill>
                <a:srgbClr val="14161C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  <a:p>
            <a:r>
              <a:rPr lang="en-US" sz="1467">
                <a:solidFill>
                  <a:srgbClr val="14161C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FurtherAI leads solutioning into one of RP client accounts; ResourcePro brings the relationship.</a:t>
            </a:r>
            <a:endParaRPr sz="1467">
              <a:solidFill>
                <a:srgbClr val="14161C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127" name="Google Shape;127;p16"/>
          <p:cNvSpPr txBox="1"/>
          <p:nvPr/>
        </p:nvSpPr>
        <p:spPr>
          <a:xfrm>
            <a:off x="5773067" y="2373217"/>
            <a:ext cx="3023600" cy="1251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r>
              <a:rPr lang="en-US" sz="1467" b="1">
                <a:solidFill>
                  <a:srgbClr val="14161C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Joint solutioning</a:t>
            </a:r>
            <a:endParaRPr sz="1467" b="1">
              <a:solidFill>
                <a:srgbClr val="14161C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  <a:p>
            <a:r>
              <a:rPr lang="en-US" sz="1467">
                <a:solidFill>
                  <a:srgbClr val="14161C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We co-identify deals and deploy them together into their network. FurtherAI holds the direct contract.</a:t>
            </a:r>
            <a:endParaRPr sz="1200"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128" name="Google Shape;128;p16"/>
          <p:cNvSpPr txBox="1"/>
          <p:nvPr/>
        </p:nvSpPr>
        <p:spPr>
          <a:xfrm>
            <a:off x="8904300" y="4137017"/>
            <a:ext cx="3023600" cy="800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r>
              <a:rPr lang="en-US" sz="1467" b="1">
                <a:solidFill>
                  <a:srgbClr val="14161C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Independent solutioning</a:t>
            </a:r>
            <a:endParaRPr sz="1467" b="1">
              <a:solidFill>
                <a:srgbClr val="14161C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  <a:p>
            <a:r>
              <a:rPr lang="en-US" sz="1467">
                <a:solidFill>
                  <a:srgbClr val="14161C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ResourcePro extends on top of the deployed base.</a:t>
            </a:r>
            <a:endParaRPr sz="1467">
              <a:solidFill>
                <a:srgbClr val="14161C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129" name="Google Shape;129;p16"/>
          <p:cNvSpPr txBox="1"/>
          <p:nvPr/>
        </p:nvSpPr>
        <p:spPr>
          <a:xfrm>
            <a:off x="8904300" y="2373217"/>
            <a:ext cx="3023600" cy="800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r>
              <a:rPr lang="en-US" sz="1467" b="1">
                <a:solidFill>
                  <a:srgbClr val="14161C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Independent solutioning</a:t>
            </a:r>
            <a:endParaRPr sz="1467" b="1">
              <a:solidFill>
                <a:srgbClr val="14161C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  <a:p>
            <a:r>
              <a:rPr lang="en-US" sz="1467">
                <a:solidFill>
                  <a:srgbClr val="14161C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ResourcePro solutions on top of the base we've already built.</a:t>
            </a:r>
            <a:endParaRPr sz="1200"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cxnSp>
        <p:nvCxnSpPr>
          <p:cNvPr id="130" name="Google Shape;130;p16"/>
          <p:cNvCxnSpPr/>
          <p:nvPr/>
        </p:nvCxnSpPr>
        <p:spPr>
          <a:xfrm>
            <a:off x="676667" y="3873467"/>
            <a:ext cx="11241200" cy="0"/>
          </a:xfrm>
          <a:prstGeom prst="straightConnector1">
            <a:avLst/>
          </a:prstGeom>
          <a:noFill/>
          <a:ln w="9525" cap="flat" cmpd="sng">
            <a:solidFill>
              <a:srgbClr val="888888"/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131" name="Google Shape;131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32100" y="226201"/>
            <a:ext cx="1350299" cy="28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/>
          <p:nvPr/>
        </p:nvSpPr>
        <p:spPr>
          <a:xfrm>
            <a:off x="566933" y="5307300"/>
            <a:ext cx="11360800" cy="1252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8888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R="507987"/>
            <a:r>
              <a:rPr lang="en-US" sz="1333" b="1">
                <a:solidFill>
                  <a:schemeClr val="dk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Our recommendation: a starting point to shape together. </a:t>
            </a:r>
            <a:r>
              <a:rPr lang="en-US" sz="1333">
                <a:solidFill>
                  <a:schemeClr val="dk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We'd suggest </a:t>
            </a:r>
            <a:r>
              <a:rPr lang="en-US" sz="1333" b="1">
                <a:solidFill>
                  <a:schemeClr val="dk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beginning with a focused first step and scaling toward Resource Pro-led solutioning</a:t>
            </a:r>
            <a:r>
              <a:rPr lang="en-US" sz="1333">
                <a:solidFill>
                  <a:schemeClr val="dk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 as we build a shared delivery track record. </a:t>
            </a:r>
            <a:r>
              <a:rPr lang="en-US" sz="1333" b="1">
                <a:solidFill>
                  <a:schemeClr val="dk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The phasing is deliberate</a:t>
            </a:r>
            <a:r>
              <a:rPr lang="en-US" sz="1333">
                <a:solidFill>
                  <a:schemeClr val="dk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: start with one or two concrete wins, prove value together, then expand — rather than scoping everything up front. </a:t>
            </a:r>
            <a:endParaRPr sz="1333">
              <a:solidFill>
                <a:schemeClr val="dk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  <a:p>
            <a:pPr marR="507987"/>
            <a:endParaRPr sz="1333">
              <a:solidFill>
                <a:schemeClr val="dk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  <a:p>
            <a:pPr marR="507987"/>
            <a:r>
              <a:rPr lang="en-US" sz="1333" i="1">
                <a:solidFill>
                  <a:schemeClr val="dk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This is meant as a basis for discussion, and </a:t>
            </a:r>
            <a:r>
              <a:rPr lang="en-US" sz="1333" b="1" i="1">
                <a:solidFill>
                  <a:schemeClr val="dk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we'd welcome your input </a:t>
            </a:r>
            <a:r>
              <a:rPr lang="en-US" sz="1333" i="1">
                <a:solidFill>
                  <a:schemeClr val="dk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on where to begin and how fast to move.</a:t>
            </a:r>
            <a:endParaRPr sz="1733" i="1"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32100" y="226201"/>
            <a:ext cx="1350299" cy="28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/>
        </p:nvSpPr>
        <p:spPr>
          <a:xfrm>
            <a:off x="548640" y="505087"/>
            <a:ext cx="10058400" cy="512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333">
                <a:solidFill>
                  <a:srgbClr val="14161C"/>
                </a:solidFill>
                <a:latin typeface="Fraunces"/>
                <a:ea typeface="Fraunces"/>
                <a:cs typeface="Fraunces"/>
                <a:sym typeface="Fraunces"/>
              </a:rPr>
              <a:t>2. Typical pricing structure</a:t>
            </a:r>
            <a:endParaRPr sz="3333">
              <a:latin typeface="Fraunces"/>
              <a:ea typeface="Fraunces"/>
              <a:cs typeface="Fraunces"/>
              <a:sym typeface="Fraunces"/>
            </a:endParaRPr>
          </a:p>
        </p:txBody>
      </p:sp>
      <p:sp>
        <p:nvSpPr>
          <p:cNvPr id="139" name="Google Shape;139;p17"/>
          <p:cNvSpPr txBox="1"/>
          <p:nvPr/>
        </p:nvSpPr>
        <p:spPr>
          <a:xfrm>
            <a:off x="595617" y="1449219"/>
            <a:ext cx="210280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600" b="1">
                <a:solidFill>
                  <a:srgbClr val="1E1E2E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Component</a:t>
            </a:r>
            <a:endParaRPr sz="1467"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140" name="Google Shape;140;p17"/>
          <p:cNvSpPr txBox="1"/>
          <p:nvPr/>
        </p:nvSpPr>
        <p:spPr>
          <a:xfrm>
            <a:off x="2951624" y="1449219"/>
            <a:ext cx="457200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600" b="1">
                <a:solidFill>
                  <a:srgbClr val="1E1E2E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Description</a:t>
            </a:r>
            <a:endParaRPr sz="1467"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141" name="Google Shape;141;p17"/>
          <p:cNvSpPr txBox="1"/>
          <p:nvPr/>
        </p:nvSpPr>
        <p:spPr>
          <a:xfrm>
            <a:off x="8725077" y="1449219"/>
            <a:ext cx="228600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600" b="1">
                <a:solidFill>
                  <a:srgbClr val="1E1E2E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Fee type</a:t>
            </a:r>
            <a:endParaRPr sz="1467"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142" name="Google Shape;142;p17"/>
          <p:cNvSpPr txBox="1"/>
          <p:nvPr/>
        </p:nvSpPr>
        <p:spPr>
          <a:xfrm>
            <a:off x="608428" y="1828800"/>
            <a:ext cx="2049200" cy="225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467">
                <a:solidFill>
                  <a:srgbClr val="1E1E2E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Workflow Subscription</a:t>
            </a:r>
            <a:endParaRPr sz="1467"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143" name="Google Shape;143;p17"/>
          <p:cNvSpPr txBox="1"/>
          <p:nvPr/>
        </p:nvSpPr>
        <p:spPr>
          <a:xfrm>
            <a:off x="2951625" y="1828801"/>
            <a:ext cx="5483200" cy="410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333">
                <a:solidFill>
                  <a:srgbClr val="1E1E2E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Annual access to each AI workflow; per-workflow rate with usage commitment (min. runs or documents) and overage pricing</a:t>
            </a:r>
            <a:endParaRPr sz="1333">
              <a:solidFill>
                <a:srgbClr val="1E1E2E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144" name="Google Shape;144;p17"/>
          <p:cNvSpPr txBox="1"/>
          <p:nvPr/>
        </p:nvSpPr>
        <p:spPr>
          <a:xfrm>
            <a:off x="8725077" y="1818167"/>
            <a:ext cx="2286000" cy="451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467" b="1">
                <a:solidFill>
                  <a:srgbClr val="1E1E2E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Annual fee </a:t>
            </a:r>
            <a:r>
              <a:rPr lang="en-US" sz="1467">
                <a:solidFill>
                  <a:srgbClr val="1E1E2E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– depends on usage </a:t>
            </a:r>
            <a:endParaRPr sz="1467">
              <a:solidFill>
                <a:srgbClr val="1E1E2E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145" name="Google Shape;145;p17"/>
          <p:cNvSpPr txBox="1"/>
          <p:nvPr/>
        </p:nvSpPr>
        <p:spPr>
          <a:xfrm>
            <a:off x="608428" y="2427387"/>
            <a:ext cx="2240400" cy="225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467">
                <a:solidFill>
                  <a:srgbClr val="1E1E2E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Platform &amp; Tenant Fee</a:t>
            </a:r>
            <a:endParaRPr sz="1467"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146" name="Google Shape;146;p17"/>
          <p:cNvSpPr txBox="1"/>
          <p:nvPr/>
        </p:nvSpPr>
        <p:spPr>
          <a:xfrm>
            <a:off x="2951779" y="2427389"/>
            <a:ext cx="5483200" cy="410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333">
                <a:solidFill>
                  <a:srgbClr val="1E1E2E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Dedicated single-tenant environment, platform access, monitoring &amp; standard support</a:t>
            </a:r>
            <a:endParaRPr sz="1333"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147" name="Google Shape;147;p17"/>
          <p:cNvSpPr txBox="1"/>
          <p:nvPr/>
        </p:nvSpPr>
        <p:spPr>
          <a:xfrm>
            <a:off x="8725077" y="2416754"/>
            <a:ext cx="2286000" cy="225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467" b="1">
                <a:solidFill>
                  <a:srgbClr val="1E1E2E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Annual fee </a:t>
            </a:r>
            <a:endParaRPr sz="1467">
              <a:solidFill>
                <a:srgbClr val="1E1E2E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148" name="Google Shape;148;p17"/>
          <p:cNvSpPr txBox="1"/>
          <p:nvPr/>
        </p:nvSpPr>
        <p:spPr>
          <a:xfrm>
            <a:off x="608428" y="4013381"/>
            <a:ext cx="2240400" cy="225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467">
                <a:solidFill>
                  <a:srgbClr val="1E1E2E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User Access</a:t>
            </a:r>
            <a:endParaRPr sz="1467"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149" name="Google Shape;149;p17"/>
          <p:cNvSpPr txBox="1"/>
          <p:nvPr/>
        </p:nvSpPr>
        <p:spPr>
          <a:xfrm>
            <a:off x="2951775" y="4013385"/>
            <a:ext cx="4816800" cy="205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333">
                <a:solidFill>
                  <a:srgbClr val="1E1E2E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Named platform seats with full workflow access</a:t>
            </a:r>
            <a:endParaRPr sz="1333"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150" name="Google Shape;150;p17"/>
          <p:cNvSpPr txBox="1"/>
          <p:nvPr/>
        </p:nvSpPr>
        <p:spPr>
          <a:xfrm>
            <a:off x="8725069" y="4002746"/>
            <a:ext cx="1690000" cy="225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467" b="1">
                <a:solidFill>
                  <a:srgbClr val="1E1E2E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Variable </a:t>
            </a:r>
            <a:r>
              <a:rPr lang="en-US" sz="1467">
                <a:solidFill>
                  <a:srgbClr val="1E1E2E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– per user</a:t>
            </a:r>
            <a:endParaRPr sz="1467"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151" name="Google Shape;151;p17"/>
          <p:cNvSpPr txBox="1"/>
          <p:nvPr/>
        </p:nvSpPr>
        <p:spPr>
          <a:xfrm>
            <a:off x="608428" y="3551679"/>
            <a:ext cx="2240400" cy="225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467">
                <a:solidFill>
                  <a:srgbClr val="1E1E2E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Implementation &amp; Setup</a:t>
            </a:r>
            <a:endParaRPr sz="1467"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152" name="Google Shape;152;p17"/>
          <p:cNvSpPr txBox="1"/>
          <p:nvPr/>
        </p:nvSpPr>
        <p:spPr>
          <a:xfrm>
            <a:off x="2951775" y="3551683"/>
            <a:ext cx="4816800" cy="205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333">
                <a:solidFill>
                  <a:srgbClr val="1E1E2E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One-time configuration, workflow build &amp; deployment</a:t>
            </a:r>
            <a:endParaRPr sz="1333"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153" name="Google Shape;153;p17"/>
          <p:cNvSpPr txBox="1"/>
          <p:nvPr/>
        </p:nvSpPr>
        <p:spPr>
          <a:xfrm>
            <a:off x="8725075" y="3541054"/>
            <a:ext cx="1773600" cy="225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467" b="1">
                <a:solidFill>
                  <a:srgbClr val="1E1E2E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One-time fee</a:t>
            </a:r>
            <a:endParaRPr sz="1467" b="1">
              <a:solidFill>
                <a:srgbClr val="1E1E2E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154" name="Google Shape;154;p17"/>
          <p:cNvSpPr txBox="1"/>
          <p:nvPr/>
        </p:nvSpPr>
        <p:spPr>
          <a:xfrm>
            <a:off x="608428" y="2974191"/>
            <a:ext cx="2240400" cy="225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467">
                <a:solidFill>
                  <a:srgbClr val="1E1E2E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Integration</a:t>
            </a:r>
            <a:endParaRPr sz="1467"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155" name="Google Shape;155;p17"/>
          <p:cNvSpPr txBox="1"/>
          <p:nvPr/>
        </p:nvSpPr>
        <p:spPr>
          <a:xfrm>
            <a:off x="2951775" y="2974193"/>
            <a:ext cx="4816800" cy="410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333">
                <a:solidFill>
                  <a:srgbClr val="1E1E2E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Field mapping with existing systems (e.g., Policy Center) and API integration</a:t>
            </a:r>
            <a:endParaRPr sz="1333"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156" name="Google Shape;156;p17"/>
          <p:cNvSpPr txBox="1"/>
          <p:nvPr/>
        </p:nvSpPr>
        <p:spPr>
          <a:xfrm>
            <a:off x="8725077" y="2963558"/>
            <a:ext cx="2286000" cy="225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467" b="1">
                <a:solidFill>
                  <a:srgbClr val="1E1E2E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Variable </a:t>
            </a:r>
            <a:r>
              <a:rPr lang="en-US" sz="1467">
                <a:solidFill>
                  <a:srgbClr val="1E1E2E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— effort-based</a:t>
            </a:r>
            <a:endParaRPr sz="1467"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157" name="Google Shape;157;p17"/>
          <p:cNvSpPr txBox="1"/>
          <p:nvPr/>
        </p:nvSpPr>
        <p:spPr>
          <a:xfrm>
            <a:off x="580996" y="4458678"/>
            <a:ext cx="2240400" cy="225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467">
                <a:solidFill>
                  <a:srgbClr val="1E1E2E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Support &amp; Training</a:t>
            </a:r>
            <a:endParaRPr sz="1467"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158" name="Google Shape;158;p17"/>
          <p:cNvSpPr txBox="1"/>
          <p:nvPr/>
        </p:nvSpPr>
        <p:spPr>
          <a:xfrm>
            <a:off x="2970852" y="4458685"/>
            <a:ext cx="4816800" cy="205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333">
                <a:solidFill>
                  <a:srgbClr val="1E1E2E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Onboarding, training &amp; monthly office hours</a:t>
            </a:r>
            <a:endParaRPr sz="1333"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159" name="Google Shape;159;p17"/>
          <p:cNvSpPr txBox="1"/>
          <p:nvPr/>
        </p:nvSpPr>
        <p:spPr>
          <a:xfrm>
            <a:off x="8725069" y="4448049"/>
            <a:ext cx="1690000" cy="225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467" b="1">
                <a:solidFill>
                  <a:srgbClr val="1E1E2E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One-time fee</a:t>
            </a:r>
            <a:endParaRPr sz="1467" b="1">
              <a:solidFill>
                <a:srgbClr val="1E1E2E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cxnSp>
        <p:nvCxnSpPr>
          <p:cNvPr id="160" name="Google Shape;160;p17"/>
          <p:cNvCxnSpPr/>
          <p:nvPr/>
        </p:nvCxnSpPr>
        <p:spPr>
          <a:xfrm>
            <a:off x="602015" y="1737360"/>
            <a:ext cx="10530400" cy="0"/>
          </a:xfrm>
          <a:prstGeom prst="straightConnector1">
            <a:avLst/>
          </a:prstGeom>
          <a:noFill/>
          <a:ln w="143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1" name="Google Shape;161;p17"/>
          <p:cNvCxnSpPr/>
          <p:nvPr/>
        </p:nvCxnSpPr>
        <p:spPr>
          <a:xfrm>
            <a:off x="602015" y="2359323"/>
            <a:ext cx="10530400" cy="0"/>
          </a:xfrm>
          <a:prstGeom prst="straightConnector1">
            <a:avLst/>
          </a:prstGeom>
          <a:noFill/>
          <a:ln w="7150" cap="flat" cmpd="sng">
            <a:solidFill>
              <a:srgbClr val="7F7F7F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62" name="Google Shape;162;p17"/>
          <p:cNvCxnSpPr/>
          <p:nvPr/>
        </p:nvCxnSpPr>
        <p:spPr>
          <a:xfrm>
            <a:off x="602015" y="2905091"/>
            <a:ext cx="10453200" cy="0"/>
          </a:xfrm>
          <a:prstGeom prst="straightConnector1">
            <a:avLst/>
          </a:prstGeom>
          <a:noFill/>
          <a:ln w="7150" cap="flat" cmpd="sng">
            <a:solidFill>
              <a:srgbClr val="7F7F7F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63" name="Google Shape;163;p17"/>
          <p:cNvCxnSpPr/>
          <p:nvPr/>
        </p:nvCxnSpPr>
        <p:spPr>
          <a:xfrm>
            <a:off x="618177" y="3478235"/>
            <a:ext cx="10441200" cy="0"/>
          </a:xfrm>
          <a:prstGeom prst="straightConnector1">
            <a:avLst/>
          </a:prstGeom>
          <a:noFill/>
          <a:ln w="7150" cap="flat" cmpd="sng">
            <a:solidFill>
              <a:srgbClr val="7F7F7F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64" name="Google Shape;164;p17"/>
          <p:cNvCxnSpPr/>
          <p:nvPr/>
        </p:nvCxnSpPr>
        <p:spPr>
          <a:xfrm>
            <a:off x="607544" y="3905367"/>
            <a:ext cx="9807600" cy="0"/>
          </a:xfrm>
          <a:prstGeom prst="straightConnector1">
            <a:avLst/>
          </a:prstGeom>
          <a:noFill/>
          <a:ln w="7150" cap="flat" cmpd="sng">
            <a:solidFill>
              <a:srgbClr val="7F7F7F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65" name="Google Shape;165;p17"/>
          <p:cNvCxnSpPr/>
          <p:nvPr/>
        </p:nvCxnSpPr>
        <p:spPr>
          <a:xfrm>
            <a:off x="570649" y="4339463"/>
            <a:ext cx="9844400" cy="0"/>
          </a:xfrm>
          <a:prstGeom prst="straightConnector1">
            <a:avLst/>
          </a:prstGeom>
          <a:noFill/>
          <a:ln w="7150" cap="flat" cmpd="sng">
            <a:solidFill>
              <a:srgbClr val="7F7F7F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66" name="Google Shape;166;p17"/>
          <p:cNvSpPr/>
          <p:nvPr/>
        </p:nvSpPr>
        <p:spPr>
          <a:xfrm>
            <a:off x="10498700" y="3593332"/>
            <a:ext cx="108400" cy="1090800"/>
          </a:xfrm>
          <a:prstGeom prst="rightBrace">
            <a:avLst>
              <a:gd name="adj1" fmla="val 8333"/>
              <a:gd name="adj2" fmla="val 50000"/>
            </a:avLst>
          </a:prstGeom>
          <a:noFill/>
          <a:ln w="71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7"/>
          <p:cNvSpPr txBox="1"/>
          <p:nvPr/>
        </p:nvSpPr>
        <p:spPr>
          <a:xfrm>
            <a:off x="10744323" y="3740867"/>
            <a:ext cx="1234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200" b="1">
                <a:solidFill>
                  <a:srgbClr val="1E1E2E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To be waived</a:t>
            </a:r>
            <a:r>
              <a:rPr lang="en-US" sz="1200">
                <a:solidFill>
                  <a:srgbClr val="1E1E2E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 for high value prospective partners</a:t>
            </a:r>
            <a:endParaRPr sz="1200">
              <a:solidFill>
                <a:srgbClr val="1E1E2E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168" name="Google Shape;168;p17"/>
          <p:cNvSpPr txBox="1"/>
          <p:nvPr/>
        </p:nvSpPr>
        <p:spPr>
          <a:xfrm>
            <a:off x="570649" y="4918857"/>
            <a:ext cx="371840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600" b="1">
                <a:solidFill>
                  <a:srgbClr val="0A3318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Pricing across three options</a:t>
            </a:r>
            <a:endParaRPr sz="1600" b="1">
              <a:solidFill>
                <a:srgbClr val="0A3318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cxnSp>
        <p:nvCxnSpPr>
          <p:cNvPr id="169" name="Google Shape;169;p17"/>
          <p:cNvCxnSpPr/>
          <p:nvPr/>
        </p:nvCxnSpPr>
        <p:spPr>
          <a:xfrm>
            <a:off x="548640" y="5226037"/>
            <a:ext cx="11304800" cy="0"/>
          </a:xfrm>
          <a:prstGeom prst="straightConnector1">
            <a:avLst/>
          </a:prstGeom>
          <a:noFill/>
          <a:ln w="143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0" name="Google Shape;170;p17"/>
          <p:cNvSpPr/>
          <p:nvPr/>
        </p:nvSpPr>
        <p:spPr>
          <a:xfrm>
            <a:off x="4343276" y="5306437"/>
            <a:ext cx="3703200" cy="1018800"/>
          </a:xfrm>
          <a:prstGeom prst="rect">
            <a:avLst/>
          </a:prstGeom>
          <a:solidFill>
            <a:schemeClr val="lt1"/>
          </a:solidFill>
          <a:ln w="7150" cap="flat" cmpd="sng">
            <a:solidFill>
              <a:srgbClr val="14452A"/>
            </a:solidFill>
            <a:prstDash val="solid"/>
            <a:round/>
            <a:headEnd type="none" w="sm" len="sm"/>
            <a:tailEnd type="none" w="sm" len="sm"/>
          </a:ln>
          <a:effectLst>
            <a:outerShdw blurRad="30000" dist="1725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33" tIns="45700" rIns="91433" bIns="45700" anchor="t" anchorCtr="0">
            <a:noAutofit/>
          </a:bodyPr>
          <a:lstStyle/>
          <a:p>
            <a:r>
              <a:rPr lang="en-US" sz="1467" b="1">
                <a:solidFill>
                  <a:srgbClr val="1E6B3A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Solutions / Reseller</a:t>
            </a:r>
            <a:endParaRPr sz="1467" b="1" u="sng">
              <a:solidFill>
                <a:srgbClr val="1E6B3A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  <a:p>
            <a:endParaRPr sz="1467">
              <a:solidFill>
                <a:schemeClr val="dk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  <a:p>
            <a:r>
              <a:rPr lang="en-US" sz="1467">
                <a:solidFill>
                  <a:schemeClr val="dk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As outlined above + RP’s mark-up;</a:t>
            </a:r>
            <a:endParaRPr sz="1467">
              <a:solidFill>
                <a:schemeClr val="dk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  <a:p>
            <a:r>
              <a:rPr lang="en-US" sz="1467">
                <a:solidFill>
                  <a:schemeClr val="dk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FAI  invoices RP + RP invoices customer </a:t>
            </a:r>
            <a:endParaRPr sz="1467">
              <a:solidFill>
                <a:schemeClr val="dk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  <a:p>
            <a:endParaRPr sz="1467">
              <a:solidFill>
                <a:schemeClr val="dk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171" name="Google Shape;171;p17"/>
          <p:cNvSpPr/>
          <p:nvPr/>
        </p:nvSpPr>
        <p:spPr>
          <a:xfrm>
            <a:off x="521200" y="5306437"/>
            <a:ext cx="3718400" cy="1017200"/>
          </a:xfrm>
          <a:prstGeom prst="rect">
            <a:avLst/>
          </a:prstGeom>
          <a:solidFill>
            <a:schemeClr val="lt1"/>
          </a:solidFill>
          <a:ln w="7150" cap="flat" cmpd="sng">
            <a:solidFill>
              <a:srgbClr val="14452A"/>
            </a:solidFill>
            <a:prstDash val="solid"/>
            <a:round/>
            <a:headEnd type="none" w="sm" len="sm"/>
            <a:tailEnd type="none" w="sm" len="sm"/>
          </a:ln>
          <a:effectLst>
            <a:outerShdw blurRad="30000" dist="1725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33" tIns="45700" rIns="91433" bIns="45700" anchor="t" anchorCtr="0">
            <a:noAutofit/>
          </a:bodyPr>
          <a:lstStyle/>
          <a:p>
            <a:r>
              <a:rPr lang="en-US" sz="1467" b="1">
                <a:solidFill>
                  <a:srgbClr val="1E6B3A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Customer</a:t>
            </a:r>
            <a:endParaRPr sz="1467">
              <a:solidFill>
                <a:srgbClr val="1E6B3A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  <a:p>
            <a:endParaRPr sz="1467">
              <a:solidFill>
                <a:schemeClr val="dk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  <a:p>
            <a:r>
              <a:rPr lang="en-US" sz="1467">
                <a:solidFill>
                  <a:schemeClr val="dk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As outlined above; Implementation, User Access, and Support fees waived</a:t>
            </a:r>
            <a:endParaRPr sz="1600">
              <a:solidFill>
                <a:schemeClr val="dk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172" name="Google Shape;172;p17"/>
          <p:cNvSpPr/>
          <p:nvPr/>
        </p:nvSpPr>
        <p:spPr>
          <a:xfrm>
            <a:off x="8150152" y="5305637"/>
            <a:ext cx="3703200" cy="1018800"/>
          </a:xfrm>
          <a:prstGeom prst="rect">
            <a:avLst/>
          </a:prstGeom>
          <a:solidFill>
            <a:schemeClr val="lt1"/>
          </a:solidFill>
          <a:ln w="7150" cap="flat" cmpd="sng">
            <a:solidFill>
              <a:srgbClr val="14452A"/>
            </a:solidFill>
            <a:prstDash val="solid"/>
            <a:round/>
            <a:headEnd type="none" w="sm" len="sm"/>
            <a:tailEnd type="none" w="sm" len="sm"/>
          </a:ln>
          <a:effectLst>
            <a:outerShdw blurRad="30000" dist="1725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33" tIns="45700" rIns="91433" bIns="45700" anchor="t" anchorCtr="0">
            <a:noAutofit/>
          </a:bodyPr>
          <a:lstStyle/>
          <a:p>
            <a:r>
              <a:rPr lang="en-US" sz="1467" b="1">
                <a:solidFill>
                  <a:srgbClr val="1E6B3A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FDE / Certified Delivery</a:t>
            </a:r>
            <a:endParaRPr sz="1467">
              <a:solidFill>
                <a:srgbClr val="1E6B3A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  <a:p>
            <a:endParaRPr sz="1467">
              <a:solidFill>
                <a:schemeClr val="dk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  <a:p>
            <a:r>
              <a:rPr lang="en-US" sz="1467">
                <a:solidFill>
                  <a:schemeClr val="dk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Customer pays FurtherAI as outlined; </a:t>
            </a:r>
            <a:endParaRPr sz="1467">
              <a:solidFill>
                <a:schemeClr val="dk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  <a:p>
            <a:r>
              <a:rPr lang="en-US" sz="1467">
                <a:solidFill>
                  <a:schemeClr val="dk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RP bills FAI for setup / run services</a:t>
            </a:r>
            <a:endParaRPr sz="1467">
              <a:solidFill>
                <a:schemeClr val="dk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  <a:p>
            <a:endParaRPr sz="1467">
              <a:solidFill>
                <a:schemeClr val="dk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2" name="Google Shape;322;p29" title="Slides dump - merge to decks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9300" y="1"/>
            <a:ext cx="12192000" cy="6858004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29"/>
          <p:cNvSpPr txBox="1"/>
          <p:nvPr/>
        </p:nvSpPr>
        <p:spPr>
          <a:xfrm>
            <a:off x="1290805" y="2383741"/>
            <a:ext cx="2025200" cy="886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100" tIns="114100" rIns="114100" bIns="114100" anchor="t" anchorCtr="0">
            <a:spAutoFit/>
          </a:bodyPr>
          <a:lstStyle/>
          <a:p>
            <a:pPr algn="ctr"/>
            <a:r>
              <a:rPr lang="en-US" sz="2133">
                <a:solidFill>
                  <a:schemeClr val="lt1"/>
                </a:solidFill>
                <a:latin typeface="Fraunces Light"/>
                <a:ea typeface="Fraunces Light"/>
                <a:cs typeface="Fraunces Light"/>
                <a:sym typeface="Fraunces Light"/>
              </a:rPr>
              <a:t>Frontier AI Models</a:t>
            </a:r>
            <a:endParaRPr sz="2133">
              <a:solidFill>
                <a:schemeClr val="lt1"/>
              </a:solidFill>
              <a:latin typeface="Fraunces Light"/>
              <a:ea typeface="Fraunces Light"/>
              <a:cs typeface="Fraunces Light"/>
              <a:sym typeface="Fraunces Light"/>
            </a:endParaRPr>
          </a:p>
        </p:txBody>
      </p:sp>
      <p:sp>
        <p:nvSpPr>
          <p:cNvPr id="324" name="Google Shape;324;p29"/>
          <p:cNvSpPr txBox="1"/>
          <p:nvPr/>
        </p:nvSpPr>
        <p:spPr>
          <a:xfrm>
            <a:off x="8710565" y="2334790"/>
            <a:ext cx="2216800" cy="886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100" tIns="114100" rIns="114100" bIns="114100" anchor="t" anchorCtr="0">
            <a:spAutoFit/>
          </a:bodyPr>
          <a:lstStyle/>
          <a:p>
            <a:pPr algn="ctr"/>
            <a:r>
              <a:rPr lang="en-US" sz="2133">
                <a:solidFill>
                  <a:schemeClr val="lt1"/>
                </a:solidFill>
                <a:latin typeface="Fraunces Light"/>
                <a:ea typeface="Fraunces Light"/>
                <a:cs typeface="Fraunces Light"/>
                <a:sym typeface="Fraunces Light"/>
              </a:rPr>
              <a:t>Agentic Workflows</a:t>
            </a:r>
            <a:endParaRPr sz="2133">
              <a:solidFill>
                <a:schemeClr val="lt1"/>
              </a:solidFill>
              <a:latin typeface="Fraunces Light"/>
              <a:ea typeface="Fraunces Light"/>
              <a:cs typeface="Fraunces Light"/>
              <a:sym typeface="Fraunces Light"/>
            </a:endParaRPr>
          </a:p>
        </p:txBody>
      </p:sp>
      <p:pic>
        <p:nvPicPr>
          <p:cNvPr id="325" name="Google Shape;325;p29" title="Group 2147227792.png"/>
          <p:cNvPicPr preferRelativeResize="0"/>
          <p:nvPr/>
        </p:nvPicPr>
        <p:blipFill rotWithShape="1">
          <a:blip r:embed="rId4">
            <a:alphaModFix/>
          </a:blip>
          <a:srcRect t="70" b="80"/>
          <a:stretch/>
        </p:blipFill>
        <p:spPr>
          <a:xfrm>
            <a:off x="5462258" y="2190261"/>
            <a:ext cx="1267479" cy="1274151"/>
          </a:xfrm>
          <a:prstGeom prst="rect">
            <a:avLst/>
          </a:prstGeom>
          <a:noFill/>
          <a:ln w="47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26" name="Google Shape;326;p29"/>
          <p:cNvSpPr txBox="1"/>
          <p:nvPr/>
        </p:nvSpPr>
        <p:spPr>
          <a:xfrm>
            <a:off x="1131900" y="733133"/>
            <a:ext cx="9928400" cy="749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67" tIns="60967" rIns="60967" bIns="60967" anchor="t" anchorCtr="0">
            <a:spAutoFit/>
          </a:bodyPr>
          <a:lstStyle/>
          <a:p>
            <a:pPr algn="ctr"/>
            <a:r>
              <a:rPr lang="en-US" sz="4067">
                <a:solidFill>
                  <a:schemeClr val="lt1"/>
                </a:solidFill>
                <a:latin typeface="Fraunces Light"/>
                <a:ea typeface="Fraunces Light"/>
                <a:cs typeface="Fraunces Light"/>
                <a:sym typeface="Fraunces Light"/>
              </a:rPr>
              <a:t>Agentic Workspace for Insurance</a:t>
            </a:r>
            <a:endParaRPr sz="4067">
              <a:solidFill>
                <a:schemeClr val="lt1"/>
              </a:solidFill>
              <a:latin typeface="Fraunces Light"/>
              <a:ea typeface="Fraunces Light"/>
              <a:cs typeface="Fraunces Light"/>
              <a:sym typeface="Fraunces Light"/>
            </a:endParaRPr>
          </a:p>
        </p:txBody>
      </p:sp>
      <p:pic>
        <p:nvPicPr>
          <p:cNvPr id="327" name="Google Shape;327;p29" title="FAI png (1).png"/>
          <p:cNvPicPr preferRelativeResize="0"/>
          <p:nvPr/>
        </p:nvPicPr>
        <p:blipFill rotWithShape="1">
          <a:blip r:embed="rId5">
            <a:alphaModFix/>
          </a:blip>
          <a:srcRect t="8947" b="40392"/>
          <a:stretch/>
        </p:blipFill>
        <p:spPr>
          <a:xfrm>
            <a:off x="10927361" y="314334"/>
            <a:ext cx="885904" cy="252468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29" title="Frame 2147227965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775001" y="5869640"/>
            <a:ext cx="536849" cy="536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29" title="Frame 2147227962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475970" y="5869640"/>
            <a:ext cx="536849" cy="536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29" title="Frame 2147227963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176939" y="5868517"/>
            <a:ext cx="537971" cy="537971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29" title="Frame 2147227964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879029" y="5868517"/>
            <a:ext cx="537971" cy="53797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32" name="Google Shape;332;p29"/>
          <p:cNvCxnSpPr/>
          <p:nvPr/>
        </p:nvCxnSpPr>
        <p:spPr>
          <a:xfrm>
            <a:off x="3369667" y="2778388"/>
            <a:ext cx="1589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3" name="Google Shape;333;p29"/>
          <p:cNvCxnSpPr/>
          <p:nvPr/>
        </p:nvCxnSpPr>
        <p:spPr>
          <a:xfrm>
            <a:off x="7233139" y="2778388"/>
            <a:ext cx="1589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34" name="Google Shape;334;p29"/>
          <p:cNvSpPr txBox="1"/>
          <p:nvPr/>
        </p:nvSpPr>
        <p:spPr>
          <a:xfrm>
            <a:off x="252023" y="6407867"/>
            <a:ext cx="2977200" cy="2565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67" tIns="60967" rIns="60967" bIns="60967" anchor="t" anchorCtr="0">
            <a:spAutoFit/>
          </a:bodyPr>
          <a:lstStyle/>
          <a:p>
            <a:r>
              <a:rPr lang="en-US" sz="867">
                <a:solidFill>
                  <a:srgbClr val="EEEEEE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AI Workspace for Insurance</a:t>
            </a:r>
            <a:endParaRPr sz="867">
              <a:solidFill>
                <a:srgbClr val="EEEEEE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grpSp>
        <p:nvGrpSpPr>
          <p:cNvPr id="335" name="Google Shape;335;p29"/>
          <p:cNvGrpSpPr/>
          <p:nvPr/>
        </p:nvGrpSpPr>
        <p:grpSpPr>
          <a:xfrm>
            <a:off x="982393" y="3840967"/>
            <a:ext cx="5104308" cy="1573446"/>
            <a:chOff x="736794" y="2880725"/>
            <a:chExt cx="3828231" cy="1180085"/>
          </a:xfrm>
        </p:grpSpPr>
        <p:sp>
          <p:nvSpPr>
            <p:cNvPr id="336" name="Google Shape;336;p29"/>
            <p:cNvSpPr txBox="1"/>
            <p:nvPr/>
          </p:nvSpPr>
          <p:spPr>
            <a:xfrm>
              <a:off x="736794" y="3660786"/>
              <a:ext cx="1981500" cy="4000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0967" tIns="60967" rIns="60967" bIns="60967" anchor="t" anchorCtr="0">
              <a:spAutoFit/>
            </a:bodyPr>
            <a:lstStyle/>
            <a:p>
              <a:pPr algn="ctr"/>
              <a:r>
                <a:rPr lang="en-US" sz="1333">
                  <a:solidFill>
                    <a:schemeClr val="lt1"/>
                  </a:solidFill>
                  <a:latin typeface="Wix Madefor Display"/>
                  <a:ea typeface="Wix Madefor Display"/>
                  <a:cs typeface="Wix Madefor Display"/>
                  <a:sym typeface="Wix Madefor Display"/>
                </a:rPr>
                <a:t>Multi-modal AI</a:t>
              </a:r>
              <a:endParaRPr sz="1333">
                <a:solidFill>
                  <a:schemeClr val="lt1"/>
                </a:solidFill>
                <a:latin typeface="Wix Madefor Display"/>
                <a:ea typeface="Wix Madefor Display"/>
                <a:cs typeface="Wix Madefor Display"/>
                <a:sym typeface="Wix Madefor Display"/>
              </a:endParaRPr>
            </a:p>
            <a:p>
              <a:pPr algn="ctr"/>
              <a:r>
                <a:rPr lang="en-US" sz="1333">
                  <a:solidFill>
                    <a:schemeClr val="lt1"/>
                  </a:solidFill>
                  <a:latin typeface="Wix Madefor Display"/>
                  <a:ea typeface="Wix Madefor Display"/>
                  <a:cs typeface="Wix Madefor Display"/>
                  <a:sym typeface="Wix Madefor Display"/>
                </a:rPr>
                <a:t>tailored for Insurance</a:t>
              </a:r>
              <a:endParaRPr sz="1333">
                <a:solidFill>
                  <a:schemeClr val="lt1"/>
                </a:solidFill>
                <a:latin typeface="Wix Madefor Display"/>
                <a:ea typeface="Wix Madefor Display"/>
                <a:cs typeface="Wix Madefor Display"/>
                <a:sym typeface="Wix Madefor Display"/>
              </a:endParaRPr>
            </a:p>
          </p:txBody>
        </p:sp>
        <p:cxnSp>
          <p:nvCxnSpPr>
            <p:cNvPr id="337" name="Google Shape;337;p29"/>
            <p:cNvCxnSpPr/>
            <p:nvPr/>
          </p:nvCxnSpPr>
          <p:spPr>
            <a:xfrm>
              <a:off x="4565025" y="2880725"/>
              <a:ext cx="0" cy="2526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cxnSp>
          <p:nvCxnSpPr>
            <p:cNvPr id="338" name="Google Shape;338;p29"/>
            <p:cNvCxnSpPr/>
            <p:nvPr/>
          </p:nvCxnSpPr>
          <p:spPr>
            <a:xfrm flipH="1">
              <a:off x="1702994" y="3129261"/>
              <a:ext cx="2840400" cy="526800"/>
            </a:xfrm>
            <a:prstGeom prst="bentConnector3">
              <a:avLst>
                <a:gd name="adj1" fmla="val 99993"/>
              </a:avLst>
            </a:prstGeom>
            <a:noFill/>
            <a:ln w="9525" cap="flat" cmpd="sng">
              <a:solidFill>
                <a:srgbClr val="EEEEEE"/>
              </a:solidFill>
              <a:prstDash val="dot"/>
              <a:round/>
              <a:headEnd type="none" w="med" len="med"/>
              <a:tailEnd type="triangle" w="med" len="med"/>
            </a:ln>
          </p:spPr>
        </p:cxnSp>
      </p:grpSp>
      <p:grpSp>
        <p:nvGrpSpPr>
          <p:cNvPr id="339" name="Google Shape;339;p29"/>
          <p:cNvGrpSpPr/>
          <p:nvPr/>
        </p:nvGrpSpPr>
        <p:grpSpPr>
          <a:xfrm>
            <a:off x="3679959" y="4180647"/>
            <a:ext cx="2216800" cy="1233765"/>
            <a:chOff x="2759969" y="3135486"/>
            <a:chExt cx="1662600" cy="925324"/>
          </a:xfrm>
        </p:grpSpPr>
        <p:sp>
          <p:nvSpPr>
            <p:cNvPr id="340" name="Google Shape;340;p29"/>
            <p:cNvSpPr txBox="1"/>
            <p:nvPr/>
          </p:nvSpPr>
          <p:spPr>
            <a:xfrm>
              <a:off x="2759969" y="3660786"/>
              <a:ext cx="1662600" cy="4000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0967" tIns="60967" rIns="60967" bIns="60967" anchor="t" anchorCtr="0">
              <a:spAutoFit/>
            </a:bodyPr>
            <a:lstStyle/>
            <a:p>
              <a:pPr algn="ctr">
                <a:buClr>
                  <a:schemeClr val="dk1"/>
                </a:buClr>
                <a:buSzPts val="600"/>
              </a:pPr>
              <a:r>
                <a:rPr lang="en-US" sz="1333">
                  <a:solidFill>
                    <a:schemeClr val="lt1"/>
                  </a:solidFill>
                  <a:latin typeface="Wix Madefor Display"/>
                  <a:ea typeface="Wix Madefor Display"/>
                  <a:cs typeface="Wix Madefor Display"/>
                  <a:sym typeface="Wix Madefor Display"/>
                </a:rPr>
                <a:t>Automates end-to-end Work</a:t>
              </a:r>
              <a:endParaRPr sz="1333">
                <a:solidFill>
                  <a:schemeClr val="lt1"/>
                </a:solidFill>
                <a:latin typeface="Wix Madefor Display"/>
                <a:ea typeface="Wix Madefor Display"/>
                <a:cs typeface="Wix Madefor Display"/>
                <a:sym typeface="Wix Madefor Display"/>
              </a:endParaRPr>
            </a:p>
          </p:txBody>
        </p:sp>
        <p:cxnSp>
          <p:nvCxnSpPr>
            <p:cNvPr id="341" name="Google Shape;341;p29"/>
            <p:cNvCxnSpPr>
              <a:endCxn id="340" idx="0"/>
            </p:cNvCxnSpPr>
            <p:nvPr/>
          </p:nvCxnSpPr>
          <p:spPr>
            <a:xfrm>
              <a:off x="3587669" y="3135486"/>
              <a:ext cx="3600" cy="525300"/>
            </a:xfrm>
            <a:prstGeom prst="straightConnector1">
              <a:avLst/>
            </a:prstGeom>
            <a:noFill/>
            <a:ln w="9525" cap="flat" cmpd="sng">
              <a:solidFill>
                <a:srgbClr val="EEEEEE"/>
              </a:solidFill>
              <a:prstDash val="dot"/>
              <a:round/>
              <a:headEnd type="none" w="med" len="med"/>
              <a:tailEnd type="triangle" w="med" len="med"/>
            </a:ln>
          </p:spPr>
        </p:cxnSp>
      </p:grpSp>
      <p:sp>
        <p:nvSpPr>
          <p:cNvPr id="342" name="Google Shape;342;p29"/>
          <p:cNvSpPr txBox="1"/>
          <p:nvPr/>
        </p:nvSpPr>
        <p:spPr>
          <a:xfrm>
            <a:off x="8850592" y="4881048"/>
            <a:ext cx="2359200" cy="533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67" tIns="60967" rIns="60967" bIns="60967" anchor="t" anchorCtr="0">
            <a:spAutoFit/>
          </a:bodyPr>
          <a:lstStyle/>
          <a:p>
            <a:pPr algn="ctr"/>
            <a:r>
              <a:rPr lang="en-US" sz="1333">
                <a:solidFill>
                  <a:schemeClr val="l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Integrates with Insurance systems</a:t>
            </a:r>
            <a:endParaRPr sz="1333">
              <a:solidFill>
                <a:schemeClr val="lt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cxnSp>
        <p:nvCxnSpPr>
          <p:cNvPr id="343" name="Google Shape;343;p29"/>
          <p:cNvCxnSpPr>
            <a:endCxn id="344" idx="0"/>
          </p:cNvCxnSpPr>
          <p:nvPr/>
        </p:nvCxnSpPr>
        <p:spPr>
          <a:xfrm>
            <a:off x="6084400" y="4170248"/>
            <a:ext cx="1187200" cy="710800"/>
          </a:xfrm>
          <a:prstGeom prst="bentConnector2">
            <a:avLst/>
          </a:prstGeom>
          <a:noFill/>
          <a:ln w="9525" cap="flat" cmpd="sng">
            <a:solidFill>
              <a:srgbClr val="EEEEEE"/>
            </a:solidFill>
            <a:prstDash val="dot"/>
            <a:round/>
            <a:headEnd type="none" w="med" len="med"/>
            <a:tailEnd type="triangle" w="med" len="med"/>
          </a:ln>
        </p:spPr>
      </p:cxnSp>
      <p:sp>
        <p:nvSpPr>
          <p:cNvPr id="344" name="Google Shape;344;p29"/>
          <p:cNvSpPr txBox="1"/>
          <p:nvPr/>
        </p:nvSpPr>
        <p:spPr>
          <a:xfrm>
            <a:off x="6069600" y="4881048"/>
            <a:ext cx="2404000" cy="533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67" tIns="60967" rIns="60967" bIns="60967" anchor="t" anchorCtr="0">
            <a:spAutoFit/>
          </a:bodyPr>
          <a:lstStyle/>
          <a:p>
            <a:pPr algn="ctr"/>
            <a:r>
              <a:rPr lang="en-US" sz="1333">
                <a:solidFill>
                  <a:schemeClr val="l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With </a:t>
            </a:r>
            <a:endParaRPr sz="1333">
              <a:solidFill>
                <a:schemeClr val="lt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  <a:p>
            <a:pPr algn="ctr"/>
            <a:r>
              <a:rPr lang="en-US" sz="1333">
                <a:solidFill>
                  <a:schemeClr val="l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human-in-the-loop</a:t>
            </a:r>
            <a:endParaRPr sz="1333">
              <a:solidFill>
                <a:schemeClr val="lt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cxnSp>
        <p:nvCxnSpPr>
          <p:cNvPr id="345" name="Google Shape;345;p29"/>
          <p:cNvCxnSpPr>
            <a:endCxn id="342" idx="0"/>
          </p:cNvCxnSpPr>
          <p:nvPr/>
        </p:nvCxnSpPr>
        <p:spPr>
          <a:xfrm>
            <a:off x="7271792" y="4170248"/>
            <a:ext cx="2758400" cy="710800"/>
          </a:xfrm>
          <a:prstGeom prst="bentConnector2">
            <a:avLst/>
          </a:prstGeom>
          <a:noFill/>
          <a:ln w="9525" cap="flat" cmpd="sng">
            <a:solidFill>
              <a:srgbClr val="EEEEEE"/>
            </a:solidFill>
            <a:prstDash val="dot"/>
            <a:round/>
            <a:headEnd type="none" w="med" len="med"/>
            <a:tailEnd type="triangle" w="med" len="med"/>
          </a:ln>
        </p:spPr>
      </p:cxnSp>
      <p:sp>
        <p:nvSpPr>
          <p:cNvPr id="346" name="Google Shape;346;p29"/>
          <p:cNvSpPr txBox="1">
            <a:spLocks noGrp="1"/>
          </p:cNvSpPr>
          <p:nvPr>
            <p:ph type="sldNum" idx="12"/>
          </p:nvPr>
        </p:nvSpPr>
        <p:spPr>
          <a:xfrm>
            <a:off x="8110788" y="4798325"/>
            <a:ext cx="841200" cy="1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595959"/>
                </a:solidFill>
                <a:latin typeface="Wix Madefor Display"/>
                <a:ea typeface="Wix Madefor Display"/>
                <a:cs typeface="Wix Madefor Display"/>
                <a:sym typeface="Wix Madefor Display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595959"/>
                </a:solidFill>
                <a:latin typeface="Wix Madefor Display"/>
                <a:ea typeface="Wix Madefor Display"/>
                <a:cs typeface="Wix Madefor Display"/>
                <a:sym typeface="Wix Madefor Display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595959"/>
                </a:solidFill>
                <a:latin typeface="Wix Madefor Display"/>
                <a:ea typeface="Wix Madefor Display"/>
                <a:cs typeface="Wix Madefor Display"/>
                <a:sym typeface="Wix Madefor Display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595959"/>
                </a:solidFill>
                <a:latin typeface="Wix Madefor Display"/>
                <a:ea typeface="Wix Madefor Display"/>
                <a:cs typeface="Wix Madefor Display"/>
                <a:sym typeface="Wix Madefor Display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595959"/>
                </a:solidFill>
                <a:latin typeface="Wix Madefor Display"/>
                <a:ea typeface="Wix Madefor Display"/>
                <a:cs typeface="Wix Madefor Display"/>
                <a:sym typeface="Wix Madefor Display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595959"/>
                </a:solidFill>
                <a:latin typeface="Wix Madefor Display"/>
                <a:ea typeface="Wix Madefor Display"/>
                <a:cs typeface="Wix Madefor Display"/>
                <a:sym typeface="Wix Madefor Display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595959"/>
                </a:solidFill>
                <a:latin typeface="Wix Madefor Display"/>
                <a:ea typeface="Wix Madefor Display"/>
                <a:cs typeface="Wix Madefor Display"/>
                <a:sym typeface="Wix Madefor Display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595959"/>
                </a:solidFill>
                <a:latin typeface="Wix Madefor Display"/>
                <a:ea typeface="Wix Madefor Display"/>
                <a:cs typeface="Wix Madefor Display"/>
                <a:sym typeface="Wix Madefor Display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595959"/>
                </a:solidFill>
                <a:latin typeface="Wix Madefor Display"/>
                <a:ea typeface="Wix Madefor Display"/>
                <a:cs typeface="Wix Madefor Display"/>
                <a:sym typeface="Wix Madefor Display"/>
              </a:defRPr>
            </a:lvl9pPr>
          </a:lstStyle>
          <a:p>
            <a:pPr algn="r"/>
            <a:fld id="{00000000-1234-1234-1234-123412341234}" type="slidenum">
              <a:rPr lang="en-US" smtClean="0"/>
              <a:pPr algn="r"/>
              <a:t>13</a:t>
            </a:fld>
            <a:endParaRPr>
              <a:solidFill>
                <a:srgbClr val="EEEEEE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3" name="Google Shape;593;p35" title="Slides dump - merge to decks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1401" y="0"/>
            <a:ext cx="1163059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94" name="Google Shape;594;p35"/>
          <p:cNvSpPr/>
          <p:nvPr/>
        </p:nvSpPr>
        <p:spPr>
          <a:xfrm>
            <a:off x="-81333" y="0"/>
            <a:ext cx="5771600" cy="7004000"/>
          </a:xfrm>
          <a:prstGeom prst="rect">
            <a:avLst/>
          </a:prstGeom>
          <a:solidFill>
            <a:srgbClr val="FBFBF9"/>
          </a:solidFill>
          <a:ln w="47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67" tIns="60967" rIns="60967" bIns="60967" anchor="ctr" anchorCtr="0">
            <a:noAutofit/>
          </a:bodyPr>
          <a:lstStyle/>
          <a:p>
            <a:pPr algn="ctr"/>
            <a:endParaRPr sz="933"/>
          </a:p>
        </p:txBody>
      </p:sp>
      <p:sp>
        <p:nvSpPr>
          <p:cNvPr id="595" name="Google Shape;595;p35"/>
          <p:cNvSpPr txBox="1"/>
          <p:nvPr/>
        </p:nvSpPr>
        <p:spPr>
          <a:xfrm>
            <a:off x="508251" y="566801"/>
            <a:ext cx="5182000" cy="6912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67" tIns="60967" rIns="60967" bIns="60967" anchor="t" anchorCtr="0">
            <a:spAutoFit/>
          </a:bodyPr>
          <a:lstStyle/>
          <a:p>
            <a:pPr>
              <a:lnSpc>
                <a:spcPct val="97741"/>
              </a:lnSpc>
            </a:pPr>
            <a:r>
              <a:rPr lang="en-US" sz="3767">
                <a:solidFill>
                  <a:schemeClr val="dk1"/>
                </a:solidFill>
                <a:latin typeface="Fraunces Light"/>
                <a:ea typeface="Fraunces Light"/>
                <a:cs typeface="Fraunces Light"/>
                <a:sym typeface="Fraunces Light"/>
              </a:rPr>
              <a:t>Distribution</a:t>
            </a:r>
            <a:endParaRPr sz="3767">
              <a:solidFill>
                <a:schemeClr val="dk1"/>
              </a:solidFill>
              <a:latin typeface="Fraunces Light"/>
              <a:ea typeface="Fraunces Light"/>
              <a:cs typeface="Fraunces Light"/>
              <a:sym typeface="Fraunces Light"/>
            </a:endParaRPr>
          </a:p>
        </p:txBody>
      </p:sp>
      <p:pic>
        <p:nvPicPr>
          <p:cNvPr id="596" name="Google Shape;596;p35" title="FAI png (1).png"/>
          <p:cNvPicPr preferRelativeResize="0"/>
          <p:nvPr/>
        </p:nvPicPr>
        <p:blipFill rotWithShape="1">
          <a:blip r:embed="rId4">
            <a:alphaModFix/>
          </a:blip>
          <a:srcRect t="8947" b="40392"/>
          <a:stretch/>
        </p:blipFill>
        <p:spPr>
          <a:xfrm>
            <a:off x="10927361" y="314334"/>
            <a:ext cx="885904" cy="252468"/>
          </a:xfrm>
          <a:prstGeom prst="rect">
            <a:avLst/>
          </a:prstGeom>
          <a:noFill/>
          <a:ln>
            <a:noFill/>
          </a:ln>
        </p:spPr>
      </p:pic>
      <p:pic>
        <p:nvPicPr>
          <p:cNvPr id="597" name="Google Shape;597;p35" title="Slides dump - merge to decks (3).png"/>
          <p:cNvPicPr preferRelativeResize="0"/>
          <p:nvPr/>
        </p:nvPicPr>
        <p:blipFill rotWithShape="1">
          <a:blip r:embed="rId5">
            <a:alphaModFix amt="68000"/>
          </a:blip>
          <a:srcRect l="29474" r="1854"/>
          <a:stretch/>
        </p:blipFill>
        <p:spPr>
          <a:xfrm>
            <a:off x="5881142" y="15501"/>
            <a:ext cx="6310777" cy="5284015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598" name="Google Shape;598;p35" title="Slides dump - merge to decks (3).png"/>
          <p:cNvPicPr preferRelativeResize="0"/>
          <p:nvPr/>
        </p:nvPicPr>
        <p:blipFill rotWithShape="1">
          <a:blip r:embed="rId5">
            <a:alphaModFix amt="68000"/>
          </a:blip>
          <a:srcRect l="29474" r="1854" b="64096"/>
          <a:stretch/>
        </p:blipFill>
        <p:spPr>
          <a:xfrm>
            <a:off x="5690118" y="5299518"/>
            <a:ext cx="6501799" cy="1897149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599" name="Google Shape;599;p3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87225" y="1709600"/>
            <a:ext cx="5707451" cy="3984349"/>
          </a:xfrm>
          <a:prstGeom prst="rect">
            <a:avLst/>
          </a:prstGeom>
          <a:noFill/>
          <a:ln>
            <a:noFill/>
          </a:ln>
        </p:spPr>
      </p:pic>
      <p:sp>
        <p:nvSpPr>
          <p:cNvPr id="600" name="Google Shape;600;p35"/>
          <p:cNvSpPr txBox="1"/>
          <p:nvPr/>
        </p:nvSpPr>
        <p:spPr>
          <a:xfrm>
            <a:off x="252023" y="6407867"/>
            <a:ext cx="2977200" cy="2565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67" tIns="60967" rIns="60967" bIns="60967" anchor="t" anchorCtr="0">
            <a:spAutoFit/>
          </a:bodyPr>
          <a:lstStyle/>
          <a:p>
            <a:r>
              <a:rPr lang="en-US" sz="867">
                <a:solidFill>
                  <a:srgbClr val="595959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AI Workspace for Insurance</a:t>
            </a:r>
            <a:endParaRPr sz="867">
              <a:solidFill>
                <a:srgbClr val="595959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601" name="Google Shape;601;p35"/>
          <p:cNvSpPr txBox="1"/>
          <p:nvPr/>
        </p:nvSpPr>
        <p:spPr>
          <a:xfrm>
            <a:off x="749464" y="1709609"/>
            <a:ext cx="4516400" cy="441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67" tIns="60967" rIns="60967" bIns="60967" anchor="t" anchorCtr="0">
            <a:spAutoFit/>
          </a:bodyPr>
          <a:lstStyle/>
          <a:p>
            <a:r>
              <a:rPr lang="en-US" sz="2067">
                <a:solidFill>
                  <a:schemeClr val="dk1"/>
                </a:solidFill>
                <a:uFill>
                  <a:noFill/>
                </a:uFill>
                <a:latin typeface="Fraunces"/>
                <a:ea typeface="Fraunces"/>
                <a:cs typeface="Fraunces"/>
                <a:sym typeface="Fraunces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Proposal Generation</a:t>
            </a:r>
            <a:endParaRPr sz="2067">
              <a:solidFill>
                <a:schemeClr val="dk1"/>
              </a:solidFill>
              <a:latin typeface="Fraunces"/>
              <a:ea typeface="Fraunces"/>
              <a:cs typeface="Fraunces"/>
              <a:sym typeface="Fraunces"/>
            </a:endParaRPr>
          </a:p>
        </p:txBody>
      </p:sp>
      <p:sp>
        <p:nvSpPr>
          <p:cNvPr id="602" name="Google Shape;602;p35"/>
          <p:cNvSpPr txBox="1"/>
          <p:nvPr/>
        </p:nvSpPr>
        <p:spPr>
          <a:xfrm>
            <a:off x="749464" y="2095776"/>
            <a:ext cx="4516400" cy="513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67" tIns="60967" rIns="60967" bIns="60967" anchor="t" anchorCtr="0">
            <a:spAutoFit/>
          </a:bodyPr>
          <a:lstStyle/>
          <a:p>
            <a:r>
              <a:rPr lang="en-US" sz="1267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Generate compliant, carrier-ready proposals in minutes — enabling 2–3× more proposals per producer per week.</a:t>
            </a:r>
            <a:endParaRPr sz="1267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603" name="Google Shape;603;p35"/>
          <p:cNvSpPr txBox="1"/>
          <p:nvPr/>
        </p:nvSpPr>
        <p:spPr>
          <a:xfrm>
            <a:off x="749464" y="2852325"/>
            <a:ext cx="4516400" cy="441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67" tIns="60967" rIns="60967" bIns="60967" anchor="t" anchorCtr="0">
            <a:spAutoFit/>
          </a:bodyPr>
          <a:lstStyle/>
          <a:p>
            <a:r>
              <a:rPr lang="en-US" sz="2067">
                <a:solidFill>
                  <a:schemeClr val="dk1"/>
                </a:solidFill>
                <a:uFill>
                  <a:noFill/>
                </a:uFill>
                <a:latin typeface="Fraunces"/>
                <a:ea typeface="Fraunces"/>
                <a:cs typeface="Fraunces"/>
                <a:sym typeface="Fraunces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Create Submission</a:t>
            </a:r>
            <a:endParaRPr sz="2067">
              <a:solidFill>
                <a:schemeClr val="dk1"/>
              </a:solidFill>
              <a:latin typeface="Fraunces"/>
              <a:ea typeface="Fraunces"/>
              <a:cs typeface="Fraunces"/>
              <a:sym typeface="Fraunces"/>
            </a:endParaRPr>
          </a:p>
        </p:txBody>
      </p:sp>
      <p:sp>
        <p:nvSpPr>
          <p:cNvPr id="604" name="Google Shape;604;p35"/>
          <p:cNvSpPr txBox="1"/>
          <p:nvPr/>
        </p:nvSpPr>
        <p:spPr>
          <a:xfrm>
            <a:off x="749464" y="3251325"/>
            <a:ext cx="4516400" cy="513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67" tIns="60967" rIns="60967" bIns="60967" anchor="t" anchorCtr="0">
            <a:spAutoFit/>
          </a:bodyPr>
          <a:lstStyle/>
          <a:p>
            <a:r>
              <a:rPr lang="en-US" sz="1267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Turn inbound emails and attachments into complete, structured submissions with &gt;90% automation.</a:t>
            </a:r>
            <a:endParaRPr sz="1267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605" name="Google Shape;605;p35"/>
          <p:cNvSpPr txBox="1"/>
          <p:nvPr/>
        </p:nvSpPr>
        <p:spPr>
          <a:xfrm>
            <a:off x="749464" y="3969925"/>
            <a:ext cx="4516400" cy="441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67" tIns="60967" rIns="60967" bIns="60967" anchor="t" anchorCtr="0">
            <a:spAutoFit/>
          </a:bodyPr>
          <a:lstStyle/>
          <a:p>
            <a:r>
              <a:rPr lang="en-US" sz="2067">
                <a:solidFill>
                  <a:schemeClr val="dk1"/>
                </a:solidFill>
                <a:uFill>
                  <a:noFill/>
                </a:uFill>
                <a:latin typeface="Fraunces"/>
                <a:ea typeface="Fraunces"/>
                <a:cs typeface="Fraunces"/>
                <a:sym typeface="Fraunces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Policy Checking</a:t>
            </a:r>
            <a:endParaRPr sz="2067">
              <a:solidFill>
                <a:schemeClr val="dk1"/>
              </a:solidFill>
              <a:latin typeface="Fraunces"/>
              <a:ea typeface="Fraunces"/>
              <a:cs typeface="Fraunces"/>
              <a:sym typeface="Fraunces"/>
            </a:endParaRPr>
          </a:p>
        </p:txBody>
      </p:sp>
      <p:sp>
        <p:nvSpPr>
          <p:cNvPr id="606" name="Google Shape;606;p35"/>
          <p:cNvSpPr txBox="1"/>
          <p:nvPr/>
        </p:nvSpPr>
        <p:spPr>
          <a:xfrm>
            <a:off x="749464" y="4387909"/>
            <a:ext cx="4516400" cy="513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67" tIns="60967" rIns="60967" bIns="60967" anchor="t" anchorCtr="0">
            <a:spAutoFit/>
          </a:bodyPr>
          <a:lstStyle/>
          <a:p>
            <a:r>
              <a:rPr lang="en-US" sz="1267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Compare binders, endorsements, and policies line-by-line to catch discrepancies before they reach the insured.</a:t>
            </a:r>
            <a:endParaRPr sz="1267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607" name="Google Shape;607;p35"/>
          <p:cNvSpPr txBox="1"/>
          <p:nvPr/>
        </p:nvSpPr>
        <p:spPr>
          <a:xfrm>
            <a:off x="749464" y="5087525"/>
            <a:ext cx="4516400" cy="441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67" tIns="60967" rIns="60967" bIns="60967" anchor="t" anchorCtr="0">
            <a:spAutoFit/>
          </a:bodyPr>
          <a:lstStyle/>
          <a:p>
            <a:r>
              <a:rPr lang="en-US" sz="2067">
                <a:solidFill>
                  <a:schemeClr val="dk1"/>
                </a:solidFill>
                <a:latin typeface="Fraunces"/>
                <a:ea typeface="Fraunces"/>
                <a:cs typeface="Fraunces"/>
                <a:sym typeface="Fraunces"/>
              </a:rPr>
              <a:t>Quote Compare</a:t>
            </a:r>
            <a:endParaRPr sz="2067">
              <a:solidFill>
                <a:schemeClr val="dk1"/>
              </a:solidFill>
              <a:latin typeface="Fraunces"/>
              <a:ea typeface="Fraunces"/>
              <a:cs typeface="Fraunces"/>
              <a:sym typeface="Fraunces"/>
            </a:endParaRPr>
          </a:p>
        </p:txBody>
      </p:sp>
      <p:sp>
        <p:nvSpPr>
          <p:cNvPr id="608" name="Google Shape;608;p35"/>
          <p:cNvSpPr txBox="1"/>
          <p:nvPr/>
        </p:nvSpPr>
        <p:spPr>
          <a:xfrm>
            <a:off x="749464" y="5524458"/>
            <a:ext cx="4516400" cy="513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67" tIns="60967" rIns="60967" bIns="60967" anchor="t" anchorCtr="0">
            <a:spAutoFit/>
          </a:bodyPr>
          <a:lstStyle/>
          <a:p>
            <a:r>
              <a:rPr lang="en-US" sz="1267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Normalize and compare quotes across carriers so brokers can advise faster and bind with confidence.</a:t>
            </a:r>
            <a:endParaRPr sz="1267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cxnSp>
        <p:nvCxnSpPr>
          <p:cNvPr id="609" name="Google Shape;609;p35"/>
          <p:cNvCxnSpPr>
            <a:stCxn id="610" idx="0"/>
            <a:endCxn id="611" idx="0"/>
          </p:cNvCxnSpPr>
          <p:nvPr/>
        </p:nvCxnSpPr>
        <p:spPr>
          <a:xfrm>
            <a:off x="481000" y="1863912"/>
            <a:ext cx="10000" cy="3358000"/>
          </a:xfrm>
          <a:prstGeom prst="straightConnector1">
            <a:avLst/>
          </a:prstGeom>
          <a:noFill/>
          <a:ln w="9525" cap="flat" cmpd="sng">
            <a:solidFill>
              <a:srgbClr val="9E9E9E"/>
            </a:solidFill>
            <a:prstDash val="dot"/>
            <a:round/>
            <a:headEnd type="none" w="med" len="med"/>
            <a:tailEnd type="none" w="med" len="med"/>
          </a:ln>
        </p:spPr>
      </p:cxnSp>
      <p:pic>
        <p:nvPicPr>
          <p:cNvPr id="610" name="Google Shape;610;p35" title="Subtract.png"/>
          <p:cNvPicPr preferRelativeResize="0"/>
          <p:nvPr/>
        </p:nvPicPr>
        <p:blipFill>
          <a:blip r:embed="rId10">
            <a:alphaModFix amt="60000"/>
          </a:blip>
          <a:stretch>
            <a:fillRect/>
          </a:stretch>
        </p:blipFill>
        <p:spPr>
          <a:xfrm>
            <a:off x="390817" y="1863913"/>
            <a:ext cx="180367" cy="179327"/>
          </a:xfrm>
          <a:prstGeom prst="rect">
            <a:avLst/>
          </a:prstGeom>
          <a:noFill/>
          <a:ln>
            <a:noFill/>
          </a:ln>
        </p:spPr>
      </p:pic>
      <p:pic>
        <p:nvPicPr>
          <p:cNvPr id="612" name="Google Shape;612;p35" title="Subtract.png"/>
          <p:cNvPicPr preferRelativeResize="0"/>
          <p:nvPr/>
        </p:nvPicPr>
        <p:blipFill>
          <a:blip r:embed="rId10">
            <a:alphaModFix amt="60000"/>
          </a:blip>
          <a:stretch>
            <a:fillRect/>
          </a:stretch>
        </p:blipFill>
        <p:spPr>
          <a:xfrm>
            <a:off x="400617" y="2983279"/>
            <a:ext cx="180367" cy="179327"/>
          </a:xfrm>
          <a:prstGeom prst="rect">
            <a:avLst/>
          </a:prstGeom>
          <a:noFill/>
          <a:ln>
            <a:noFill/>
          </a:ln>
        </p:spPr>
      </p:pic>
      <p:pic>
        <p:nvPicPr>
          <p:cNvPr id="613" name="Google Shape;613;p35" title="Subtract.png"/>
          <p:cNvPicPr preferRelativeResize="0"/>
          <p:nvPr/>
        </p:nvPicPr>
        <p:blipFill>
          <a:blip r:embed="rId10">
            <a:alphaModFix amt="60000"/>
          </a:blip>
          <a:stretch>
            <a:fillRect/>
          </a:stretch>
        </p:blipFill>
        <p:spPr>
          <a:xfrm>
            <a:off x="400634" y="4102646"/>
            <a:ext cx="180367" cy="179327"/>
          </a:xfrm>
          <a:prstGeom prst="rect">
            <a:avLst/>
          </a:prstGeom>
          <a:noFill/>
          <a:ln>
            <a:noFill/>
          </a:ln>
        </p:spPr>
      </p:pic>
      <p:pic>
        <p:nvPicPr>
          <p:cNvPr id="611" name="Google Shape;611;p35" title="Subtract.png"/>
          <p:cNvPicPr preferRelativeResize="0"/>
          <p:nvPr/>
        </p:nvPicPr>
        <p:blipFill>
          <a:blip r:embed="rId10">
            <a:alphaModFix amt="60000"/>
          </a:blip>
          <a:stretch>
            <a:fillRect/>
          </a:stretch>
        </p:blipFill>
        <p:spPr>
          <a:xfrm>
            <a:off x="400634" y="5222013"/>
            <a:ext cx="180367" cy="179327"/>
          </a:xfrm>
          <a:prstGeom prst="rect">
            <a:avLst/>
          </a:prstGeom>
          <a:noFill/>
          <a:ln>
            <a:noFill/>
          </a:ln>
        </p:spPr>
      </p:pic>
      <p:pic>
        <p:nvPicPr>
          <p:cNvPr id="614" name="Google Shape;614;p35" title="Slides dump - merge to decks (14).png"/>
          <p:cNvPicPr preferRelativeResize="0"/>
          <p:nvPr/>
        </p:nvPicPr>
        <p:blipFill rotWithShape="1">
          <a:blip r:embed="rId11">
            <a:alphaModFix/>
          </a:blip>
          <a:srcRect l="38077" t="26182" r="36301" b="27038"/>
          <a:stretch/>
        </p:blipFill>
        <p:spPr>
          <a:xfrm>
            <a:off x="3494302" y="1871200"/>
            <a:ext cx="180365" cy="185235"/>
          </a:xfrm>
          <a:prstGeom prst="rect">
            <a:avLst/>
          </a:prstGeom>
          <a:solidFill>
            <a:srgbClr val="FBFBF9"/>
          </a:solidFill>
          <a:ln>
            <a:noFill/>
          </a:ln>
        </p:spPr>
      </p:pic>
      <p:pic>
        <p:nvPicPr>
          <p:cNvPr id="615" name="Google Shape;615;p35" title="Slides dump - merge to decks (14).png"/>
          <p:cNvPicPr preferRelativeResize="0"/>
          <p:nvPr/>
        </p:nvPicPr>
        <p:blipFill rotWithShape="1">
          <a:blip r:embed="rId11">
            <a:alphaModFix/>
          </a:blip>
          <a:srcRect l="38077" t="26182" r="36301" b="27038"/>
          <a:stretch/>
        </p:blipFill>
        <p:spPr>
          <a:xfrm>
            <a:off x="3243918" y="2967749"/>
            <a:ext cx="180365" cy="185235"/>
          </a:xfrm>
          <a:prstGeom prst="rect">
            <a:avLst/>
          </a:prstGeom>
          <a:solidFill>
            <a:srgbClr val="FBFBF9"/>
          </a:solidFill>
          <a:ln>
            <a:noFill/>
          </a:ln>
        </p:spPr>
      </p:pic>
      <p:pic>
        <p:nvPicPr>
          <p:cNvPr id="616" name="Google Shape;616;p35" title="Slides dump - merge to decks (14).png"/>
          <p:cNvPicPr preferRelativeResize="0"/>
          <p:nvPr/>
        </p:nvPicPr>
        <p:blipFill rotWithShape="1">
          <a:blip r:embed="rId11">
            <a:alphaModFix/>
          </a:blip>
          <a:srcRect l="38077" t="26182" r="36301" b="27038"/>
          <a:stretch/>
        </p:blipFill>
        <p:spPr>
          <a:xfrm>
            <a:off x="2939118" y="4186949"/>
            <a:ext cx="180365" cy="185235"/>
          </a:xfrm>
          <a:prstGeom prst="rect">
            <a:avLst/>
          </a:prstGeom>
          <a:solidFill>
            <a:srgbClr val="FBFBF9"/>
          </a:solidFill>
          <a:ln>
            <a:noFill/>
          </a:ln>
        </p:spPr>
      </p:pic>
      <p:sp>
        <p:nvSpPr>
          <p:cNvPr id="617" name="Google Shape;617;p35"/>
          <p:cNvSpPr txBox="1">
            <a:spLocks noGrp="1"/>
          </p:cNvSpPr>
          <p:nvPr>
            <p:ph type="sldNum" idx="12"/>
          </p:nvPr>
        </p:nvSpPr>
        <p:spPr>
          <a:xfrm>
            <a:off x="10814384" y="6397767"/>
            <a:ext cx="1121600" cy="256000"/>
          </a:xfrm>
          <a:prstGeom prst="rect">
            <a:avLst/>
          </a:prstGeom>
        </p:spPr>
        <p:txBody>
          <a:bodyPr spcFirstLastPara="1" wrap="square" lIns="60967" tIns="60967" rIns="60967" bIns="60967" anchor="ctr" anchorCtr="0">
            <a:normAutofit/>
          </a:bodyPr>
          <a:lstStyle/>
          <a:p>
            <a:fld id="{00000000-1234-1234-1234-123412341234}" type="slidenum">
              <a:rPr lang="en-US" sz="867">
                <a:solidFill>
                  <a:srgbClr val="EEEEEE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pPr/>
              <a:t>14</a:t>
            </a:fld>
            <a:endParaRPr sz="867">
              <a:solidFill>
                <a:srgbClr val="EEEEEE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8" name="Google Shape;818;p44" title="FAI png (1).png"/>
          <p:cNvPicPr preferRelativeResize="0"/>
          <p:nvPr/>
        </p:nvPicPr>
        <p:blipFill rotWithShape="1">
          <a:blip r:embed="rId3">
            <a:alphaModFix/>
          </a:blip>
          <a:srcRect t="8947" b="40392"/>
          <a:stretch/>
        </p:blipFill>
        <p:spPr>
          <a:xfrm>
            <a:off x="10927361" y="203201"/>
            <a:ext cx="885904" cy="252468"/>
          </a:xfrm>
          <a:prstGeom prst="rect">
            <a:avLst/>
          </a:prstGeom>
          <a:noFill/>
          <a:ln>
            <a:noFill/>
          </a:ln>
        </p:spPr>
      </p:pic>
      <p:pic>
        <p:nvPicPr>
          <p:cNvPr id="819" name="Google Shape;819;p44" title="Green FAI (Transparent).png"/>
          <p:cNvPicPr preferRelativeResize="0"/>
          <p:nvPr/>
        </p:nvPicPr>
        <p:blipFill rotWithShape="1">
          <a:blip r:embed="rId4">
            <a:alphaModFix/>
          </a:blip>
          <a:srcRect t="28222" b="30995"/>
          <a:stretch/>
        </p:blipFill>
        <p:spPr>
          <a:xfrm>
            <a:off x="11097333" y="183615"/>
            <a:ext cx="885899" cy="203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0" name="Google Shape;820;p44" title="Slides dump - merge to decks (2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0"/>
            <a:ext cx="12192000" cy="2088400"/>
          </a:xfrm>
          <a:prstGeom prst="rect">
            <a:avLst/>
          </a:prstGeom>
          <a:noFill/>
          <a:ln w="477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</p:pic>
      <p:sp>
        <p:nvSpPr>
          <p:cNvPr id="821" name="Google Shape;821;p44"/>
          <p:cNvSpPr txBox="1"/>
          <p:nvPr/>
        </p:nvSpPr>
        <p:spPr>
          <a:xfrm>
            <a:off x="523100" y="857634"/>
            <a:ext cx="5522000" cy="779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-US" sz="3467" dirty="0">
                <a:solidFill>
                  <a:schemeClr val="lt1"/>
                </a:solidFill>
                <a:latin typeface="Fraunces Light"/>
                <a:ea typeface="Fraunces Light"/>
                <a:cs typeface="Fraunces Light"/>
                <a:sym typeface="Fraunces Light"/>
              </a:rPr>
              <a:t>Multi-agent System</a:t>
            </a:r>
            <a:endParaRPr sz="1200" dirty="0">
              <a:solidFill>
                <a:schemeClr val="lt1"/>
              </a:solidFill>
              <a:latin typeface="Fraunces Light"/>
              <a:ea typeface="Fraunces Light"/>
              <a:cs typeface="Fraunces Light"/>
              <a:sym typeface="Fraunces Light"/>
            </a:endParaRPr>
          </a:p>
        </p:txBody>
      </p:sp>
      <p:pic>
        <p:nvPicPr>
          <p:cNvPr id="822" name="Google Shape;822;p44" title="FAI png (1).png"/>
          <p:cNvPicPr preferRelativeResize="0"/>
          <p:nvPr/>
        </p:nvPicPr>
        <p:blipFill rotWithShape="1">
          <a:blip r:embed="rId3">
            <a:alphaModFix/>
          </a:blip>
          <a:srcRect t="8947" b="40392"/>
          <a:stretch/>
        </p:blipFill>
        <p:spPr>
          <a:xfrm>
            <a:off x="11197301" y="248000"/>
            <a:ext cx="786001" cy="223968"/>
          </a:xfrm>
          <a:prstGeom prst="rect">
            <a:avLst/>
          </a:prstGeom>
          <a:noFill/>
          <a:ln>
            <a:noFill/>
          </a:ln>
        </p:spPr>
      </p:pic>
      <p:sp>
        <p:nvSpPr>
          <p:cNvPr id="823" name="Google Shape;823;p44"/>
          <p:cNvSpPr/>
          <p:nvPr/>
        </p:nvSpPr>
        <p:spPr>
          <a:xfrm>
            <a:off x="8682077" y="4727519"/>
            <a:ext cx="2001600" cy="7288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8250" cap="flat" cmpd="sng">
            <a:solidFill>
              <a:srgbClr val="25654F"/>
            </a:solidFill>
            <a:prstDash val="dash"/>
            <a:round/>
            <a:headEnd type="none" w="sm" len="sm"/>
            <a:tailEnd type="none" w="sm" len="sm"/>
          </a:ln>
          <a:effectLst>
            <a:outerShdw blurRad="49498" dist="65998" dir="5400000" algn="bl" rotWithShape="0">
              <a:srgbClr val="000000">
                <a:alpha val="30000"/>
              </a:srgbClr>
            </a:outerShdw>
          </a:effectLst>
        </p:spPr>
        <p:txBody>
          <a:bodyPr spcFirstLastPara="1" wrap="square" lIns="169433" tIns="169433" rIns="169433" bIns="169433" anchor="ctr" anchorCtr="0">
            <a:noAutofit/>
          </a:bodyPr>
          <a:lstStyle/>
          <a:p>
            <a:pPr algn="ctr"/>
            <a:r>
              <a:rPr lang="en-US" sz="1581">
                <a:solidFill>
                  <a:srgbClr val="1D4438"/>
                </a:solidFill>
                <a:latin typeface="Fraunces Light"/>
                <a:ea typeface="Fraunces Light"/>
                <a:cs typeface="Fraunces Light"/>
                <a:sym typeface="Fraunces Light"/>
              </a:rPr>
              <a:t>Rating</a:t>
            </a:r>
            <a:endParaRPr sz="1581">
              <a:solidFill>
                <a:srgbClr val="1D4438"/>
              </a:solidFill>
              <a:latin typeface="Fraunces Light"/>
              <a:ea typeface="Fraunces Light"/>
              <a:cs typeface="Fraunces Light"/>
              <a:sym typeface="Fraunces Light"/>
            </a:endParaRPr>
          </a:p>
          <a:p>
            <a:pPr algn="ctr"/>
            <a:r>
              <a:rPr lang="en-US" sz="1581">
                <a:solidFill>
                  <a:srgbClr val="1D4438"/>
                </a:solidFill>
                <a:latin typeface="Fraunces Light"/>
                <a:ea typeface="Fraunces Light"/>
                <a:cs typeface="Fraunces Light"/>
                <a:sym typeface="Fraunces Light"/>
              </a:rPr>
              <a:t>Workflow</a:t>
            </a:r>
            <a:endParaRPr sz="1581">
              <a:solidFill>
                <a:srgbClr val="1D4438"/>
              </a:solidFill>
              <a:latin typeface="Fraunces Light"/>
              <a:ea typeface="Fraunces Light"/>
              <a:cs typeface="Fraunces Light"/>
              <a:sym typeface="Fraunces Light"/>
            </a:endParaRPr>
          </a:p>
        </p:txBody>
      </p:sp>
      <p:sp>
        <p:nvSpPr>
          <p:cNvPr id="824" name="Google Shape;824;p44"/>
          <p:cNvSpPr/>
          <p:nvPr/>
        </p:nvSpPr>
        <p:spPr>
          <a:xfrm>
            <a:off x="1494300" y="4727519"/>
            <a:ext cx="2001600" cy="7288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8250" cap="flat" cmpd="sng">
            <a:solidFill>
              <a:srgbClr val="25654F"/>
            </a:solidFill>
            <a:prstDash val="dash"/>
            <a:round/>
            <a:headEnd type="none" w="sm" len="sm"/>
            <a:tailEnd type="none" w="sm" len="sm"/>
          </a:ln>
          <a:effectLst>
            <a:outerShdw blurRad="49498" dist="74248" dir="5400000" algn="bl" rotWithShape="0">
              <a:srgbClr val="000000">
                <a:alpha val="30000"/>
              </a:srgbClr>
            </a:outerShdw>
          </a:effectLst>
        </p:spPr>
        <p:txBody>
          <a:bodyPr spcFirstLastPara="1" wrap="square" lIns="169433" tIns="169433" rIns="169433" bIns="169433" anchor="ctr" anchorCtr="0">
            <a:noAutofit/>
          </a:bodyPr>
          <a:lstStyle/>
          <a:p>
            <a:pPr algn="ctr"/>
            <a:r>
              <a:rPr lang="en-US" sz="1581">
                <a:solidFill>
                  <a:srgbClr val="1D4438"/>
                </a:solidFill>
                <a:latin typeface="Fraunces Light"/>
                <a:ea typeface="Fraunces Light"/>
                <a:cs typeface="Fraunces Light"/>
                <a:sym typeface="Fraunces Light"/>
              </a:rPr>
              <a:t>Inbox</a:t>
            </a:r>
            <a:endParaRPr sz="1581">
              <a:solidFill>
                <a:srgbClr val="1D4438"/>
              </a:solidFill>
              <a:latin typeface="Fraunces Light"/>
              <a:ea typeface="Fraunces Light"/>
              <a:cs typeface="Fraunces Light"/>
              <a:sym typeface="Fraunces Light"/>
            </a:endParaRPr>
          </a:p>
          <a:p>
            <a:pPr algn="ctr"/>
            <a:r>
              <a:rPr lang="en-US" sz="1581">
                <a:solidFill>
                  <a:srgbClr val="1D4438"/>
                </a:solidFill>
                <a:latin typeface="Fraunces Light"/>
                <a:ea typeface="Fraunces Light"/>
                <a:cs typeface="Fraunces Light"/>
                <a:sym typeface="Fraunces Light"/>
              </a:rPr>
              <a:t>Workflow</a:t>
            </a:r>
            <a:endParaRPr sz="1581">
              <a:solidFill>
                <a:srgbClr val="1D4438"/>
              </a:solidFill>
              <a:latin typeface="Fraunces Light"/>
              <a:ea typeface="Fraunces Light"/>
              <a:cs typeface="Fraunces Light"/>
              <a:sym typeface="Fraunces Light"/>
            </a:endParaRPr>
          </a:p>
        </p:txBody>
      </p:sp>
      <p:sp>
        <p:nvSpPr>
          <p:cNvPr id="825" name="Google Shape;825;p44"/>
          <p:cNvSpPr/>
          <p:nvPr/>
        </p:nvSpPr>
        <p:spPr>
          <a:xfrm>
            <a:off x="3890225" y="4727519"/>
            <a:ext cx="2001600" cy="7288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8250" cap="flat" cmpd="sng">
            <a:solidFill>
              <a:srgbClr val="25654F"/>
            </a:solidFill>
            <a:prstDash val="dash"/>
            <a:round/>
            <a:headEnd type="none" w="sm" len="sm"/>
            <a:tailEnd type="none" w="sm" len="sm"/>
          </a:ln>
          <a:effectLst>
            <a:outerShdw blurRad="49498" dist="65998" dir="5400000" algn="bl" rotWithShape="0">
              <a:srgbClr val="000000">
                <a:alpha val="30000"/>
              </a:srgbClr>
            </a:outerShdw>
          </a:effectLst>
        </p:spPr>
        <p:txBody>
          <a:bodyPr spcFirstLastPara="1" wrap="square" lIns="169433" tIns="169433" rIns="169433" bIns="169433" anchor="ctr" anchorCtr="0">
            <a:noAutofit/>
          </a:bodyPr>
          <a:lstStyle/>
          <a:p>
            <a:pPr algn="ctr"/>
            <a:r>
              <a:rPr lang="en-US" sz="1581">
                <a:solidFill>
                  <a:srgbClr val="074B40"/>
                </a:solidFill>
                <a:latin typeface="Fraunces Light"/>
                <a:ea typeface="Fraunces Light"/>
                <a:cs typeface="Fraunces Light"/>
                <a:sym typeface="Fraunces Light"/>
              </a:rPr>
              <a:t>Intake</a:t>
            </a:r>
            <a:endParaRPr sz="1581">
              <a:solidFill>
                <a:srgbClr val="074B40"/>
              </a:solidFill>
              <a:latin typeface="Fraunces Light"/>
              <a:ea typeface="Fraunces Light"/>
              <a:cs typeface="Fraunces Light"/>
              <a:sym typeface="Fraunces Light"/>
            </a:endParaRPr>
          </a:p>
          <a:p>
            <a:pPr algn="ctr"/>
            <a:r>
              <a:rPr lang="en-US" sz="1581">
                <a:solidFill>
                  <a:srgbClr val="074B40"/>
                </a:solidFill>
                <a:latin typeface="Fraunces Light"/>
                <a:ea typeface="Fraunces Light"/>
                <a:cs typeface="Fraunces Light"/>
                <a:sym typeface="Fraunces Light"/>
              </a:rPr>
              <a:t>Workflow</a:t>
            </a:r>
            <a:endParaRPr sz="1581">
              <a:solidFill>
                <a:srgbClr val="074B40"/>
              </a:solidFill>
              <a:latin typeface="Fraunces Light"/>
              <a:ea typeface="Fraunces Light"/>
              <a:cs typeface="Fraunces Light"/>
              <a:sym typeface="Fraunces Light"/>
            </a:endParaRPr>
          </a:p>
        </p:txBody>
      </p:sp>
      <p:sp>
        <p:nvSpPr>
          <p:cNvPr id="826" name="Google Shape;826;p44"/>
          <p:cNvSpPr/>
          <p:nvPr/>
        </p:nvSpPr>
        <p:spPr>
          <a:xfrm>
            <a:off x="6286152" y="4727519"/>
            <a:ext cx="2001600" cy="7288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8250" cap="flat" cmpd="sng">
            <a:solidFill>
              <a:srgbClr val="25654F"/>
            </a:solidFill>
            <a:prstDash val="lgDash"/>
            <a:round/>
            <a:headEnd type="none" w="sm" len="sm"/>
            <a:tailEnd type="none" w="sm" len="sm"/>
          </a:ln>
          <a:effectLst>
            <a:outerShdw blurRad="49498" dist="65998" dir="5400000" algn="bl" rotWithShape="0">
              <a:srgbClr val="000000">
                <a:alpha val="30000"/>
              </a:srgbClr>
            </a:outerShdw>
          </a:effectLst>
        </p:spPr>
        <p:txBody>
          <a:bodyPr spcFirstLastPara="1" wrap="square" lIns="169433" tIns="169433" rIns="169433" bIns="169433" anchor="ctr" anchorCtr="0">
            <a:noAutofit/>
          </a:bodyPr>
          <a:lstStyle/>
          <a:p>
            <a:pPr algn="ctr"/>
            <a:r>
              <a:rPr lang="en-US" sz="1581">
                <a:solidFill>
                  <a:srgbClr val="074B40"/>
                </a:solidFill>
                <a:latin typeface="Fraunces Light"/>
                <a:ea typeface="Fraunces Light"/>
                <a:cs typeface="Fraunces Light"/>
                <a:sym typeface="Fraunces Light"/>
              </a:rPr>
              <a:t>Risk</a:t>
            </a:r>
            <a:endParaRPr sz="1581">
              <a:solidFill>
                <a:srgbClr val="074B40"/>
              </a:solidFill>
              <a:latin typeface="Fraunces Light"/>
              <a:ea typeface="Fraunces Light"/>
              <a:cs typeface="Fraunces Light"/>
              <a:sym typeface="Fraunces Light"/>
            </a:endParaRPr>
          </a:p>
          <a:p>
            <a:pPr algn="ctr"/>
            <a:r>
              <a:rPr lang="en-US" sz="1581">
                <a:solidFill>
                  <a:srgbClr val="074B40"/>
                </a:solidFill>
                <a:latin typeface="Fraunces Light"/>
                <a:ea typeface="Fraunces Light"/>
                <a:cs typeface="Fraunces Light"/>
                <a:sym typeface="Fraunces Light"/>
              </a:rPr>
              <a:t>Workflow</a:t>
            </a:r>
            <a:endParaRPr sz="1581">
              <a:solidFill>
                <a:srgbClr val="074B40"/>
              </a:solidFill>
              <a:latin typeface="Fraunces Light"/>
              <a:ea typeface="Fraunces Light"/>
              <a:cs typeface="Fraunces Light"/>
              <a:sym typeface="Fraunces Light"/>
            </a:endParaRPr>
          </a:p>
        </p:txBody>
      </p:sp>
      <p:pic>
        <p:nvPicPr>
          <p:cNvPr id="827" name="Google Shape;827;p4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76031" y="3103030"/>
            <a:ext cx="2425924" cy="52046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28" name="Google Shape;828;p44"/>
          <p:cNvCxnSpPr>
            <a:stCxn id="827" idx="2"/>
            <a:endCxn id="824" idx="0"/>
          </p:cNvCxnSpPr>
          <p:nvPr/>
        </p:nvCxnSpPr>
        <p:spPr>
          <a:xfrm rot="5400000">
            <a:off x="3739993" y="2378496"/>
            <a:ext cx="1104000" cy="3594000"/>
          </a:xfrm>
          <a:prstGeom prst="bentConnector3">
            <a:avLst>
              <a:gd name="adj1" fmla="val 49995"/>
            </a:avLst>
          </a:prstGeom>
          <a:noFill/>
          <a:ln w="41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29" name="Google Shape;829;p44"/>
          <p:cNvCxnSpPr>
            <a:stCxn id="827" idx="2"/>
            <a:endCxn id="825" idx="0"/>
          </p:cNvCxnSpPr>
          <p:nvPr/>
        </p:nvCxnSpPr>
        <p:spPr>
          <a:xfrm rot="5400000">
            <a:off x="4937993" y="3576496"/>
            <a:ext cx="1104000" cy="1198000"/>
          </a:xfrm>
          <a:prstGeom prst="bentConnector3">
            <a:avLst>
              <a:gd name="adj1" fmla="val 49995"/>
            </a:avLst>
          </a:prstGeom>
          <a:noFill/>
          <a:ln w="41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30" name="Google Shape;830;p44"/>
          <p:cNvCxnSpPr>
            <a:stCxn id="827" idx="2"/>
            <a:endCxn id="826" idx="0"/>
          </p:cNvCxnSpPr>
          <p:nvPr/>
        </p:nvCxnSpPr>
        <p:spPr>
          <a:xfrm rot="-5400000" flipH="1">
            <a:off x="6135993" y="3576496"/>
            <a:ext cx="1104000" cy="1198000"/>
          </a:xfrm>
          <a:prstGeom prst="bentConnector3">
            <a:avLst>
              <a:gd name="adj1" fmla="val 49995"/>
            </a:avLst>
          </a:prstGeom>
          <a:noFill/>
          <a:ln w="41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31" name="Google Shape;831;p44"/>
          <p:cNvCxnSpPr>
            <a:stCxn id="827" idx="2"/>
            <a:endCxn id="823" idx="0"/>
          </p:cNvCxnSpPr>
          <p:nvPr/>
        </p:nvCxnSpPr>
        <p:spPr>
          <a:xfrm rot="-5400000" flipH="1">
            <a:off x="7333993" y="2378496"/>
            <a:ext cx="1104000" cy="3594000"/>
          </a:xfrm>
          <a:prstGeom prst="bentConnector3">
            <a:avLst>
              <a:gd name="adj1" fmla="val 49995"/>
            </a:avLst>
          </a:prstGeom>
          <a:noFill/>
          <a:ln w="41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32" name="Google Shape;832;p44"/>
          <p:cNvSpPr/>
          <p:nvPr/>
        </p:nvSpPr>
        <p:spPr>
          <a:xfrm>
            <a:off x="4666576" y="2951400"/>
            <a:ext cx="2772400" cy="813600"/>
          </a:xfrm>
          <a:prstGeom prst="roundRect">
            <a:avLst>
              <a:gd name="adj" fmla="val 14811"/>
            </a:avLst>
          </a:prstGeom>
          <a:solidFill>
            <a:schemeClr val="lt1"/>
          </a:solidFill>
          <a:ln w="8250" cap="flat" cmpd="sng">
            <a:solidFill>
              <a:srgbClr val="25654F"/>
            </a:solidFill>
            <a:prstDash val="solid"/>
            <a:round/>
            <a:headEnd type="none" w="sm" len="sm"/>
            <a:tailEnd type="none" w="sm" len="sm"/>
          </a:ln>
          <a:effectLst>
            <a:outerShdw blurRad="49498" dist="16499" dir="5400000" algn="bl" rotWithShape="0">
              <a:srgbClr val="000000">
                <a:alpha val="30000"/>
              </a:srgbClr>
            </a:outerShdw>
          </a:effectLst>
        </p:spPr>
        <p:txBody>
          <a:bodyPr spcFirstLastPara="1" wrap="square" lIns="105567" tIns="105567" rIns="105567" bIns="105567" anchor="ctr" anchorCtr="0">
            <a:noAutofit/>
          </a:bodyPr>
          <a:lstStyle/>
          <a:p>
            <a:pPr algn="ctr"/>
            <a:endParaRPr sz="1617"/>
          </a:p>
        </p:txBody>
      </p:sp>
      <p:cxnSp>
        <p:nvCxnSpPr>
          <p:cNvPr id="833" name="Google Shape;833;p44"/>
          <p:cNvCxnSpPr>
            <a:stCxn id="824" idx="3"/>
            <a:endCxn id="825" idx="1"/>
          </p:cNvCxnSpPr>
          <p:nvPr/>
        </p:nvCxnSpPr>
        <p:spPr>
          <a:xfrm>
            <a:off x="3495900" y="5091919"/>
            <a:ext cx="394400" cy="0"/>
          </a:xfrm>
          <a:prstGeom prst="straightConnector1">
            <a:avLst/>
          </a:prstGeom>
          <a:noFill/>
          <a:ln w="522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834" name="Google Shape;834;p44"/>
          <p:cNvCxnSpPr>
            <a:stCxn id="825" idx="3"/>
            <a:endCxn id="826" idx="1"/>
          </p:cNvCxnSpPr>
          <p:nvPr/>
        </p:nvCxnSpPr>
        <p:spPr>
          <a:xfrm>
            <a:off x="5891825" y="5091919"/>
            <a:ext cx="394400" cy="0"/>
          </a:xfrm>
          <a:prstGeom prst="straightConnector1">
            <a:avLst/>
          </a:prstGeom>
          <a:noFill/>
          <a:ln w="522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835" name="Google Shape;835;p44"/>
          <p:cNvCxnSpPr>
            <a:stCxn id="826" idx="3"/>
            <a:endCxn id="823" idx="1"/>
          </p:cNvCxnSpPr>
          <p:nvPr/>
        </p:nvCxnSpPr>
        <p:spPr>
          <a:xfrm>
            <a:off x="8287752" y="5091919"/>
            <a:ext cx="394400" cy="0"/>
          </a:xfrm>
          <a:prstGeom prst="straightConnector1">
            <a:avLst/>
          </a:prstGeom>
          <a:noFill/>
          <a:ln w="522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pic>
        <p:nvPicPr>
          <p:cNvPr id="836" name="Google Shape;836;p44" title="Green FAI (Transparent).png"/>
          <p:cNvPicPr preferRelativeResize="0"/>
          <p:nvPr/>
        </p:nvPicPr>
        <p:blipFill rotWithShape="1">
          <a:blip r:embed="rId4">
            <a:alphaModFix/>
          </a:blip>
          <a:srcRect t="28222" b="30995"/>
          <a:stretch/>
        </p:blipFill>
        <p:spPr>
          <a:xfrm>
            <a:off x="5051996" y="3128641"/>
            <a:ext cx="2001765" cy="459303"/>
          </a:xfrm>
          <a:prstGeom prst="rect">
            <a:avLst/>
          </a:prstGeom>
          <a:noFill/>
          <a:ln>
            <a:noFill/>
          </a:ln>
        </p:spPr>
      </p:pic>
      <p:sp>
        <p:nvSpPr>
          <p:cNvPr id="837" name="Google Shape;837;p44"/>
          <p:cNvSpPr txBox="1"/>
          <p:nvPr/>
        </p:nvSpPr>
        <p:spPr>
          <a:xfrm>
            <a:off x="252023" y="6407867"/>
            <a:ext cx="2977200" cy="2565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67" tIns="60967" rIns="60967" bIns="60967" anchor="t" anchorCtr="0">
            <a:spAutoFit/>
          </a:bodyPr>
          <a:lstStyle/>
          <a:p>
            <a:r>
              <a:rPr lang="en-US" sz="867">
                <a:solidFill>
                  <a:srgbClr val="595959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AI Workspace for Insurance</a:t>
            </a:r>
            <a:endParaRPr sz="867">
              <a:solidFill>
                <a:srgbClr val="595959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838" name="Google Shape;838;p44"/>
          <p:cNvSpPr txBox="1">
            <a:spLocks noGrp="1"/>
          </p:cNvSpPr>
          <p:nvPr>
            <p:ph type="sldNum" idx="4294967295"/>
          </p:nvPr>
        </p:nvSpPr>
        <p:spPr>
          <a:xfrm>
            <a:off x="8110788" y="4798326"/>
            <a:ext cx="841200" cy="1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595959"/>
                </a:solidFill>
                <a:latin typeface="Wix Madefor Display"/>
                <a:ea typeface="Wix Madefor Display"/>
                <a:cs typeface="Wix Madefor Display"/>
                <a:sym typeface="Wix Madefor Display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595959"/>
                </a:solidFill>
                <a:latin typeface="Wix Madefor Display"/>
                <a:ea typeface="Wix Madefor Display"/>
                <a:cs typeface="Wix Madefor Display"/>
                <a:sym typeface="Wix Madefor Display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595959"/>
                </a:solidFill>
                <a:latin typeface="Wix Madefor Display"/>
                <a:ea typeface="Wix Madefor Display"/>
                <a:cs typeface="Wix Madefor Display"/>
                <a:sym typeface="Wix Madefor Display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595959"/>
                </a:solidFill>
                <a:latin typeface="Wix Madefor Display"/>
                <a:ea typeface="Wix Madefor Display"/>
                <a:cs typeface="Wix Madefor Display"/>
                <a:sym typeface="Wix Madefor Display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595959"/>
                </a:solidFill>
                <a:latin typeface="Wix Madefor Display"/>
                <a:ea typeface="Wix Madefor Display"/>
                <a:cs typeface="Wix Madefor Display"/>
                <a:sym typeface="Wix Madefor Display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595959"/>
                </a:solidFill>
                <a:latin typeface="Wix Madefor Display"/>
                <a:ea typeface="Wix Madefor Display"/>
                <a:cs typeface="Wix Madefor Display"/>
                <a:sym typeface="Wix Madefor Display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595959"/>
                </a:solidFill>
                <a:latin typeface="Wix Madefor Display"/>
                <a:ea typeface="Wix Madefor Display"/>
                <a:cs typeface="Wix Madefor Display"/>
                <a:sym typeface="Wix Madefor Display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595959"/>
                </a:solidFill>
                <a:latin typeface="Wix Madefor Display"/>
                <a:ea typeface="Wix Madefor Display"/>
                <a:cs typeface="Wix Madefor Display"/>
                <a:sym typeface="Wix Madefor Display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595959"/>
                </a:solidFill>
                <a:latin typeface="Wix Madefor Display"/>
                <a:ea typeface="Wix Madefor Display"/>
                <a:cs typeface="Wix Madefor Display"/>
                <a:sym typeface="Wix Madefor Display"/>
              </a:defRPr>
            </a:lvl9pPr>
          </a:lstStyle>
          <a:p>
            <a:pPr algn="r"/>
            <a:fld id="{00000000-1234-1234-1234-123412341234}" type="slidenum">
              <a:rPr lang="en-US" smtClean="0"/>
              <a:pPr algn="r"/>
              <a:t>15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1" name="Google Shape;1021;p49" title="Slides dump - merge to decks (2).png"/>
          <p:cNvPicPr preferRelativeResize="0"/>
          <p:nvPr/>
        </p:nvPicPr>
        <p:blipFill rotWithShape="1">
          <a:blip r:embed="rId3">
            <a:alphaModFix/>
          </a:blip>
          <a:srcRect r="37166"/>
          <a:stretch/>
        </p:blipFill>
        <p:spPr>
          <a:xfrm rot="10800000">
            <a:off x="0" y="-21168"/>
            <a:ext cx="3748800" cy="6879168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22" name="Google Shape;1022;p49"/>
          <p:cNvGraphicFramePr/>
          <p:nvPr/>
        </p:nvGraphicFramePr>
        <p:xfrm>
          <a:off x="813992" y="603017"/>
          <a:ext cx="1910000" cy="6022933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91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4929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900"/>
                    </a:p>
                  </a:txBody>
                  <a:tcPr marL="60967" marR="60967" marT="60967" marB="60967">
                    <a:lnL w="4775" cap="flat" cmpd="sng">
                      <a:solidFill>
                        <a:srgbClr val="9E9E9E"/>
                      </a:solidFill>
                      <a:prstDash val="lgDash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9E9E9E"/>
                      </a:solidFill>
                      <a:prstDash val="lgDash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9E9E9E"/>
                      </a:solidFill>
                      <a:prstDash val="lgDash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9E9E9E"/>
                      </a:solidFill>
                      <a:prstDash val="lgDash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62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60967" marR="60967" marT="60967" marB="60967">
                    <a:lnL w="4775" cap="flat" cmpd="sng">
                      <a:solidFill>
                        <a:srgbClr val="9E9E9E"/>
                      </a:solidFill>
                      <a:prstDash val="lgDash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9E9E9E"/>
                      </a:solidFill>
                      <a:prstDash val="lgDash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9E9E9E"/>
                      </a:solidFill>
                      <a:prstDash val="lgDash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9E9E9E"/>
                      </a:solidFill>
                      <a:prstDash val="lgDash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66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60967" marR="60967" marT="60967" marB="60967">
                    <a:lnL w="4775" cap="flat" cmpd="sng">
                      <a:solidFill>
                        <a:srgbClr val="9E9E9E"/>
                      </a:solidFill>
                      <a:prstDash val="lgDash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9E9E9E"/>
                      </a:solidFill>
                      <a:prstDash val="lgDash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9E9E9E"/>
                      </a:solidFill>
                      <a:prstDash val="lgDash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9E9E9E"/>
                      </a:solidFill>
                      <a:prstDash val="lgDash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0183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900"/>
                    </a:p>
                  </a:txBody>
                  <a:tcPr marL="60967" marR="60967" marT="60967" marB="60967">
                    <a:lnL w="4775" cap="flat" cmpd="sng">
                      <a:solidFill>
                        <a:srgbClr val="9E9E9E"/>
                      </a:solidFill>
                      <a:prstDash val="lgDash"/>
                      <a:round/>
                      <a:headEnd type="none" w="sm" len="sm"/>
                      <a:tailEnd type="none" w="sm" len="sm"/>
                    </a:lnL>
                    <a:lnR w="4775" cap="flat" cmpd="sng">
                      <a:solidFill>
                        <a:srgbClr val="9E9E9E"/>
                      </a:solidFill>
                      <a:prstDash val="lgDash"/>
                      <a:round/>
                      <a:headEnd type="none" w="sm" len="sm"/>
                      <a:tailEnd type="none" w="sm" len="sm"/>
                    </a:lnR>
                    <a:lnT w="4775" cap="flat" cmpd="sng">
                      <a:solidFill>
                        <a:srgbClr val="9E9E9E"/>
                      </a:solidFill>
                      <a:prstDash val="lgDash"/>
                      <a:round/>
                      <a:headEnd type="none" w="sm" len="sm"/>
                      <a:tailEnd type="none" w="sm" len="sm"/>
                    </a:lnT>
                    <a:lnB w="4775" cap="flat" cmpd="sng">
                      <a:solidFill>
                        <a:srgbClr val="9E9E9E"/>
                      </a:solidFill>
                      <a:prstDash val="lgDash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023" name="Google Shape;1023;p49" title="Frame 2147227965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40867" y="830633"/>
            <a:ext cx="909067" cy="909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4" name="Google Shape;1024;p49" title="Frame 2147227963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14475" y="2426441"/>
            <a:ext cx="961867" cy="961867"/>
          </a:xfrm>
          <a:prstGeom prst="rect">
            <a:avLst/>
          </a:prstGeom>
          <a:noFill/>
          <a:ln>
            <a:noFill/>
          </a:ln>
        </p:spPr>
      </p:pic>
      <p:sp>
        <p:nvSpPr>
          <p:cNvPr id="1025" name="Google Shape;1025;p49"/>
          <p:cNvSpPr txBox="1"/>
          <p:nvPr/>
        </p:nvSpPr>
        <p:spPr>
          <a:xfrm>
            <a:off x="802467" y="1778018"/>
            <a:ext cx="626400" cy="297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67" tIns="60967" rIns="60967" bIns="60967" anchor="t" anchorCtr="0">
            <a:spAutoFit/>
          </a:bodyPr>
          <a:lstStyle/>
          <a:p>
            <a:r>
              <a:rPr lang="en-US" sz="1133" b="1">
                <a:solidFill>
                  <a:srgbClr val="D0CEC3"/>
                </a:solidFill>
                <a:latin typeface="Courier New"/>
                <a:ea typeface="Courier New"/>
                <a:cs typeface="Courier New"/>
                <a:sym typeface="Courier New"/>
              </a:rPr>
              <a:t>SOC2</a:t>
            </a:r>
            <a:endParaRPr sz="1133" b="1">
              <a:solidFill>
                <a:srgbClr val="D0CEC3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26" name="Google Shape;1026;p49"/>
          <p:cNvSpPr txBox="1"/>
          <p:nvPr/>
        </p:nvSpPr>
        <p:spPr>
          <a:xfrm>
            <a:off x="804017" y="3328851"/>
            <a:ext cx="626400" cy="297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67" tIns="60967" rIns="60967" bIns="60967" anchor="t" anchorCtr="0">
            <a:spAutoFit/>
          </a:bodyPr>
          <a:lstStyle/>
          <a:p>
            <a:r>
              <a:rPr lang="en-US" sz="1133" b="1">
                <a:solidFill>
                  <a:srgbClr val="D0CEC3"/>
                </a:solidFill>
                <a:latin typeface="Courier New"/>
                <a:ea typeface="Courier New"/>
                <a:cs typeface="Courier New"/>
                <a:sym typeface="Courier New"/>
              </a:rPr>
              <a:t>GDPR</a:t>
            </a:r>
            <a:endParaRPr sz="1133" b="1">
              <a:solidFill>
                <a:srgbClr val="D0CEC3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027" name="Google Shape;1027;p49" title="Frame 2147227962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340863" y="3942333"/>
            <a:ext cx="909067" cy="909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8" name="Google Shape;1028;p49" title="Frame 2147227964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314467" y="5345649"/>
            <a:ext cx="909067" cy="909067"/>
          </a:xfrm>
          <a:prstGeom prst="rect">
            <a:avLst/>
          </a:prstGeom>
          <a:noFill/>
          <a:ln>
            <a:noFill/>
          </a:ln>
        </p:spPr>
      </p:pic>
      <p:sp>
        <p:nvSpPr>
          <p:cNvPr id="1029" name="Google Shape;1029;p49"/>
          <p:cNvSpPr txBox="1"/>
          <p:nvPr/>
        </p:nvSpPr>
        <p:spPr>
          <a:xfrm>
            <a:off x="804016" y="4946951"/>
            <a:ext cx="1010800" cy="297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67" tIns="60967" rIns="60967" bIns="60967" anchor="t" anchorCtr="0">
            <a:spAutoFit/>
          </a:bodyPr>
          <a:lstStyle/>
          <a:p>
            <a:r>
              <a:rPr lang="en-US" sz="1133" b="1">
                <a:solidFill>
                  <a:srgbClr val="D0CEC3"/>
                </a:solidFill>
                <a:latin typeface="Courier New"/>
                <a:ea typeface="Courier New"/>
                <a:cs typeface="Courier New"/>
                <a:sym typeface="Courier New"/>
              </a:rPr>
              <a:t>ISO 27001</a:t>
            </a:r>
            <a:endParaRPr sz="1133" b="1">
              <a:solidFill>
                <a:srgbClr val="D0CEC3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30" name="Google Shape;1030;p49"/>
          <p:cNvSpPr txBox="1"/>
          <p:nvPr/>
        </p:nvSpPr>
        <p:spPr>
          <a:xfrm>
            <a:off x="4265028" y="449134"/>
            <a:ext cx="7122000" cy="1148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-US" sz="2933">
                <a:solidFill>
                  <a:srgbClr val="2B2D31"/>
                </a:solidFill>
                <a:latin typeface="Fraunces"/>
                <a:ea typeface="Fraunces"/>
                <a:cs typeface="Fraunces"/>
                <a:sym typeface="Fraunces"/>
              </a:rPr>
              <a:t>Your data, models, and knowledge</a:t>
            </a:r>
            <a:endParaRPr sz="2933">
              <a:solidFill>
                <a:srgbClr val="2B2D31"/>
              </a:solidFill>
              <a:latin typeface="Fraunces"/>
              <a:ea typeface="Fraunces"/>
              <a:cs typeface="Fraunces"/>
              <a:sym typeface="Fraunces"/>
            </a:endParaRPr>
          </a:p>
          <a:p>
            <a:pPr>
              <a:buClr>
                <a:schemeClr val="dk1"/>
              </a:buClr>
              <a:buSzPts val="1100"/>
            </a:pPr>
            <a:r>
              <a:rPr lang="en-US" sz="2933">
                <a:solidFill>
                  <a:srgbClr val="2B2D31"/>
                </a:solidFill>
                <a:latin typeface="Fraunces"/>
                <a:ea typeface="Fraunces"/>
                <a:cs typeface="Fraunces"/>
                <a:sym typeface="Fraunces"/>
              </a:rPr>
              <a:t>stay secure. Always.</a:t>
            </a:r>
            <a:endParaRPr sz="667">
              <a:solidFill>
                <a:srgbClr val="2B2D31"/>
              </a:solidFill>
              <a:latin typeface="Fraunces"/>
              <a:ea typeface="Fraunces"/>
              <a:cs typeface="Fraunces"/>
              <a:sym typeface="Fraunces"/>
            </a:endParaRPr>
          </a:p>
        </p:txBody>
      </p:sp>
      <p:sp>
        <p:nvSpPr>
          <p:cNvPr id="1031" name="Google Shape;1031;p49"/>
          <p:cNvSpPr/>
          <p:nvPr/>
        </p:nvSpPr>
        <p:spPr>
          <a:xfrm>
            <a:off x="4391433" y="1913467"/>
            <a:ext cx="7275600" cy="986400"/>
          </a:xfrm>
          <a:prstGeom prst="roundRect">
            <a:avLst>
              <a:gd name="adj" fmla="val 16667"/>
            </a:avLst>
          </a:prstGeom>
          <a:solidFill>
            <a:srgbClr val="F8F7F5"/>
          </a:solidFill>
          <a:ln w="9525" cap="flat" cmpd="sng">
            <a:solidFill>
              <a:srgbClr val="D0CEC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1867"/>
          </a:p>
        </p:txBody>
      </p:sp>
      <p:sp>
        <p:nvSpPr>
          <p:cNvPr id="1032" name="Google Shape;1032;p49"/>
          <p:cNvSpPr txBox="1"/>
          <p:nvPr/>
        </p:nvSpPr>
        <p:spPr>
          <a:xfrm>
            <a:off x="804016" y="6305518"/>
            <a:ext cx="1010800" cy="297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67" tIns="60967" rIns="60967" bIns="60967" anchor="t" anchorCtr="0">
            <a:spAutoFit/>
          </a:bodyPr>
          <a:lstStyle/>
          <a:p>
            <a:r>
              <a:rPr lang="en-US" sz="1133" b="1">
                <a:solidFill>
                  <a:srgbClr val="D0CEC3"/>
                </a:solidFill>
                <a:latin typeface="Courier New"/>
                <a:ea typeface="Courier New"/>
                <a:cs typeface="Courier New"/>
                <a:sym typeface="Courier New"/>
              </a:rPr>
              <a:t>HIPAA</a:t>
            </a:r>
            <a:endParaRPr sz="1133" b="1">
              <a:solidFill>
                <a:srgbClr val="D0CEC3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33" name="Google Shape;1033;p49"/>
          <p:cNvSpPr/>
          <p:nvPr/>
        </p:nvSpPr>
        <p:spPr>
          <a:xfrm>
            <a:off x="4391433" y="3017917"/>
            <a:ext cx="7275600" cy="986400"/>
          </a:xfrm>
          <a:prstGeom prst="roundRect">
            <a:avLst>
              <a:gd name="adj" fmla="val 16667"/>
            </a:avLst>
          </a:prstGeom>
          <a:solidFill>
            <a:srgbClr val="F8F7F5"/>
          </a:solidFill>
          <a:ln w="9525" cap="flat" cmpd="sng">
            <a:solidFill>
              <a:srgbClr val="D0CEC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1867"/>
          </a:p>
        </p:txBody>
      </p:sp>
      <p:sp>
        <p:nvSpPr>
          <p:cNvPr id="1034" name="Google Shape;1034;p49"/>
          <p:cNvSpPr/>
          <p:nvPr/>
        </p:nvSpPr>
        <p:spPr>
          <a:xfrm>
            <a:off x="4391433" y="4122367"/>
            <a:ext cx="7275600" cy="986400"/>
          </a:xfrm>
          <a:prstGeom prst="roundRect">
            <a:avLst>
              <a:gd name="adj" fmla="val 16667"/>
            </a:avLst>
          </a:prstGeom>
          <a:solidFill>
            <a:srgbClr val="F8F7F5"/>
          </a:solidFill>
          <a:ln w="9525" cap="flat" cmpd="sng">
            <a:solidFill>
              <a:srgbClr val="D0CEC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1867"/>
          </a:p>
        </p:txBody>
      </p:sp>
      <p:sp>
        <p:nvSpPr>
          <p:cNvPr id="1035" name="Google Shape;1035;p49"/>
          <p:cNvSpPr/>
          <p:nvPr/>
        </p:nvSpPr>
        <p:spPr>
          <a:xfrm>
            <a:off x="4391433" y="5226800"/>
            <a:ext cx="7275600" cy="986400"/>
          </a:xfrm>
          <a:prstGeom prst="roundRect">
            <a:avLst>
              <a:gd name="adj" fmla="val 16667"/>
            </a:avLst>
          </a:prstGeom>
          <a:solidFill>
            <a:srgbClr val="F8F7F5"/>
          </a:solidFill>
          <a:ln w="9525" cap="flat" cmpd="sng">
            <a:solidFill>
              <a:srgbClr val="D0CEC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1867"/>
          </a:p>
        </p:txBody>
      </p:sp>
      <p:sp>
        <p:nvSpPr>
          <p:cNvPr id="1036" name="Google Shape;1036;p49"/>
          <p:cNvSpPr txBox="1"/>
          <p:nvPr/>
        </p:nvSpPr>
        <p:spPr>
          <a:xfrm>
            <a:off x="4530799" y="1967085"/>
            <a:ext cx="4804000" cy="615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-US" sz="2400">
                <a:solidFill>
                  <a:srgbClr val="444339"/>
                </a:solidFill>
                <a:latin typeface="Fraunces"/>
                <a:ea typeface="Fraunces"/>
                <a:cs typeface="Fraunces"/>
                <a:sym typeface="Fraunces"/>
              </a:rPr>
              <a:t>Industry Leading Certifications</a:t>
            </a:r>
            <a:endParaRPr sz="133">
              <a:solidFill>
                <a:srgbClr val="444339"/>
              </a:solidFill>
              <a:latin typeface="Fraunces"/>
              <a:ea typeface="Fraunces"/>
              <a:cs typeface="Fraunces"/>
              <a:sym typeface="Fraunces"/>
            </a:endParaRPr>
          </a:p>
        </p:txBody>
      </p:sp>
      <p:sp>
        <p:nvSpPr>
          <p:cNvPr id="1037" name="Google Shape;1037;p49"/>
          <p:cNvSpPr txBox="1"/>
          <p:nvPr/>
        </p:nvSpPr>
        <p:spPr>
          <a:xfrm>
            <a:off x="4520433" y="2405051"/>
            <a:ext cx="7017600" cy="441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-US" sz="1267">
                <a:solidFill>
                  <a:srgbClr val="444339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We adhere to the highest security standards - SOC2, GDPR, ISO 27001, HIPAA, CCPA, etc.</a:t>
            </a:r>
            <a:endParaRPr sz="1733">
              <a:solidFill>
                <a:srgbClr val="444339"/>
              </a:solidFill>
            </a:endParaRPr>
          </a:p>
        </p:txBody>
      </p:sp>
      <p:sp>
        <p:nvSpPr>
          <p:cNvPr id="1038" name="Google Shape;1038;p49"/>
          <p:cNvSpPr txBox="1"/>
          <p:nvPr/>
        </p:nvSpPr>
        <p:spPr>
          <a:xfrm>
            <a:off x="4530799" y="3084684"/>
            <a:ext cx="4804000" cy="615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-US" sz="2400">
                <a:solidFill>
                  <a:srgbClr val="444339"/>
                </a:solidFill>
                <a:latin typeface="Fraunces"/>
                <a:ea typeface="Fraunces"/>
                <a:cs typeface="Fraunces"/>
                <a:sym typeface="Fraunces"/>
              </a:rPr>
              <a:t>Zero Data Training Policy</a:t>
            </a:r>
            <a:endParaRPr sz="133">
              <a:solidFill>
                <a:srgbClr val="444339"/>
              </a:solidFill>
              <a:latin typeface="Fraunces"/>
              <a:ea typeface="Fraunces"/>
              <a:cs typeface="Fraunces"/>
              <a:sym typeface="Fraunces"/>
            </a:endParaRPr>
          </a:p>
        </p:txBody>
      </p:sp>
      <p:sp>
        <p:nvSpPr>
          <p:cNvPr id="1039" name="Google Shape;1039;p49"/>
          <p:cNvSpPr txBox="1"/>
          <p:nvPr/>
        </p:nvSpPr>
        <p:spPr>
          <a:xfrm>
            <a:off x="4520433" y="3522651"/>
            <a:ext cx="7017600" cy="441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-US" sz="1267">
                <a:solidFill>
                  <a:srgbClr val="444339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Your data and prompts are never used to train our models. What’s yours stays yours.</a:t>
            </a:r>
            <a:endParaRPr sz="1733">
              <a:solidFill>
                <a:srgbClr val="444339"/>
              </a:solidFill>
            </a:endParaRPr>
          </a:p>
        </p:txBody>
      </p:sp>
      <p:sp>
        <p:nvSpPr>
          <p:cNvPr id="1040" name="Google Shape;1040;p49"/>
          <p:cNvSpPr txBox="1"/>
          <p:nvPr/>
        </p:nvSpPr>
        <p:spPr>
          <a:xfrm>
            <a:off x="4530799" y="4175967"/>
            <a:ext cx="4804000" cy="615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-US" sz="2400">
                <a:solidFill>
                  <a:srgbClr val="444339"/>
                </a:solidFill>
                <a:latin typeface="Fraunces"/>
                <a:ea typeface="Fraunces"/>
                <a:cs typeface="Fraunces"/>
                <a:sym typeface="Fraunces"/>
              </a:rPr>
              <a:t>End-to-End Encryption</a:t>
            </a:r>
            <a:endParaRPr sz="133">
              <a:solidFill>
                <a:srgbClr val="444339"/>
              </a:solidFill>
              <a:latin typeface="Fraunces"/>
              <a:ea typeface="Fraunces"/>
              <a:cs typeface="Fraunces"/>
              <a:sym typeface="Fraunces"/>
            </a:endParaRPr>
          </a:p>
        </p:txBody>
      </p:sp>
      <p:sp>
        <p:nvSpPr>
          <p:cNvPr id="1041" name="Google Shape;1041;p49"/>
          <p:cNvSpPr txBox="1"/>
          <p:nvPr/>
        </p:nvSpPr>
        <p:spPr>
          <a:xfrm>
            <a:off x="4520433" y="4613933"/>
            <a:ext cx="7017600" cy="441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-US" sz="1267">
                <a:solidFill>
                  <a:srgbClr val="444339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All data is fully encrypted - both in transit and in rest - using enterprise-grade protocols.</a:t>
            </a:r>
            <a:endParaRPr sz="1733">
              <a:solidFill>
                <a:srgbClr val="444339"/>
              </a:solidFill>
            </a:endParaRPr>
          </a:p>
        </p:txBody>
      </p:sp>
      <p:sp>
        <p:nvSpPr>
          <p:cNvPr id="1042" name="Google Shape;1042;p49"/>
          <p:cNvSpPr txBox="1"/>
          <p:nvPr/>
        </p:nvSpPr>
        <p:spPr>
          <a:xfrm>
            <a:off x="4530799" y="5267251"/>
            <a:ext cx="4804000" cy="615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-US" sz="2400">
                <a:solidFill>
                  <a:srgbClr val="444339"/>
                </a:solidFill>
                <a:latin typeface="Fraunces"/>
                <a:ea typeface="Fraunces"/>
                <a:cs typeface="Fraunces"/>
                <a:sym typeface="Fraunces"/>
              </a:rPr>
              <a:t>Single Tenant Architecture</a:t>
            </a:r>
            <a:endParaRPr sz="133">
              <a:solidFill>
                <a:srgbClr val="444339"/>
              </a:solidFill>
              <a:latin typeface="Fraunces"/>
              <a:ea typeface="Fraunces"/>
              <a:cs typeface="Fraunces"/>
              <a:sym typeface="Fraunces"/>
            </a:endParaRPr>
          </a:p>
        </p:txBody>
      </p:sp>
      <p:sp>
        <p:nvSpPr>
          <p:cNvPr id="1043" name="Google Shape;1043;p49"/>
          <p:cNvSpPr txBox="1"/>
          <p:nvPr/>
        </p:nvSpPr>
        <p:spPr>
          <a:xfrm>
            <a:off x="4520433" y="5705217"/>
            <a:ext cx="7017600" cy="441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-US" sz="1267">
                <a:solidFill>
                  <a:srgbClr val="444339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Dedicated infrastructure per customer. No shared data, no shared risk.</a:t>
            </a:r>
            <a:endParaRPr sz="1733">
              <a:solidFill>
                <a:srgbClr val="444339"/>
              </a:solidFill>
            </a:endParaRPr>
          </a:p>
        </p:txBody>
      </p:sp>
      <p:sp>
        <p:nvSpPr>
          <p:cNvPr id="1044" name="Google Shape;1044;p49"/>
          <p:cNvSpPr txBox="1">
            <a:spLocks noGrp="1"/>
          </p:cNvSpPr>
          <p:nvPr>
            <p:ph type="sldNum" idx="12"/>
          </p:nvPr>
        </p:nvSpPr>
        <p:spPr>
          <a:xfrm>
            <a:off x="8110788" y="4798325"/>
            <a:ext cx="841200" cy="1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595959"/>
                </a:solidFill>
                <a:latin typeface="Wix Madefor Display"/>
                <a:ea typeface="Wix Madefor Display"/>
                <a:cs typeface="Wix Madefor Display"/>
                <a:sym typeface="Wix Madefor Display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595959"/>
                </a:solidFill>
                <a:latin typeface="Wix Madefor Display"/>
                <a:ea typeface="Wix Madefor Display"/>
                <a:cs typeface="Wix Madefor Display"/>
                <a:sym typeface="Wix Madefor Display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595959"/>
                </a:solidFill>
                <a:latin typeface="Wix Madefor Display"/>
                <a:ea typeface="Wix Madefor Display"/>
                <a:cs typeface="Wix Madefor Display"/>
                <a:sym typeface="Wix Madefor Display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595959"/>
                </a:solidFill>
                <a:latin typeface="Wix Madefor Display"/>
                <a:ea typeface="Wix Madefor Display"/>
                <a:cs typeface="Wix Madefor Display"/>
                <a:sym typeface="Wix Madefor Display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595959"/>
                </a:solidFill>
                <a:latin typeface="Wix Madefor Display"/>
                <a:ea typeface="Wix Madefor Display"/>
                <a:cs typeface="Wix Madefor Display"/>
                <a:sym typeface="Wix Madefor Display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595959"/>
                </a:solidFill>
                <a:latin typeface="Wix Madefor Display"/>
                <a:ea typeface="Wix Madefor Display"/>
                <a:cs typeface="Wix Madefor Display"/>
                <a:sym typeface="Wix Madefor Display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595959"/>
                </a:solidFill>
                <a:latin typeface="Wix Madefor Display"/>
                <a:ea typeface="Wix Madefor Display"/>
                <a:cs typeface="Wix Madefor Display"/>
                <a:sym typeface="Wix Madefor Display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595959"/>
                </a:solidFill>
                <a:latin typeface="Wix Madefor Display"/>
                <a:ea typeface="Wix Madefor Display"/>
                <a:cs typeface="Wix Madefor Display"/>
                <a:sym typeface="Wix Madefor Display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595959"/>
                </a:solidFill>
                <a:latin typeface="Wix Madefor Display"/>
                <a:ea typeface="Wix Madefor Display"/>
                <a:cs typeface="Wix Madefor Display"/>
                <a:sym typeface="Wix Madefor Display"/>
              </a:defRPr>
            </a:lvl9pPr>
          </a:lstStyle>
          <a:p>
            <a:pPr algn="r"/>
            <a:fld id="{00000000-1234-1234-1234-123412341234}" type="slidenum">
              <a:rPr lang="en-US" smtClean="0"/>
              <a:pPr algn="r"/>
              <a:t>16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0" name="Google Shape;1050;p50" title="Slides dump - merge to decks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12192000" cy="68580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1" name="Google Shape;1051;p50" title="Slides dump - merge to decks (3).png"/>
          <p:cNvPicPr preferRelativeResize="0"/>
          <p:nvPr/>
        </p:nvPicPr>
        <p:blipFill rotWithShape="1">
          <a:blip r:embed="rId4">
            <a:alphaModFix amt="28000"/>
          </a:blip>
          <a:srcRect l="29474" r="1854"/>
          <a:stretch/>
        </p:blipFill>
        <p:spPr>
          <a:xfrm>
            <a:off x="-3428202" y="0"/>
            <a:ext cx="8190663" cy="6858000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052" name="Google Shape;1052;p50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34001" y="533400"/>
            <a:ext cx="6616700" cy="6197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3" name="Google Shape;1053;p50"/>
          <p:cNvSpPr txBox="1"/>
          <p:nvPr/>
        </p:nvSpPr>
        <p:spPr>
          <a:xfrm>
            <a:off x="252023" y="6407867"/>
            <a:ext cx="2977200" cy="2565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67" tIns="60967" rIns="60967" bIns="60967" anchor="t" anchorCtr="0">
            <a:spAutoFit/>
          </a:bodyPr>
          <a:lstStyle/>
          <a:p>
            <a:r>
              <a:rPr lang="en-US" sz="867">
                <a:solidFill>
                  <a:srgbClr val="EEEEEE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AI Workspace for Insurance</a:t>
            </a:r>
            <a:endParaRPr sz="867">
              <a:solidFill>
                <a:srgbClr val="EEEEEE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1054" name="Google Shape;1054;p50"/>
          <p:cNvSpPr txBox="1"/>
          <p:nvPr/>
        </p:nvSpPr>
        <p:spPr>
          <a:xfrm>
            <a:off x="647700" y="635000"/>
            <a:ext cx="5588000" cy="713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lnSpc>
                <a:spcPct val="97741"/>
              </a:lnSpc>
            </a:pPr>
            <a:r>
              <a:rPr lang="en-US" sz="3100">
                <a:solidFill>
                  <a:schemeClr val="lt1"/>
                </a:solidFill>
                <a:latin typeface="Fraunces"/>
                <a:ea typeface="Fraunces"/>
                <a:cs typeface="Fraunces"/>
                <a:sym typeface="Fraunces"/>
              </a:rPr>
              <a:t>Why FurtherAI?</a:t>
            </a:r>
            <a:endParaRPr sz="1867">
              <a:solidFill>
                <a:schemeClr val="lt1"/>
              </a:solidFill>
            </a:endParaRPr>
          </a:p>
        </p:txBody>
      </p:sp>
      <p:sp>
        <p:nvSpPr>
          <p:cNvPr id="1055" name="Google Shape;1055;p50"/>
          <p:cNvSpPr/>
          <p:nvPr/>
        </p:nvSpPr>
        <p:spPr>
          <a:xfrm>
            <a:off x="5969000" y="1314463"/>
            <a:ext cx="1898000" cy="2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13888"/>
              </a:lnSpc>
              <a:buClr>
                <a:srgbClr val="444339"/>
              </a:buClr>
              <a:buSzPts val="900"/>
            </a:pPr>
            <a:r>
              <a:rPr lang="en-US" sz="1200" b="1">
                <a:solidFill>
                  <a:schemeClr val="lt1"/>
                </a:solidFill>
                <a:latin typeface="Wix Madefor Text"/>
                <a:ea typeface="Wix Madefor Text"/>
                <a:cs typeface="Wix Madefor Text"/>
                <a:sym typeface="Wix Madefor Text"/>
              </a:rPr>
              <a:t>Insurance-Native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6" name="Google Shape;1056;p50"/>
          <p:cNvSpPr/>
          <p:nvPr/>
        </p:nvSpPr>
        <p:spPr>
          <a:xfrm>
            <a:off x="5969000" y="1586763"/>
            <a:ext cx="18920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13888"/>
              </a:lnSpc>
              <a:buClr>
                <a:srgbClr val="444339"/>
              </a:buClr>
              <a:buSzPts val="900"/>
            </a:pPr>
            <a:r>
              <a:rPr lang="en-US" sz="1200">
                <a:solidFill>
                  <a:schemeClr val="lt1"/>
                </a:solidFill>
                <a:latin typeface="Wix Madefor Text"/>
                <a:ea typeface="Wix Madefor Text"/>
                <a:cs typeface="Wix Madefor Text"/>
                <a:sym typeface="Wix Madefor Text"/>
              </a:rPr>
              <a:t>AI trained on insurance data &amp; workflows—it knows industry terminology, documents, &amp; processes.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7" name="Google Shape;1057;p50"/>
          <p:cNvSpPr/>
          <p:nvPr/>
        </p:nvSpPr>
        <p:spPr>
          <a:xfrm>
            <a:off x="7162800" y="4769724"/>
            <a:ext cx="2946400" cy="2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13888"/>
              </a:lnSpc>
              <a:buClr>
                <a:srgbClr val="444339"/>
              </a:buClr>
              <a:buSzPts val="900"/>
            </a:pPr>
            <a:r>
              <a:rPr lang="en-US" sz="1200" b="1">
                <a:solidFill>
                  <a:schemeClr val="lt1"/>
                </a:solidFill>
                <a:latin typeface="Wix Madefor Text"/>
                <a:ea typeface="Wix Madefor Text"/>
                <a:cs typeface="Wix Madefor Text"/>
                <a:sym typeface="Wix Madefor Text"/>
              </a:rPr>
              <a:t>Enterprise-Ready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8" name="Google Shape;1058;p50"/>
          <p:cNvSpPr/>
          <p:nvPr/>
        </p:nvSpPr>
        <p:spPr>
          <a:xfrm>
            <a:off x="7162800" y="5042025"/>
            <a:ext cx="2940000" cy="8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13888"/>
              </a:lnSpc>
              <a:buClr>
                <a:srgbClr val="444339"/>
              </a:buClr>
              <a:buSzPts val="900"/>
            </a:pPr>
            <a:r>
              <a:rPr lang="en-US" sz="1200">
                <a:solidFill>
                  <a:schemeClr val="lt1"/>
                </a:solidFill>
                <a:latin typeface="Wix Madefor Text"/>
                <a:ea typeface="Wix Madefor Text"/>
                <a:cs typeface="Wix Madefor Text"/>
                <a:sym typeface="Wix Madefor Text"/>
              </a:rPr>
              <a:t>Further AI was built from the ground up with the stringent security requirements and on-prem deployment options via Azure Managed App or Amazon VPC.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9" name="Google Shape;1059;p50"/>
          <p:cNvSpPr/>
          <p:nvPr/>
        </p:nvSpPr>
        <p:spPr>
          <a:xfrm>
            <a:off x="9620251" y="1314463"/>
            <a:ext cx="1898000" cy="2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13888"/>
              </a:lnSpc>
              <a:buClr>
                <a:srgbClr val="444339"/>
              </a:buClr>
              <a:buSzPts val="900"/>
            </a:pPr>
            <a:r>
              <a:rPr lang="en-US" sz="1200" b="1">
                <a:solidFill>
                  <a:schemeClr val="lt1"/>
                </a:solidFill>
                <a:latin typeface="Wix Madefor Text"/>
                <a:ea typeface="Wix Madefor Text"/>
                <a:cs typeface="Wix Madefor Text"/>
                <a:sym typeface="Wix Madefor Text"/>
              </a:rPr>
              <a:t>Holistic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0" name="Google Shape;1060;p50"/>
          <p:cNvSpPr/>
          <p:nvPr/>
        </p:nvSpPr>
        <p:spPr>
          <a:xfrm>
            <a:off x="9620251" y="1586763"/>
            <a:ext cx="18920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13888"/>
              </a:lnSpc>
              <a:buClr>
                <a:srgbClr val="444339"/>
              </a:buClr>
              <a:buSzPts val="900"/>
            </a:pPr>
            <a:r>
              <a:rPr lang="en-US" sz="1200">
                <a:solidFill>
                  <a:schemeClr val="lt1"/>
                </a:solidFill>
                <a:latin typeface="Wix Madefor Text"/>
                <a:ea typeface="Wix Madefor Text"/>
                <a:cs typeface="Wix Madefor Text"/>
                <a:sym typeface="Wix Madefor Text"/>
              </a:rPr>
              <a:t>AI Assistant works directly within existing tools like email and policy administration systems, eliminating the need to switch between platforms. 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1" name="Google Shape;1061;p50"/>
          <p:cNvSpPr/>
          <p:nvPr/>
        </p:nvSpPr>
        <p:spPr>
          <a:xfrm>
            <a:off x="1014184" y="2207384"/>
            <a:ext cx="2946400" cy="30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27500"/>
              </a:lnSpc>
              <a:buClr>
                <a:srgbClr val="444339"/>
              </a:buClr>
              <a:buSzPts val="1200"/>
            </a:pPr>
            <a:r>
              <a:rPr lang="en-US" sz="1600">
                <a:solidFill>
                  <a:srgbClr val="EEEEEE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Unlike general-purpose AI tools that fall short on insurance workflows, FurtherAI is built from the ground up for insurance. Its AI models are purpose-built for the industry, work seamlessly with insurance systems, and follow the highest standards of security and compliance.</a:t>
            </a:r>
            <a:endParaRPr sz="1600">
              <a:solidFill>
                <a:srgbClr val="EEEEEE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pic>
        <p:nvPicPr>
          <p:cNvPr id="1062" name="Google Shape;1062;p50" title="FAI png (1).png"/>
          <p:cNvPicPr preferRelativeResize="0"/>
          <p:nvPr/>
        </p:nvPicPr>
        <p:blipFill rotWithShape="1">
          <a:blip r:embed="rId6">
            <a:alphaModFix/>
          </a:blip>
          <a:srcRect t="8947" b="40392"/>
          <a:stretch/>
        </p:blipFill>
        <p:spPr>
          <a:xfrm>
            <a:off x="11197301" y="248000"/>
            <a:ext cx="786001" cy="22396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63" name="Google Shape;1063;p50"/>
          <p:cNvCxnSpPr/>
          <p:nvPr/>
        </p:nvCxnSpPr>
        <p:spPr>
          <a:xfrm flipH="1">
            <a:off x="711367" y="2265667"/>
            <a:ext cx="10000" cy="2966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64" name="Google Shape;1064;p50"/>
          <p:cNvSpPr txBox="1">
            <a:spLocks noGrp="1"/>
          </p:cNvSpPr>
          <p:nvPr>
            <p:ph type="sldNum" idx="12"/>
          </p:nvPr>
        </p:nvSpPr>
        <p:spPr>
          <a:xfrm>
            <a:off x="8110788" y="4798325"/>
            <a:ext cx="841200" cy="1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595959"/>
                </a:solidFill>
                <a:latin typeface="Wix Madefor Display"/>
                <a:ea typeface="Wix Madefor Display"/>
                <a:cs typeface="Wix Madefor Display"/>
                <a:sym typeface="Wix Madefor Display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595959"/>
                </a:solidFill>
                <a:latin typeface="Wix Madefor Display"/>
                <a:ea typeface="Wix Madefor Display"/>
                <a:cs typeface="Wix Madefor Display"/>
                <a:sym typeface="Wix Madefor Display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595959"/>
                </a:solidFill>
                <a:latin typeface="Wix Madefor Display"/>
                <a:ea typeface="Wix Madefor Display"/>
                <a:cs typeface="Wix Madefor Display"/>
                <a:sym typeface="Wix Madefor Display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595959"/>
                </a:solidFill>
                <a:latin typeface="Wix Madefor Display"/>
                <a:ea typeface="Wix Madefor Display"/>
                <a:cs typeface="Wix Madefor Display"/>
                <a:sym typeface="Wix Madefor Display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595959"/>
                </a:solidFill>
                <a:latin typeface="Wix Madefor Display"/>
                <a:ea typeface="Wix Madefor Display"/>
                <a:cs typeface="Wix Madefor Display"/>
                <a:sym typeface="Wix Madefor Display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595959"/>
                </a:solidFill>
                <a:latin typeface="Wix Madefor Display"/>
                <a:ea typeface="Wix Madefor Display"/>
                <a:cs typeface="Wix Madefor Display"/>
                <a:sym typeface="Wix Madefor Display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595959"/>
                </a:solidFill>
                <a:latin typeface="Wix Madefor Display"/>
                <a:ea typeface="Wix Madefor Display"/>
                <a:cs typeface="Wix Madefor Display"/>
                <a:sym typeface="Wix Madefor Display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595959"/>
                </a:solidFill>
                <a:latin typeface="Wix Madefor Display"/>
                <a:ea typeface="Wix Madefor Display"/>
                <a:cs typeface="Wix Madefor Display"/>
                <a:sym typeface="Wix Madefor Display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595959"/>
                </a:solidFill>
                <a:latin typeface="Wix Madefor Display"/>
                <a:ea typeface="Wix Madefor Display"/>
                <a:cs typeface="Wix Madefor Display"/>
                <a:sym typeface="Wix Madefor Display"/>
              </a:defRPr>
            </a:lvl9pPr>
          </a:lstStyle>
          <a:p>
            <a:pPr algn="r"/>
            <a:fld id="{00000000-1234-1234-1234-123412341234}" type="slidenum">
              <a:rPr lang="en-US" smtClean="0"/>
              <a:pPr algn="r"/>
              <a:t>17</a:t>
            </a:fld>
            <a:endParaRPr>
              <a:solidFill>
                <a:srgbClr val="EEEEEE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9" name="Google Shape;1089;p52" title="Slides dump - merge to decks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0" y="1"/>
            <a:ext cx="12192000" cy="68580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0" name="Google Shape;1090;p52" title="FAI png (1).png"/>
          <p:cNvPicPr preferRelativeResize="0"/>
          <p:nvPr/>
        </p:nvPicPr>
        <p:blipFill rotWithShape="1">
          <a:blip r:embed="rId4">
            <a:alphaModFix/>
          </a:blip>
          <a:srcRect t="8947" b="40392"/>
          <a:stretch/>
        </p:blipFill>
        <p:spPr>
          <a:xfrm>
            <a:off x="1986683" y="2879433"/>
            <a:ext cx="2920933" cy="832435"/>
          </a:xfrm>
          <a:prstGeom prst="rect">
            <a:avLst/>
          </a:prstGeom>
          <a:noFill/>
          <a:ln>
            <a:noFill/>
          </a:ln>
        </p:spPr>
      </p:pic>
      <p:sp>
        <p:nvSpPr>
          <p:cNvPr id="1091" name="Google Shape;1091;p52"/>
          <p:cNvSpPr txBox="1"/>
          <p:nvPr/>
        </p:nvSpPr>
        <p:spPr>
          <a:xfrm>
            <a:off x="535051" y="6306267"/>
            <a:ext cx="2977200" cy="277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67" tIns="60967" rIns="60967" bIns="60967" anchor="t" anchorCtr="0">
            <a:spAutoFit/>
          </a:bodyPr>
          <a:lstStyle/>
          <a:p>
            <a:r>
              <a:rPr lang="en-US" sz="1000">
                <a:solidFill>
                  <a:srgbClr val="D0CEC3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AI Workspace for Insurance</a:t>
            </a:r>
            <a:endParaRPr sz="1000">
              <a:solidFill>
                <a:srgbClr val="D0CEC3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1092" name="Google Shape;1092;p52"/>
          <p:cNvSpPr txBox="1"/>
          <p:nvPr/>
        </p:nvSpPr>
        <p:spPr>
          <a:xfrm>
            <a:off x="10602500" y="6306267"/>
            <a:ext cx="1125600" cy="277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67" tIns="60967" rIns="60967" bIns="60967" anchor="t" anchorCtr="0">
            <a:spAutoFit/>
          </a:bodyPr>
          <a:lstStyle/>
          <a:p>
            <a:r>
              <a:rPr lang="en-US" sz="1000">
                <a:solidFill>
                  <a:srgbClr val="D0CEC3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furtherai.com</a:t>
            </a:r>
            <a:endParaRPr sz="1000">
              <a:solidFill>
                <a:srgbClr val="D0CEC3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cxnSp>
        <p:nvCxnSpPr>
          <p:cNvPr id="1093" name="Google Shape;1093;p52"/>
          <p:cNvCxnSpPr/>
          <p:nvPr/>
        </p:nvCxnSpPr>
        <p:spPr>
          <a:xfrm>
            <a:off x="591751" y="6248967"/>
            <a:ext cx="11065200" cy="0"/>
          </a:xfrm>
          <a:prstGeom prst="straightConnector1">
            <a:avLst/>
          </a:prstGeom>
          <a:noFill/>
          <a:ln w="4775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94" name="Google Shape;1094;p52"/>
          <p:cNvCxnSpPr/>
          <p:nvPr/>
        </p:nvCxnSpPr>
        <p:spPr>
          <a:xfrm>
            <a:off x="5774317" y="2733051"/>
            <a:ext cx="0" cy="1125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95" name="Google Shape;1095;p52"/>
          <p:cNvSpPr txBox="1">
            <a:spLocks noGrp="1"/>
          </p:cNvSpPr>
          <p:nvPr>
            <p:ph type="sldNum" idx="12"/>
          </p:nvPr>
        </p:nvSpPr>
        <p:spPr>
          <a:xfrm>
            <a:off x="8110788" y="4798325"/>
            <a:ext cx="841200" cy="1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595959"/>
                </a:solidFill>
                <a:latin typeface="Wix Madefor Display"/>
                <a:ea typeface="Wix Madefor Display"/>
                <a:cs typeface="Wix Madefor Display"/>
                <a:sym typeface="Wix Madefor Display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595959"/>
                </a:solidFill>
                <a:latin typeface="Wix Madefor Display"/>
                <a:ea typeface="Wix Madefor Display"/>
                <a:cs typeface="Wix Madefor Display"/>
                <a:sym typeface="Wix Madefor Display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595959"/>
                </a:solidFill>
                <a:latin typeface="Wix Madefor Display"/>
                <a:ea typeface="Wix Madefor Display"/>
                <a:cs typeface="Wix Madefor Display"/>
                <a:sym typeface="Wix Madefor Display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595959"/>
                </a:solidFill>
                <a:latin typeface="Wix Madefor Display"/>
                <a:ea typeface="Wix Madefor Display"/>
                <a:cs typeface="Wix Madefor Display"/>
                <a:sym typeface="Wix Madefor Display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595959"/>
                </a:solidFill>
                <a:latin typeface="Wix Madefor Display"/>
                <a:ea typeface="Wix Madefor Display"/>
                <a:cs typeface="Wix Madefor Display"/>
                <a:sym typeface="Wix Madefor Display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595959"/>
                </a:solidFill>
                <a:latin typeface="Wix Madefor Display"/>
                <a:ea typeface="Wix Madefor Display"/>
                <a:cs typeface="Wix Madefor Display"/>
                <a:sym typeface="Wix Madefor Display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595959"/>
                </a:solidFill>
                <a:latin typeface="Wix Madefor Display"/>
                <a:ea typeface="Wix Madefor Display"/>
                <a:cs typeface="Wix Madefor Display"/>
                <a:sym typeface="Wix Madefor Display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595959"/>
                </a:solidFill>
                <a:latin typeface="Wix Madefor Display"/>
                <a:ea typeface="Wix Madefor Display"/>
                <a:cs typeface="Wix Madefor Display"/>
                <a:sym typeface="Wix Madefor Display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595959"/>
                </a:solidFill>
                <a:latin typeface="Wix Madefor Display"/>
                <a:ea typeface="Wix Madefor Display"/>
                <a:cs typeface="Wix Madefor Display"/>
                <a:sym typeface="Wix Madefor Display"/>
              </a:defRPr>
            </a:lvl9pPr>
          </a:lstStyle>
          <a:p>
            <a:pPr algn="r"/>
            <a:fld id="{00000000-1234-1234-1234-123412341234}" type="slidenum">
              <a:rPr lang="en-US" smtClean="0"/>
              <a:pPr algn="r"/>
              <a:t>18</a:t>
            </a:fld>
            <a:endParaRPr>
              <a:solidFill>
                <a:srgbClr val="EEEEEE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2486</Words>
  <Application>Microsoft Macintosh PowerPoint</Application>
  <PresentationFormat>Widescreen</PresentationFormat>
  <Paragraphs>357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9" baseType="lpstr">
      <vt:lpstr>Fraunces Light</vt:lpstr>
      <vt:lpstr>Arial</vt:lpstr>
      <vt:lpstr>Calibri</vt:lpstr>
      <vt:lpstr>Wix Madefor Text</vt:lpstr>
      <vt:lpstr>Wix Madefor Display</vt:lpstr>
      <vt:lpstr>Quattrocento</vt:lpstr>
      <vt:lpstr>Georgia</vt:lpstr>
      <vt:lpstr>Fraunces 9pt</vt:lpstr>
      <vt:lpstr>Courier New</vt:lpstr>
      <vt:lpstr>Fraunces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Mathias Schoener</cp:lastModifiedBy>
  <cp:revision>11</cp:revision>
  <dcterms:modified xsi:type="dcterms:W3CDTF">2026-06-18T17:57:08Z</dcterms:modified>
</cp:coreProperties>
</file>